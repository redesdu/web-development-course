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80"/>
    <p:restoredTop sz="94661"/>
  </p:normalViewPr>
  <p:slideViewPr>
    <p:cSldViewPr snapToGrid="0">
      <p:cViewPr varScale="1">
        <p:scale>
          <a:sx n="163" d="100"/>
          <a:sy n="163" d="100"/>
        </p:scale>
        <p:origin x="9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9F55C9-4937-4620-ABE5-3D4BF4D4B009}" type="doc">
      <dgm:prSet loTypeId="urn:microsoft.com/office/officeart/2008/layout/LinedList" loCatId="list" qsTypeId="urn:microsoft.com/office/officeart/2005/8/quickstyle/simple1#1" qsCatId="simple" csTypeId="urn:microsoft.com/office/officeart/2005/8/colors/colorful1#1" csCatId="colorful"/>
      <dgm:spPr/>
      <dgm:t>
        <a:bodyPr/>
        <a:lstStyle/>
        <a:p>
          <a:endParaRPr lang="en-US"/>
        </a:p>
      </dgm:t>
    </dgm:pt>
    <dgm:pt modelId="{499BF734-D343-4C67-AE15-0FDF5BAB363B}">
      <dgm:prSet/>
      <dgm:spPr/>
      <dgm:t>
        <a:bodyPr/>
        <a:lstStyle/>
        <a:p>
          <a:r>
            <a:rPr lang="en-US" dirty="0"/>
            <a:t>Everything started in 1989 at the </a:t>
          </a:r>
          <a:r>
            <a:rPr lang="en-US" i="1" dirty="0"/>
            <a:t>European Organization for Nuclear Research </a:t>
          </a:r>
          <a:r>
            <a:rPr lang="en-US" dirty="0"/>
            <a:t>(CERN) in Switzerland.</a:t>
          </a:r>
        </a:p>
      </dgm:t>
    </dgm:pt>
    <dgm:pt modelId="{96E6FAEA-6C85-48D8-B0A5-BDB4005C5F3E}" type="parTrans" cxnId="{05DA8616-38E8-4893-A3EC-64178F21F4A9}">
      <dgm:prSet/>
      <dgm:spPr/>
      <dgm:t>
        <a:bodyPr/>
        <a:lstStyle/>
        <a:p>
          <a:endParaRPr lang="en-US"/>
        </a:p>
      </dgm:t>
    </dgm:pt>
    <dgm:pt modelId="{1FA957A9-4CF0-4AD1-BC5D-B741C3483E5B}" type="sibTrans" cxnId="{05DA8616-38E8-4893-A3EC-64178F21F4A9}">
      <dgm:prSet/>
      <dgm:spPr/>
      <dgm:t>
        <a:bodyPr/>
        <a:lstStyle/>
        <a:p>
          <a:endParaRPr lang="en-US"/>
        </a:p>
      </dgm:t>
    </dgm:pt>
    <dgm:pt modelId="{E5914FBA-038B-41A4-9833-1FDB1C0FB5E2}">
      <dgm:prSet/>
      <dgm:spPr/>
      <dgm:t>
        <a:bodyPr/>
        <a:lstStyle/>
        <a:p>
          <a:r>
            <a:rPr lang="en-US" dirty="0"/>
            <a:t>Tim Berners-Lee proposed a "database of linked documents": World Wide Web.</a:t>
          </a:r>
        </a:p>
      </dgm:t>
    </dgm:pt>
    <dgm:pt modelId="{6971873C-2775-46E8-9FD2-DC78F9ABAD76}" type="parTrans" cxnId="{76032044-E7DF-43A2-B71C-685448140850}">
      <dgm:prSet/>
      <dgm:spPr/>
      <dgm:t>
        <a:bodyPr/>
        <a:lstStyle/>
        <a:p>
          <a:endParaRPr lang="en-US"/>
        </a:p>
      </dgm:t>
    </dgm:pt>
    <dgm:pt modelId="{98541A69-3858-48D4-8485-308FDF2FF12D}" type="sibTrans" cxnId="{76032044-E7DF-43A2-B71C-685448140850}">
      <dgm:prSet/>
      <dgm:spPr/>
      <dgm:t>
        <a:bodyPr/>
        <a:lstStyle/>
        <a:p>
          <a:endParaRPr lang="en-US"/>
        </a:p>
      </dgm:t>
    </dgm:pt>
    <dgm:pt modelId="{AC86F6B6-415E-425D-A5ED-5A2B53C912AD}">
      <dgm:prSet/>
      <dgm:spPr/>
      <dgm:t>
        <a:bodyPr/>
        <a:lstStyle/>
        <a:p>
          <a:r>
            <a:rPr lang="en-US" dirty="0"/>
            <a:t>1990: protocol, "language", browser (</a:t>
          </a:r>
          <a:r>
            <a:rPr lang="en-US" dirty="0" err="1"/>
            <a:t>WorldWideWeb</a:t>
          </a:r>
          <a:r>
            <a:rPr lang="en-US" dirty="0"/>
            <a:t>) and server</a:t>
          </a:r>
        </a:p>
      </dgm:t>
    </dgm:pt>
    <dgm:pt modelId="{6608067A-894C-40D0-8A52-ABDAE4F73A82}" type="parTrans" cxnId="{259C27BF-2657-4FEB-8363-6742D482C786}">
      <dgm:prSet/>
      <dgm:spPr/>
      <dgm:t>
        <a:bodyPr/>
        <a:lstStyle/>
        <a:p>
          <a:endParaRPr lang="en-US"/>
        </a:p>
      </dgm:t>
    </dgm:pt>
    <dgm:pt modelId="{4104B37C-FABD-4C6A-A2BA-7D3264D24E59}" type="sibTrans" cxnId="{259C27BF-2657-4FEB-8363-6742D482C786}">
      <dgm:prSet/>
      <dgm:spPr/>
      <dgm:t>
        <a:bodyPr/>
        <a:lstStyle/>
        <a:p>
          <a:endParaRPr lang="en-US"/>
        </a:p>
      </dgm:t>
    </dgm:pt>
    <dgm:pt modelId="{4C5CC3C3-ED93-495E-AA37-BC722CB1666E}">
      <dgm:prSet/>
      <dgm:spPr/>
      <dgm:t>
        <a:bodyPr/>
        <a:lstStyle/>
        <a:p>
          <a:r>
            <a:rPr lang="en-US" dirty="0"/>
            <a:t>1991-1993: more browsers: </a:t>
          </a:r>
          <a:r>
            <a:rPr lang="en-US" dirty="0" err="1"/>
            <a:t>ViolaWWW</a:t>
          </a:r>
          <a:r>
            <a:rPr lang="en-US" dirty="0"/>
            <a:t>, </a:t>
          </a:r>
          <a:r>
            <a:rPr lang="en-US" dirty="0" err="1"/>
            <a:t>Erwise</a:t>
          </a:r>
          <a:r>
            <a:rPr lang="en-US" dirty="0"/>
            <a:t> and Mosaic </a:t>
          </a:r>
        </a:p>
      </dgm:t>
    </dgm:pt>
    <dgm:pt modelId="{17A8FBEA-D1EA-4F79-810F-D455CBECDC93}" type="parTrans" cxnId="{EAD66DAE-85A0-45ED-B846-558D36996ABF}">
      <dgm:prSet/>
      <dgm:spPr/>
      <dgm:t>
        <a:bodyPr/>
        <a:lstStyle/>
        <a:p>
          <a:endParaRPr lang="en-US"/>
        </a:p>
      </dgm:t>
    </dgm:pt>
    <dgm:pt modelId="{442B8A94-1312-4E08-8499-D839B6641EC9}" type="sibTrans" cxnId="{EAD66DAE-85A0-45ED-B846-558D36996ABF}">
      <dgm:prSet/>
      <dgm:spPr/>
      <dgm:t>
        <a:bodyPr/>
        <a:lstStyle/>
        <a:p>
          <a:endParaRPr lang="en-US"/>
        </a:p>
      </dgm:t>
    </dgm:pt>
    <dgm:pt modelId="{438CE528-48A5-49FD-9125-AC2AC6441445}">
      <dgm:prSet/>
      <dgm:spPr/>
      <dgm:t>
        <a:bodyPr/>
        <a:lstStyle/>
        <a:p>
          <a:r>
            <a:rPr lang="en-US"/>
            <a:t>1992: The URL</a:t>
          </a:r>
        </a:p>
      </dgm:t>
    </dgm:pt>
    <dgm:pt modelId="{104978C1-7F0B-49AA-B44A-7648D9F08282}" type="parTrans" cxnId="{173E96FC-A54B-42B9-A75B-0D17D89762DC}">
      <dgm:prSet/>
      <dgm:spPr/>
      <dgm:t>
        <a:bodyPr/>
        <a:lstStyle/>
        <a:p>
          <a:endParaRPr lang="en-US"/>
        </a:p>
      </dgm:t>
    </dgm:pt>
    <dgm:pt modelId="{CBB8D242-12F4-4589-AC80-0AB50FC828AE}" type="sibTrans" cxnId="{173E96FC-A54B-42B9-A75B-0D17D89762DC}">
      <dgm:prSet/>
      <dgm:spPr/>
      <dgm:t>
        <a:bodyPr/>
        <a:lstStyle/>
        <a:p>
          <a:endParaRPr lang="en-US"/>
        </a:p>
      </dgm:t>
    </dgm:pt>
    <dgm:pt modelId="{424A9087-5ABD-430E-AA46-31BD09948A8A}">
      <dgm:prSet/>
      <dgm:spPr/>
      <dgm:t>
        <a:bodyPr/>
        <a:lstStyle/>
        <a:p>
          <a:r>
            <a:rPr lang="en-US"/>
            <a:t>1993: Goes public</a:t>
          </a:r>
        </a:p>
      </dgm:t>
    </dgm:pt>
    <dgm:pt modelId="{D778A015-A830-4D94-A08D-70399E97BE0C}" type="parTrans" cxnId="{ED77497B-93C1-4B82-AE6E-21AA5EFA4665}">
      <dgm:prSet/>
      <dgm:spPr/>
      <dgm:t>
        <a:bodyPr/>
        <a:lstStyle/>
        <a:p>
          <a:endParaRPr lang="en-US"/>
        </a:p>
      </dgm:t>
    </dgm:pt>
    <dgm:pt modelId="{96F91F83-3B92-40D2-BE7A-B8DF2B558AC5}" type="sibTrans" cxnId="{ED77497B-93C1-4B82-AE6E-21AA5EFA4665}">
      <dgm:prSet/>
      <dgm:spPr/>
      <dgm:t>
        <a:bodyPr/>
        <a:lstStyle/>
        <a:p>
          <a:endParaRPr lang="en-US"/>
        </a:p>
      </dgm:t>
    </dgm:pt>
    <dgm:pt modelId="{B2018B58-A350-4154-A36E-559A93BAFD93}">
      <dgm:prSet/>
      <dgm:spPr/>
      <dgm:t>
        <a:bodyPr/>
        <a:lstStyle/>
        <a:p>
          <a:r>
            <a:rPr lang="en-US" dirty="0"/>
            <a:t>1994: W3C: web standards and protocols</a:t>
          </a:r>
        </a:p>
      </dgm:t>
    </dgm:pt>
    <dgm:pt modelId="{24B74376-55E3-476B-A82E-1DE21C03CC82}" type="parTrans" cxnId="{616A1C36-52A3-417F-A328-7475607ED9CA}">
      <dgm:prSet/>
      <dgm:spPr/>
      <dgm:t>
        <a:bodyPr/>
        <a:lstStyle/>
        <a:p>
          <a:endParaRPr lang="en-US"/>
        </a:p>
      </dgm:t>
    </dgm:pt>
    <dgm:pt modelId="{D92F5E27-2FB3-4CD9-B2FF-A10D6890D04D}" type="sibTrans" cxnId="{616A1C36-52A3-417F-A328-7475607ED9CA}">
      <dgm:prSet/>
      <dgm:spPr/>
      <dgm:t>
        <a:bodyPr/>
        <a:lstStyle/>
        <a:p>
          <a:endParaRPr lang="en-US"/>
        </a:p>
      </dgm:t>
    </dgm:pt>
    <dgm:pt modelId="{9499DB1D-EB08-4CD9-B9CE-9673ED8F10F2}" type="pres">
      <dgm:prSet presAssocID="{269F55C9-4937-4620-ABE5-3D4BF4D4B009}" presName="vert0" presStyleCnt="0">
        <dgm:presLayoutVars>
          <dgm:dir/>
          <dgm:animOne val="branch"/>
          <dgm:animLvl val="lvl"/>
        </dgm:presLayoutVars>
      </dgm:prSet>
      <dgm:spPr/>
    </dgm:pt>
    <dgm:pt modelId="{5FC9425B-F800-4573-8E25-3E08C59CDF7E}" type="pres">
      <dgm:prSet presAssocID="{499BF734-D343-4C67-AE15-0FDF5BAB363B}" presName="thickLine" presStyleLbl="alignNode1" presStyleIdx="0" presStyleCnt="7"/>
      <dgm:spPr/>
    </dgm:pt>
    <dgm:pt modelId="{938E3C42-2DFE-416C-9A3C-2465C4BA8699}" type="pres">
      <dgm:prSet presAssocID="{499BF734-D343-4C67-AE15-0FDF5BAB363B}" presName="horz1" presStyleCnt="0"/>
      <dgm:spPr/>
    </dgm:pt>
    <dgm:pt modelId="{B413FF2F-8E8C-48E1-91B5-4915E8F0B573}" type="pres">
      <dgm:prSet presAssocID="{499BF734-D343-4C67-AE15-0FDF5BAB363B}" presName="tx1" presStyleLbl="revTx" presStyleIdx="0" presStyleCnt="7"/>
      <dgm:spPr/>
    </dgm:pt>
    <dgm:pt modelId="{6E1510D9-DD5D-4D84-B551-B4D0BA8FB61E}" type="pres">
      <dgm:prSet presAssocID="{499BF734-D343-4C67-AE15-0FDF5BAB363B}" presName="vert1" presStyleCnt="0"/>
      <dgm:spPr/>
    </dgm:pt>
    <dgm:pt modelId="{6F53A36C-E750-421C-9E26-0864E1820318}" type="pres">
      <dgm:prSet presAssocID="{E5914FBA-038B-41A4-9833-1FDB1C0FB5E2}" presName="thickLine" presStyleLbl="alignNode1" presStyleIdx="1" presStyleCnt="7"/>
      <dgm:spPr/>
    </dgm:pt>
    <dgm:pt modelId="{1AA31952-58FE-41E5-AC38-8784ABC818A5}" type="pres">
      <dgm:prSet presAssocID="{E5914FBA-038B-41A4-9833-1FDB1C0FB5E2}" presName="horz1" presStyleCnt="0"/>
      <dgm:spPr/>
    </dgm:pt>
    <dgm:pt modelId="{EBF0E068-A823-4FDA-B9ED-1C9D078C4246}" type="pres">
      <dgm:prSet presAssocID="{E5914FBA-038B-41A4-9833-1FDB1C0FB5E2}" presName="tx1" presStyleLbl="revTx" presStyleIdx="1" presStyleCnt="7"/>
      <dgm:spPr/>
    </dgm:pt>
    <dgm:pt modelId="{666CBBA4-DC39-4927-A5BE-34D5C8991B60}" type="pres">
      <dgm:prSet presAssocID="{E5914FBA-038B-41A4-9833-1FDB1C0FB5E2}" presName="vert1" presStyleCnt="0"/>
      <dgm:spPr/>
    </dgm:pt>
    <dgm:pt modelId="{D32618ED-EF3C-4C95-A065-0919404227BD}" type="pres">
      <dgm:prSet presAssocID="{AC86F6B6-415E-425D-A5ED-5A2B53C912AD}" presName="thickLine" presStyleLbl="alignNode1" presStyleIdx="2" presStyleCnt="7"/>
      <dgm:spPr/>
    </dgm:pt>
    <dgm:pt modelId="{784BAD51-F33B-48E3-98A5-D3BA1F2677A8}" type="pres">
      <dgm:prSet presAssocID="{AC86F6B6-415E-425D-A5ED-5A2B53C912AD}" presName="horz1" presStyleCnt="0"/>
      <dgm:spPr/>
    </dgm:pt>
    <dgm:pt modelId="{FDFE7F4C-9151-4C2B-8A4A-22046C364EFD}" type="pres">
      <dgm:prSet presAssocID="{AC86F6B6-415E-425D-A5ED-5A2B53C912AD}" presName="tx1" presStyleLbl="revTx" presStyleIdx="2" presStyleCnt="7"/>
      <dgm:spPr/>
    </dgm:pt>
    <dgm:pt modelId="{548FB062-0DC4-4FE4-895C-4ADE8F24D127}" type="pres">
      <dgm:prSet presAssocID="{AC86F6B6-415E-425D-A5ED-5A2B53C912AD}" presName="vert1" presStyleCnt="0"/>
      <dgm:spPr/>
    </dgm:pt>
    <dgm:pt modelId="{4CDAC6C9-1F84-46C4-A22E-36852AA4A2FB}" type="pres">
      <dgm:prSet presAssocID="{4C5CC3C3-ED93-495E-AA37-BC722CB1666E}" presName="thickLine" presStyleLbl="alignNode1" presStyleIdx="3" presStyleCnt="7"/>
      <dgm:spPr/>
    </dgm:pt>
    <dgm:pt modelId="{FE99764E-FE91-4354-8905-D29B92DE2CEE}" type="pres">
      <dgm:prSet presAssocID="{4C5CC3C3-ED93-495E-AA37-BC722CB1666E}" presName="horz1" presStyleCnt="0"/>
      <dgm:spPr/>
    </dgm:pt>
    <dgm:pt modelId="{1385B5F8-4316-4516-AF8B-01B40B1946AD}" type="pres">
      <dgm:prSet presAssocID="{4C5CC3C3-ED93-495E-AA37-BC722CB1666E}" presName="tx1" presStyleLbl="revTx" presStyleIdx="3" presStyleCnt="7"/>
      <dgm:spPr/>
    </dgm:pt>
    <dgm:pt modelId="{D973F802-B939-44AA-809A-76D46E054DED}" type="pres">
      <dgm:prSet presAssocID="{4C5CC3C3-ED93-495E-AA37-BC722CB1666E}" presName="vert1" presStyleCnt="0"/>
      <dgm:spPr/>
    </dgm:pt>
    <dgm:pt modelId="{55F4403F-AAB3-446B-9A64-4AB5CB1C6851}" type="pres">
      <dgm:prSet presAssocID="{438CE528-48A5-49FD-9125-AC2AC6441445}" presName="thickLine" presStyleLbl="alignNode1" presStyleIdx="4" presStyleCnt="7"/>
      <dgm:spPr/>
    </dgm:pt>
    <dgm:pt modelId="{8A23E125-DCC2-48CC-BA07-D8D7531AEA26}" type="pres">
      <dgm:prSet presAssocID="{438CE528-48A5-49FD-9125-AC2AC6441445}" presName="horz1" presStyleCnt="0"/>
      <dgm:spPr/>
    </dgm:pt>
    <dgm:pt modelId="{556A9DB4-E508-4A63-89EE-382663823D62}" type="pres">
      <dgm:prSet presAssocID="{438CE528-48A5-49FD-9125-AC2AC6441445}" presName="tx1" presStyleLbl="revTx" presStyleIdx="4" presStyleCnt="7"/>
      <dgm:spPr/>
    </dgm:pt>
    <dgm:pt modelId="{46390243-0E14-4B22-ACC7-6983C2FBFD35}" type="pres">
      <dgm:prSet presAssocID="{438CE528-48A5-49FD-9125-AC2AC6441445}" presName="vert1" presStyleCnt="0"/>
      <dgm:spPr/>
    </dgm:pt>
    <dgm:pt modelId="{C131DBEF-FD82-4794-9413-5DD3A1B197D3}" type="pres">
      <dgm:prSet presAssocID="{424A9087-5ABD-430E-AA46-31BD09948A8A}" presName="thickLine" presStyleLbl="alignNode1" presStyleIdx="5" presStyleCnt="7"/>
      <dgm:spPr/>
    </dgm:pt>
    <dgm:pt modelId="{5F48E116-A184-4325-997A-FC1369B0D924}" type="pres">
      <dgm:prSet presAssocID="{424A9087-5ABD-430E-AA46-31BD09948A8A}" presName="horz1" presStyleCnt="0"/>
      <dgm:spPr/>
    </dgm:pt>
    <dgm:pt modelId="{C025E55E-7E50-43E4-8E3C-195B7A64F7EC}" type="pres">
      <dgm:prSet presAssocID="{424A9087-5ABD-430E-AA46-31BD09948A8A}" presName="tx1" presStyleLbl="revTx" presStyleIdx="5" presStyleCnt="7"/>
      <dgm:spPr/>
    </dgm:pt>
    <dgm:pt modelId="{D79B40E8-80C0-470B-8A67-5188BE98C27B}" type="pres">
      <dgm:prSet presAssocID="{424A9087-5ABD-430E-AA46-31BD09948A8A}" presName="vert1" presStyleCnt="0"/>
      <dgm:spPr/>
    </dgm:pt>
    <dgm:pt modelId="{00B478AA-95BC-479C-8DF1-BF96E16B4F02}" type="pres">
      <dgm:prSet presAssocID="{B2018B58-A350-4154-A36E-559A93BAFD93}" presName="thickLine" presStyleLbl="alignNode1" presStyleIdx="6" presStyleCnt="7"/>
      <dgm:spPr/>
    </dgm:pt>
    <dgm:pt modelId="{717F0571-EBC1-43F3-B308-45CCDBDB3D4C}" type="pres">
      <dgm:prSet presAssocID="{B2018B58-A350-4154-A36E-559A93BAFD93}" presName="horz1" presStyleCnt="0"/>
      <dgm:spPr/>
    </dgm:pt>
    <dgm:pt modelId="{0A024313-A457-43D7-8D23-2B05D12B6EA6}" type="pres">
      <dgm:prSet presAssocID="{B2018B58-A350-4154-A36E-559A93BAFD93}" presName="tx1" presStyleLbl="revTx" presStyleIdx="6" presStyleCnt="7"/>
      <dgm:spPr/>
    </dgm:pt>
    <dgm:pt modelId="{48C42100-7CE6-4492-B84B-B838546E4CC9}" type="pres">
      <dgm:prSet presAssocID="{B2018B58-A350-4154-A36E-559A93BAFD93}" presName="vert1" presStyleCnt="0"/>
      <dgm:spPr/>
    </dgm:pt>
  </dgm:ptLst>
  <dgm:cxnLst>
    <dgm:cxn modelId="{05DA8616-38E8-4893-A3EC-64178F21F4A9}" srcId="{269F55C9-4937-4620-ABE5-3D4BF4D4B009}" destId="{499BF734-D343-4C67-AE15-0FDF5BAB363B}" srcOrd="0" destOrd="0" parTransId="{96E6FAEA-6C85-48D8-B0A5-BDB4005C5F3E}" sibTransId="{1FA957A9-4CF0-4AD1-BC5D-B741C3483E5B}"/>
    <dgm:cxn modelId="{D2271920-B03D-4397-8553-53580BBAAABD}" type="presOf" srcId="{AC86F6B6-415E-425D-A5ED-5A2B53C912AD}" destId="{FDFE7F4C-9151-4C2B-8A4A-22046C364EFD}" srcOrd="0" destOrd="0" presId="urn:microsoft.com/office/officeart/2008/layout/LinedList"/>
    <dgm:cxn modelId="{616A1C36-52A3-417F-A328-7475607ED9CA}" srcId="{269F55C9-4937-4620-ABE5-3D4BF4D4B009}" destId="{B2018B58-A350-4154-A36E-559A93BAFD93}" srcOrd="6" destOrd="0" parTransId="{24B74376-55E3-476B-A82E-1DE21C03CC82}" sibTransId="{D92F5E27-2FB3-4CD9-B2FF-A10D6890D04D}"/>
    <dgm:cxn modelId="{76032044-E7DF-43A2-B71C-685448140850}" srcId="{269F55C9-4937-4620-ABE5-3D4BF4D4B009}" destId="{E5914FBA-038B-41A4-9833-1FDB1C0FB5E2}" srcOrd="1" destOrd="0" parTransId="{6971873C-2775-46E8-9FD2-DC78F9ABAD76}" sibTransId="{98541A69-3858-48D4-8485-308FDF2FF12D}"/>
    <dgm:cxn modelId="{ACF3264B-EB9D-438F-A6FE-203DB2E38B61}" type="presOf" srcId="{4C5CC3C3-ED93-495E-AA37-BC722CB1666E}" destId="{1385B5F8-4316-4516-AF8B-01B40B1946AD}" srcOrd="0" destOrd="0" presId="urn:microsoft.com/office/officeart/2008/layout/LinedList"/>
    <dgm:cxn modelId="{ED77497B-93C1-4B82-AE6E-21AA5EFA4665}" srcId="{269F55C9-4937-4620-ABE5-3D4BF4D4B009}" destId="{424A9087-5ABD-430E-AA46-31BD09948A8A}" srcOrd="5" destOrd="0" parTransId="{D778A015-A830-4D94-A08D-70399E97BE0C}" sibTransId="{96F91F83-3B92-40D2-BE7A-B8DF2B558AC5}"/>
    <dgm:cxn modelId="{862A0B9A-7393-459B-905C-301B5A71200C}" type="presOf" srcId="{269F55C9-4937-4620-ABE5-3D4BF4D4B009}" destId="{9499DB1D-EB08-4CD9-B9CE-9673ED8F10F2}" srcOrd="0" destOrd="0" presId="urn:microsoft.com/office/officeart/2008/layout/LinedList"/>
    <dgm:cxn modelId="{302518A7-8EA6-4E46-BB87-24A0930E50C8}" type="presOf" srcId="{424A9087-5ABD-430E-AA46-31BD09948A8A}" destId="{C025E55E-7E50-43E4-8E3C-195B7A64F7EC}" srcOrd="0" destOrd="0" presId="urn:microsoft.com/office/officeart/2008/layout/LinedList"/>
    <dgm:cxn modelId="{EAD66DAE-85A0-45ED-B846-558D36996ABF}" srcId="{269F55C9-4937-4620-ABE5-3D4BF4D4B009}" destId="{4C5CC3C3-ED93-495E-AA37-BC722CB1666E}" srcOrd="3" destOrd="0" parTransId="{17A8FBEA-D1EA-4F79-810F-D455CBECDC93}" sibTransId="{442B8A94-1312-4E08-8499-D839B6641EC9}"/>
    <dgm:cxn modelId="{259C27BF-2657-4FEB-8363-6742D482C786}" srcId="{269F55C9-4937-4620-ABE5-3D4BF4D4B009}" destId="{AC86F6B6-415E-425D-A5ED-5A2B53C912AD}" srcOrd="2" destOrd="0" parTransId="{6608067A-894C-40D0-8A52-ABDAE4F73A82}" sibTransId="{4104B37C-FABD-4C6A-A2BA-7D3264D24E59}"/>
    <dgm:cxn modelId="{E336F3C0-B398-48E6-8656-EF38C7572EF1}" type="presOf" srcId="{B2018B58-A350-4154-A36E-559A93BAFD93}" destId="{0A024313-A457-43D7-8D23-2B05D12B6EA6}" srcOrd="0" destOrd="0" presId="urn:microsoft.com/office/officeart/2008/layout/LinedList"/>
    <dgm:cxn modelId="{2737E7C9-EFED-4B0A-81A8-DAB6CED775E0}" type="presOf" srcId="{499BF734-D343-4C67-AE15-0FDF5BAB363B}" destId="{B413FF2F-8E8C-48E1-91B5-4915E8F0B573}" srcOrd="0" destOrd="0" presId="urn:microsoft.com/office/officeart/2008/layout/LinedList"/>
    <dgm:cxn modelId="{656675EB-88CB-45F6-8BDB-AA93862B665D}" type="presOf" srcId="{438CE528-48A5-49FD-9125-AC2AC6441445}" destId="{556A9DB4-E508-4A63-89EE-382663823D62}" srcOrd="0" destOrd="0" presId="urn:microsoft.com/office/officeart/2008/layout/LinedList"/>
    <dgm:cxn modelId="{F41BB4FB-6286-4E9D-AF9C-0B4BF92BF062}" type="presOf" srcId="{E5914FBA-038B-41A4-9833-1FDB1C0FB5E2}" destId="{EBF0E068-A823-4FDA-B9ED-1C9D078C4246}" srcOrd="0" destOrd="0" presId="urn:microsoft.com/office/officeart/2008/layout/LinedList"/>
    <dgm:cxn modelId="{173E96FC-A54B-42B9-A75B-0D17D89762DC}" srcId="{269F55C9-4937-4620-ABE5-3D4BF4D4B009}" destId="{438CE528-48A5-49FD-9125-AC2AC6441445}" srcOrd="4" destOrd="0" parTransId="{104978C1-7F0B-49AA-B44A-7648D9F08282}" sibTransId="{CBB8D242-12F4-4589-AC80-0AB50FC828AE}"/>
    <dgm:cxn modelId="{919BD774-FFB0-451F-8B2B-78FAD91A1DFB}" type="presParOf" srcId="{9499DB1D-EB08-4CD9-B9CE-9673ED8F10F2}" destId="{5FC9425B-F800-4573-8E25-3E08C59CDF7E}" srcOrd="0" destOrd="0" presId="urn:microsoft.com/office/officeart/2008/layout/LinedList"/>
    <dgm:cxn modelId="{E5089FF2-B717-4014-AEF4-B7D8E5D74CE6}" type="presParOf" srcId="{9499DB1D-EB08-4CD9-B9CE-9673ED8F10F2}" destId="{938E3C42-2DFE-416C-9A3C-2465C4BA8699}" srcOrd="1" destOrd="0" presId="urn:microsoft.com/office/officeart/2008/layout/LinedList"/>
    <dgm:cxn modelId="{767C111A-D177-47D2-8DF6-37B6B7123F5C}" type="presParOf" srcId="{938E3C42-2DFE-416C-9A3C-2465C4BA8699}" destId="{B413FF2F-8E8C-48E1-91B5-4915E8F0B573}" srcOrd="0" destOrd="0" presId="urn:microsoft.com/office/officeart/2008/layout/LinedList"/>
    <dgm:cxn modelId="{A745D2BE-CE1F-4879-B7DC-F23721EF8935}" type="presParOf" srcId="{938E3C42-2DFE-416C-9A3C-2465C4BA8699}" destId="{6E1510D9-DD5D-4D84-B551-B4D0BA8FB61E}" srcOrd="1" destOrd="0" presId="urn:microsoft.com/office/officeart/2008/layout/LinedList"/>
    <dgm:cxn modelId="{6DECF41D-441C-4ACB-AABE-28C7FEA45E61}" type="presParOf" srcId="{9499DB1D-EB08-4CD9-B9CE-9673ED8F10F2}" destId="{6F53A36C-E750-421C-9E26-0864E1820318}" srcOrd="2" destOrd="0" presId="urn:microsoft.com/office/officeart/2008/layout/LinedList"/>
    <dgm:cxn modelId="{8E562DFC-34D8-4B1F-BFD4-57B06B5DB08D}" type="presParOf" srcId="{9499DB1D-EB08-4CD9-B9CE-9673ED8F10F2}" destId="{1AA31952-58FE-41E5-AC38-8784ABC818A5}" srcOrd="3" destOrd="0" presId="urn:microsoft.com/office/officeart/2008/layout/LinedList"/>
    <dgm:cxn modelId="{E0294087-6C19-453E-B62B-18901D31B657}" type="presParOf" srcId="{1AA31952-58FE-41E5-AC38-8784ABC818A5}" destId="{EBF0E068-A823-4FDA-B9ED-1C9D078C4246}" srcOrd="0" destOrd="0" presId="urn:microsoft.com/office/officeart/2008/layout/LinedList"/>
    <dgm:cxn modelId="{29C7A171-6C83-4A7E-9DCB-BC1D6FE2E3FA}" type="presParOf" srcId="{1AA31952-58FE-41E5-AC38-8784ABC818A5}" destId="{666CBBA4-DC39-4927-A5BE-34D5C8991B60}" srcOrd="1" destOrd="0" presId="urn:microsoft.com/office/officeart/2008/layout/LinedList"/>
    <dgm:cxn modelId="{C1121C27-5CE2-412F-A4B1-A1CDA3B765E3}" type="presParOf" srcId="{9499DB1D-EB08-4CD9-B9CE-9673ED8F10F2}" destId="{D32618ED-EF3C-4C95-A065-0919404227BD}" srcOrd="4" destOrd="0" presId="urn:microsoft.com/office/officeart/2008/layout/LinedList"/>
    <dgm:cxn modelId="{9BD9B36B-99D8-4084-92C9-0B187BFE52B8}" type="presParOf" srcId="{9499DB1D-EB08-4CD9-B9CE-9673ED8F10F2}" destId="{784BAD51-F33B-48E3-98A5-D3BA1F2677A8}" srcOrd="5" destOrd="0" presId="urn:microsoft.com/office/officeart/2008/layout/LinedList"/>
    <dgm:cxn modelId="{F26833CA-8681-43D4-A33B-22BB6D77173A}" type="presParOf" srcId="{784BAD51-F33B-48E3-98A5-D3BA1F2677A8}" destId="{FDFE7F4C-9151-4C2B-8A4A-22046C364EFD}" srcOrd="0" destOrd="0" presId="urn:microsoft.com/office/officeart/2008/layout/LinedList"/>
    <dgm:cxn modelId="{0FA26175-7C39-48E3-A877-EF118A173A2A}" type="presParOf" srcId="{784BAD51-F33B-48E3-98A5-D3BA1F2677A8}" destId="{548FB062-0DC4-4FE4-895C-4ADE8F24D127}" srcOrd="1" destOrd="0" presId="urn:microsoft.com/office/officeart/2008/layout/LinedList"/>
    <dgm:cxn modelId="{93D774E8-B396-48C0-A1F9-EE5F037FEC6D}" type="presParOf" srcId="{9499DB1D-EB08-4CD9-B9CE-9673ED8F10F2}" destId="{4CDAC6C9-1F84-46C4-A22E-36852AA4A2FB}" srcOrd="6" destOrd="0" presId="urn:microsoft.com/office/officeart/2008/layout/LinedList"/>
    <dgm:cxn modelId="{8AE93C00-5CFA-432B-A468-FE8CB232CC27}" type="presParOf" srcId="{9499DB1D-EB08-4CD9-B9CE-9673ED8F10F2}" destId="{FE99764E-FE91-4354-8905-D29B92DE2CEE}" srcOrd="7" destOrd="0" presId="urn:microsoft.com/office/officeart/2008/layout/LinedList"/>
    <dgm:cxn modelId="{A2BA486F-A5D3-4D34-A8A0-151C165653D3}" type="presParOf" srcId="{FE99764E-FE91-4354-8905-D29B92DE2CEE}" destId="{1385B5F8-4316-4516-AF8B-01B40B1946AD}" srcOrd="0" destOrd="0" presId="urn:microsoft.com/office/officeart/2008/layout/LinedList"/>
    <dgm:cxn modelId="{CE19470F-FA7A-44FE-A329-892268A0113A}" type="presParOf" srcId="{FE99764E-FE91-4354-8905-D29B92DE2CEE}" destId="{D973F802-B939-44AA-809A-76D46E054DED}" srcOrd="1" destOrd="0" presId="urn:microsoft.com/office/officeart/2008/layout/LinedList"/>
    <dgm:cxn modelId="{814D791B-2DAD-41B6-816A-BB3C2D7581EB}" type="presParOf" srcId="{9499DB1D-EB08-4CD9-B9CE-9673ED8F10F2}" destId="{55F4403F-AAB3-446B-9A64-4AB5CB1C6851}" srcOrd="8" destOrd="0" presId="urn:microsoft.com/office/officeart/2008/layout/LinedList"/>
    <dgm:cxn modelId="{2450B507-35AE-4807-9861-AA81387EB9A9}" type="presParOf" srcId="{9499DB1D-EB08-4CD9-B9CE-9673ED8F10F2}" destId="{8A23E125-DCC2-48CC-BA07-D8D7531AEA26}" srcOrd="9" destOrd="0" presId="urn:microsoft.com/office/officeart/2008/layout/LinedList"/>
    <dgm:cxn modelId="{F214E8C9-D9FF-4081-A27A-AF80E9F489AC}" type="presParOf" srcId="{8A23E125-DCC2-48CC-BA07-D8D7531AEA26}" destId="{556A9DB4-E508-4A63-89EE-382663823D62}" srcOrd="0" destOrd="0" presId="urn:microsoft.com/office/officeart/2008/layout/LinedList"/>
    <dgm:cxn modelId="{9ACB0A86-8717-45AF-9845-2628BD08E1E3}" type="presParOf" srcId="{8A23E125-DCC2-48CC-BA07-D8D7531AEA26}" destId="{46390243-0E14-4B22-ACC7-6983C2FBFD35}" srcOrd="1" destOrd="0" presId="urn:microsoft.com/office/officeart/2008/layout/LinedList"/>
    <dgm:cxn modelId="{F9D699D1-F39D-426C-AC7E-4A43AB8634D1}" type="presParOf" srcId="{9499DB1D-EB08-4CD9-B9CE-9673ED8F10F2}" destId="{C131DBEF-FD82-4794-9413-5DD3A1B197D3}" srcOrd="10" destOrd="0" presId="urn:microsoft.com/office/officeart/2008/layout/LinedList"/>
    <dgm:cxn modelId="{9624EE8B-EB0E-4634-ABAB-A5FB74201DC2}" type="presParOf" srcId="{9499DB1D-EB08-4CD9-B9CE-9673ED8F10F2}" destId="{5F48E116-A184-4325-997A-FC1369B0D924}" srcOrd="11" destOrd="0" presId="urn:microsoft.com/office/officeart/2008/layout/LinedList"/>
    <dgm:cxn modelId="{ED9CD6E1-9E95-451F-BEA8-B4C5D0C72514}" type="presParOf" srcId="{5F48E116-A184-4325-997A-FC1369B0D924}" destId="{C025E55E-7E50-43E4-8E3C-195B7A64F7EC}" srcOrd="0" destOrd="0" presId="urn:microsoft.com/office/officeart/2008/layout/LinedList"/>
    <dgm:cxn modelId="{1600A23D-0822-49CE-A800-7CAC49A62980}" type="presParOf" srcId="{5F48E116-A184-4325-997A-FC1369B0D924}" destId="{D79B40E8-80C0-470B-8A67-5188BE98C27B}" srcOrd="1" destOrd="0" presId="urn:microsoft.com/office/officeart/2008/layout/LinedList"/>
    <dgm:cxn modelId="{E9F4AE39-9482-4932-8DFE-7AF083A9FB81}" type="presParOf" srcId="{9499DB1D-EB08-4CD9-B9CE-9673ED8F10F2}" destId="{00B478AA-95BC-479C-8DF1-BF96E16B4F02}" srcOrd="12" destOrd="0" presId="urn:microsoft.com/office/officeart/2008/layout/LinedList"/>
    <dgm:cxn modelId="{838769E4-4391-42EB-8140-485ACC07183E}" type="presParOf" srcId="{9499DB1D-EB08-4CD9-B9CE-9673ED8F10F2}" destId="{717F0571-EBC1-43F3-B308-45CCDBDB3D4C}" srcOrd="13" destOrd="0" presId="urn:microsoft.com/office/officeart/2008/layout/LinedList"/>
    <dgm:cxn modelId="{B42E3B3F-BDBF-4AD5-8EE9-43C02D36CAA6}" type="presParOf" srcId="{717F0571-EBC1-43F3-B308-45CCDBDB3D4C}" destId="{0A024313-A457-43D7-8D23-2B05D12B6EA6}" srcOrd="0" destOrd="0" presId="urn:microsoft.com/office/officeart/2008/layout/LinedList"/>
    <dgm:cxn modelId="{4D907A78-0C89-4EF2-AB49-F1CC807B7C78}" type="presParOf" srcId="{717F0571-EBC1-43F3-B308-45CCDBDB3D4C}" destId="{48C42100-7CE6-4492-B84B-B838546E4CC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C9425B-F800-4573-8E25-3E08C59CDF7E}">
      <dsp:nvSpPr>
        <dsp:cNvPr id="0" name=""/>
        <dsp:cNvSpPr/>
      </dsp:nvSpPr>
      <dsp:spPr>
        <a:xfrm>
          <a:off x="0" y="675"/>
          <a:ext cx="6900512" cy="0"/>
        </a:xfrm>
        <a:prstGeom prst="line">
          <a:avLst/>
        </a:prstGeom>
        <a:solidFill>
          <a:schemeClr val="accent2">
            <a:hueOff val="0"/>
            <a:satOff val="0"/>
            <a:lumOff val="0"/>
            <a:alphaOff val="0"/>
          </a:schemeClr>
        </a:solidFill>
        <a:ln w="19050">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13FF2F-8E8C-48E1-91B5-4915E8F0B573}">
      <dsp:nvSpPr>
        <dsp:cNvPr id="0" name=""/>
        <dsp:cNvSpPr/>
      </dsp:nvSpPr>
      <dsp:spPr>
        <a:xfrm>
          <a:off x="0" y="675"/>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Everything started in 1989 at the </a:t>
          </a:r>
          <a:r>
            <a:rPr lang="en-US" sz="2200" i="1" kern="1200" dirty="0"/>
            <a:t>European Organization for Nuclear Research </a:t>
          </a:r>
          <a:r>
            <a:rPr lang="en-US" sz="2200" kern="1200" dirty="0"/>
            <a:t>(CERN) in Switzerland.</a:t>
          </a:r>
        </a:p>
      </dsp:txBody>
      <dsp:txXfrm>
        <a:off x="0" y="675"/>
        <a:ext cx="6900512" cy="790684"/>
      </dsp:txXfrm>
    </dsp:sp>
    <dsp:sp modelId="{6F53A36C-E750-421C-9E26-0864E1820318}">
      <dsp:nvSpPr>
        <dsp:cNvPr id="0" name=""/>
        <dsp:cNvSpPr/>
      </dsp:nvSpPr>
      <dsp:spPr>
        <a:xfrm>
          <a:off x="0" y="791359"/>
          <a:ext cx="6900512" cy="0"/>
        </a:xfrm>
        <a:prstGeom prst="line">
          <a:avLst/>
        </a:prstGeom>
        <a:solidFill>
          <a:schemeClr val="accent3">
            <a:hueOff val="0"/>
            <a:satOff val="0"/>
            <a:lumOff val="0"/>
            <a:alphaOff val="0"/>
          </a:schemeClr>
        </a:solidFill>
        <a:ln w="19050">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F0E068-A823-4FDA-B9ED-1C9D078C4246}">
      <dsp:nvSpPr>
        <dsp:cNvPr id="0" name=""/>
        <dsp:cNvSpPr/>
      </dsp:nvSpPr>
      <dsp:spPr>
        <a:xfrm>
          <a:off x="0" y="791359"/>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Tim Berners-Lee proposed a "database of linked documents": World Wide Web.</a:t>
          </a:r>
        </a:p>
      </dsp:txBody>
      <dsp:txXfrm>
        <a:off x="0" y="791359"/>
        <a:ext cx="6900512" cy="790684"/>
      </dsp:txXfrm>
    </dsp:sp>
    <dsp:sp modelId="{D32618ED-EF3C-4C95-A065-0919404227BD}">
      <dsp:nvSpPr>
        <dsp:cNvPr id="0" name=""/>
        <dsp:cNvSpPr/>
      </dsp:nvSpPr>
      <dsp:spPr>
        <a:xfrm>
          <a:off x="0" y="1582044"/>
          <a:ext cx="6900512" cy="0"/>
        </a:xfrm>
        <a:prstGeom prst="line">
          <a:avLst/>
        </a:prstGeom>
        <a:solidFill>
          <a:schemeClr val="accent4">
            <a:hueOff val="0"/>
            <a:satOff val="0"/>
            <a:lumOff val="0"/>
            <a:alphaOff val="0"/>
          </a:schemeClr>
        </a:solidFill>
        <a:ln w="19050">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DFE7F4C-9151-4C2B-8A4A-22046C364EFD}">
      <dsp:nvSpPr>
        <dsp:cNvPr id="0" name=""/>
        <dsp:cNvSpPr/>
      </dsp:nvSpPr>
      <dsp:spPr>
        <a:xfrm>
          <a:off x="0" y="1582044"/>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1990: protocol, "language", browser (</a:t>
          </a:r>
          <a:r>
            <a:rPr lang="en-US" sz="2200" kern="1200" dirty="0" err="1"/>
            <a:t>WorldWideWeb</a:t>
          </a:r>
          <a:r>
            <a:rPr lang="en-US" sz="2200" kern="1200" dirty="0"/>
            <a:t>) and server</a:t>
          </a:r>
        </a:p>
      </dsp:txBody>
      <dsp:txXfrm>
        <a:off x="0" y="1582044"/>
        <a:ext cx="6900512" cy="790684"/>
      </dsp:txXfrm>
    </dsp:sp>
    <dsp:sp modelId="{4CDAC6C9-1F84-46C4-A22E-36852AA4A2FB}">
      <dsp:nvSpPr>
        <dsp:cNvPr id="0" name=""/>
        <dsp:cNvSpPr/>
      </dsp:nvSpPr>
      <dsp:spPr>
        <a:xfrm>
          <a:off x="0" y="2372728"/>
          <a:ext cx="6900512" cy="0"/>
        </a:xfrm>
        <a:prstGeom prst="line">
          <a:avLst/>
        </a:prstGeom>
        <a:solidFill>
          <a:schemeClr val="accent5">
            <a:hueOff val="0"/>
            <a:satOff val="0"/>
            <a:lumOff val="0"/>
            <a:alphaOff val="0"/>
          </a:schemeClr>
        </a:solidFill>
        <a:ln w="19050">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85B5F8-4316-4516-AF8B-01B40B1946AD}">
      <dsp:nvSpPr>
        <dsp:cNvPr id="0" name=""/>
        <dsp:cNvSpPr/>
      </dsp:nvSpPr>
      <dsp:spPr>
        <a:xfrm>
          <a:off x="0" y="2372728"/>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1991-1993: more browsers: </a:t>
          </a:r>
          <a:r>
            <a:rPr lang="en-US" sz="2200" kern="1200" dirty="0" err="1"/>
            <a:t>ViolaWWW</a:t>
          </a:r>
          <a:r>
            <a:rPr lang="en-US" sz="2200" kern="1200" dirty="0"/>
            <a:t>, </a:t>
          </a:r>
          <a:r>
            <a:rPr lang="en-US" sz="2200" kern="1200" dirty="0" err="1"/>
            <a:t>Erwise</a:t>
          </a:r>
          <a:r>
            <a:rPr lang="en-US" sz="2200" kern="1200" dirty="0"/>
            <a:t> and Mosaic </a:t>
          </a:r>
        </a:p>
      </dsp:txBody>
      <dsp:txXfrm>
        <a:off x="0" y="2372728"/>
        <a:ext cx="6900512" cy="790684"/>
      </dsp:txXfrm>
    </dsp:sp>
    <dsp:sp modelId="{55F4403F-AAB3-446B-9A64-4AB5CB1C6851}">
      <dsp:nvSpPr>
        <dsp:cNvPr id="0" name=""/>
        <dsp:cNvSpPr/>
      </dsp:nvSpPr>
      <dsp:spPr>
        <a:xfrm>
          <a:off x="0" y="3163412"/>
          <a:ext cx="6900512" cy="0"/>
        </a:xfrm>
        <a:prstGeom prst="line">
          <a:avLst/>
        </a:prstGeom>
        <a:solidFill>
          <a:schemeClr val="accent6">
            <a:hueOff val="0"/>
            <a:satOff val="0"/>
            <a:lumOff val="0"/>
            <a:alphaOff val="0"/>
          </a:schemeClr>
        </a:solidFill>
        <a:ln w="19050">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6A9DB4-E508-4A63-89EE-382663823D62}">
      <dsp:nvSpPr>
        <dsp:cNvPr id="0" name=""/>
        <dsp:cNvSpPr/>
      </dsp:nvSpPr>
      <dsp:spPr>
        <a:xfrm>
          <a:off x="0" y="3163412"/>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1992: The URL</a:t>
          </a:r>
        </a:p>
      </dsp:txBody>
      <dsp:txXfrm>
        <a:off x="0" y="3163412"/>
        <a:ext cx="6900512" cy="790684"/>
      </dsp:txXfrm>
    </dsp:sp>
    <dsp:sp modelId="{C131DBEF-FD82-4794-9413-5DD3A1B197D3}">
      <dsp:nvSpPr>
        <dsp:cNvPr id="0" name=""/>
        <dsp:cNvSpPr/>
      </dsp:nvSpPr>
      <dsp:spPr>
        <a:xfrm>
          <a:off x="0" y="3954096"/>
          <a:ext cx="6900512" cy="0"/>
        </a:xfrm>
        <a:prstGeom prst="line">
          <a:avLst/>
        </a:prstGeom>
        <a:solidFill>
          <a:schemeClr val="accent2">
            <a:hueOff val="0"/>
            <a:satOff val="0"/>
            <a:lumOff val="0"/>
            <a:alphaOff val="0"/>
          </a:schemeClr>
        </a:solidFill>
        <a:ln w="19050">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25E55E-7E50-43E4-8E3C-195B7A64F7EC}">
      <dsp:nvSpPr>
        <dsp:cNvPr id="0" name=""/>
        <dsp:cNvSpPr/>
      </dsp:nvSpPr>
      <dsp:spPr>
        <a:xfrm>
          <a:off x="0" y="3954096"/>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1993: Goes public</a:t>
          </a:r>
        </a:p>
      </dsp:txBody>
      <dsp:txXfrm>
        <a:off x="0" y="3954096"/>
        <a:ext cx="6900512" cy="790684"/>
      </dsp:txXfrm>
    </dsp:sp>
    <dsp:sp modelId="{00B478AA-95BC-479C-8DF1-BF96E16B4F02}">
      <dsp:nvSpPr>
        <dsp:cNvPr id="0" name=""/>
        <dsp:cNvSpPr/>
      </dsp:nvSpPr>
      <dsp:spPr>
        <a:xfrm>
          <a:off x="0" y="4744781"/>
          <a:ext cx="6900512" cy="0"/>
        </a:xfrm>
        <a:prstGeom prst="line">
          <a:avLst/>
        </a:prstGeom>
        <a:solidFill>
          <a:schemeClr val="accent3">
            <a:hueOff val="0"/>
            <a:satOff val="0"/>
            <a:lumOff val="0"/>
            <a:alphaOff val="0"/>
          </a:schemeClr>
        </a:solidFill>
        <a:ln w="19050">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024313-A457-43D7-8D23-2B05D12B6EA6}">
      <dsp:nvSpPr>
        <dsp:cNvPr id="0" name=""/>
        <dsp:cNvSpPr/>
      </dsp:nvSpPr>
      <dsp:spPr>
        <a:xfrm>
          <a:off x="0" y="4744781"/>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1994: W3C: web standards and protocols</a:t>
          </a:r>
        </a:p>
      </dsp:txBody>
      <dsp:txXfrm>
        <a:off x="0" y="4744781"/>
        <a:ext cx="6900512" cy="79068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is the difference between TCP and UDP?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C579D-17BF-2D3F-C8C8-DFE66185FFC4}"/>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EA2AAA29-7798-9BDF-1285-C2D35D7FF8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40E11A76-93D9-6DC1-DE4D-F3E1D0F8D8D6}"/>
              </a:ext>
            </a:extLst>
          </p:cNvPr>
          <p:cNvSpPr>
            <a:spLocks noGrp="1"/>
          </p:cNvSpPr>
          <p:nvPr>
            <p:ph type="dt" idx="10"/>
          </p:nvPr>
        </p:nvSpPr>
        <p:spPr/>
        <p:txBody>
          <a:bodyPr/>
          <a:lstStyle/>
          <a:p>
            <a:fld id="{6F9D238F-C953-46AB-90CA-FFCCC05BCB08}" type="datetimeFigureOut">
              <a:t>02/09/2026</a:t>
            </a:fld>
            <a:endParaRPr/>
          </a:p>
        </p:txBody>
      </p:sp>
      <p:sp>
        <p:nvSpPr>
          <p:cNvPr id="5" name="Footer Placeholder 4">
            <a:extLst>
              <a:ext uri="{FF2B5EF4-FFF2-40B4-BE49-F238E27FC236}">
                <a16:creationId xmlns:a16="http://schemas.microsoft.com/office/drawing/2014/main" id="{D555433C-8F16-3B80-7DE8-F1ACD648BB7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0EA6838-159B-3F2A-E0EE-73C3A2CD3C1A}"/>
              </a:ext>
            </a:extLst>
          </p:cNvPr>
          <p:cNvSpPr>
            <a:spLocks noGrp="1"/>
          </p:cNvSpPr>
          <p:nvPr>
            <p:ph type="sldNum" idx="12"/>
          </p:nvPr>
        </p:nvSpPr>
        <p:spPr/>
        <p:txBody>
          <a:bodyPr/>
          <a:lstStyle/>
          <a:p>
            <a:fld id="{014A1D4D-04C4-454B-B3EE-729E68F8446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3BFE-50B0-293B-24D0-AD0E423A0A6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3DC0055-779F-4BAF-343F-0E55D46DDA5F}"/>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B3E24CE-E653-F743-0720-E13846764F88}"/>
              </a:ext>
            </a:extLst>
          </p:cNvPr>
          <p:cNvSpPr>
            <a:spLocks noGrp="1"/>
          </p:cNvSpPr>
          <p:nvPr>
            <p:ph type="dt" idx="10"/>
          </p:nvPr>
        </p:nvSpPr>
        <p:spPr/>
        <p:txBody>
          <a:bodyPr/>
          <a:lstStyle/>
          <a:p>
            <a:fld id="{6F9D238F-C953-46AB-90CA-FFCCC05BCB08}" type="datetimeFigureOut">
              <a:t>02/09/2026</a:t>
            </a:fld>
            <a:endParaRPr/>
          </a:p>
        </p:txBody>
      </p:sp>
      <p:sp>
        <p:nvSpPr>
          <p:cNvPr id="5" name="Footer Placeholder 4">
            <a:extLst>
              <a:ext uri="{FF2B5EF4-FFF2-40B4-BE49-F238E27FC236}">
                <a16:creationId xmlns:a16="http://schemas.microsoft.com/office/drawing/2014/main" id="{7F127B09-4697-8A2A-1357-9CD75E2CB1E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5A134CC-E517-E723-9E82-C811A6CB09DF}"/>
              </a:ext>
            </a:extLst>
          </p:cNvPr>
          <p:cNvSpPr>
            <a:spLocks noGrp="1"/>
          </p:cNvSpPr>
          <p:nvPr>
            <p:ph type="sldNum" idx="12"/>
          </p:nvPr>
        </p:nvSpPr>
        <p:spPr/>
        <p:txBody>
          <a:bodyPr/>
          <a:lstStyle/>
          <a:p>
            <a:fld id="{014A1D4D-04C4-454B-B3EE-729E68F8446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D86B9-6331-76BB-268C-704BCD56E51C}"/>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0CA0B65E-D46D-2064-9A3A-FF8E8A9AE3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80F33BE6-C56F-C4D3-956D-CC6796AD5B18}"/>
              </a:ext>
            </a:extLst>
          </p:cNvPr>
          <p:cNvSpPr>
            <a:spLocks noGrp="1"/>
          </p:cNvSpPr>
          <p:nvPr>
            <p:ph type="dt" idx="10"/>
          </p:nvPr>
        </p:nvSpPr>
        <p:spPr/>
        <p:txBody>
          <a:bodyPr/>
          <a:lstStyle/>
          <a:p>
            <a:fld id="{6F9D238F-C953-46AB-90CA-FFCCC05BCB08}" type="datetimeFigureOut">
              <a:t>02/09/2026</a:t>
            </a:fld>
            <a:endParaRPr/>
          </a:p>
        </p:txBody>
      </p:sp>
      <p:sp>
        <p:nvSpPr>
          <p:cNvPr id="5" name="Footer Placeholder 4">
            <a:extLst>
              <a:ext uri="{FF2B5EF4-FFF2-40B4-BE49-F238E27FC236}">
                <a16:creationId xmlns:a16="http://schemas.microsoft.com/office/drawing/2014/main" id="{B6F80BE9-6CB8-86B1-7CC7-514ACA4F6EA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7E3EF20-68F0-27B3-F324-C7F63A342179}"/>
              </a:ext>
            </a:extLst>
          </p:cNvPr>
          <p:cNvSpPr>
            <a:spLocks noGrp="1"/>
          </p:cNvSpPr>
          <p:nvPr>
            <p:ph type="sldNum" idx="12"/>
          </p:nvPr>
        </p:nvSpPr>
        <p:spPr/>
        <p:txBody>
          <a:bodyPr/>
          <a:lstStyle/>
          <a:p>
            <a:fld id="{014A1D4D-04C4-454B-B3EE-729E68F8446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0CF1E-4914-4589-B878-953EAF6D5E2C}"/>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8377EA15-177F-AEB2-B8BB-EBC204B57FFB}"/>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A7F00726-0743-FAA1-1ADF-FD0E60E5D92A}"/>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248617E3-459C-D559-944D-765A486837BC}"/>
              </a:ext>
            </a:extLst>
          </p:cNvPr>
          <p:cNvSpPr>
            <a:spLocks noGrp="1"/>
          </p:cNvSpPr>
          <p:nvPr>
            <p:ph type="dt" idx="10"/>
          </p:nvPr>
        </p:nvSpPr>
        <p:spPr/>
        <p:txBody>
          <a:bodyPr/>
          <a:lstStyle/>
          <a:p>
            <a:fld id="{6F9D238F-C953-46AB-90CA-FFCCC05BCB08}" type="datetimeFigureOut">
              <a:t>02/09/2026</a:t>
            </a:fld>
            <a:endParaRPr/>
          </a:p>
        </p:txBody>
      </p:sp>
      <p:sp>
        <p:nvSpPr>
          <p:cNvPr id="6" name="Footer Placeholder 5">
            <a:extLst>
              <a:ext uri="{FF2B5EF4-FFF2-40B4-BE49-F238E27FC236}">
                <a16:creationId xmlns:a16="http://schemas.microsoft.com/office/drawing/2014/main" id="{4040AA4D-784D-5331-E62E-71F9A9E06EF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D1A209E-0712-CCB4-B3C6-F72211C5300F}"/>
              </a:ext>
            </a:extLst>
          </p:cNvPr>
          <p:cNvSpPr>
            <a:spLocks noGrp="1"/>
          </p:cNvSpPr>
          <p:nvPr>
            <p:ph type="sldNum" idx="12"/>
          </p:nvPr>
        </p:nvSpPr>
        <p:spPr/>
        <p:txBody>
          <a:bodyPr/>
          <a:lstStyle/>
          <a:p>
            <a:fld id="{014A1D4D-04C4-454B-B3EE-729E68F8446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89D18-FA6D-DCB1-D635-4A54FC311270}"/>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5FBFA3AC-420F-D80A-4301-942B387900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5E40F525-822C-8941-75FD-AA9AEFC31DDD}"/>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7B02ACF4-F81A-04BB-39E4-0B7D79D192B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CDC7FE6B-EAD9-FD19-E9AB-9B1455A8BFAA}"/>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D043656D-5D3A-7BF8-1A9C-B89C6AEBE2D2}"/>
              </a:ext>
            </a:extLst>
          </p:cNvPr>
          <p:cNvSpPr>
            <a:spLocks noGrp="1"/>
          </p:cNvSpPr>
          <p:nvPr>
            <p:ph type="dt" idx="10"/>
          </p:nvPr>
        </p:nvSpPr>
        <p:spPr/>
        <p:txBody>
          <a:bodyPr/>
          <a:lstStyle/>
          <a:p>
            <a:fld id="{6F9D238F-C953-46AB-90CA-FFCCC05BCB08}" type="datetimeFigureOut">
              <a:t>02/09/2026</a:t>
            </a:fld>
            <a:endParaRPr/>
          </a:p>
        </p:txBody>
      </p:sp>
      <p:sp>
        <p:nvSpPr>
          <p:cNvPr id="8" name="Footer Placeholder 7">
            <a:extLst>
              <a:ext uri="{FF2B5EF4-FFF2-40B4-BE49-F238E27FC236}">
                <a16:creationId xmlns:a16="http://schemas.microsoft.com/office/drawing/2014/main" id="{EF5579AD-FE97-7EE0-0B15-9A060E749ABC}"/>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C2922111-CBE1-0012-91B2-E8BB40371AB7}"/>
              </a:ext>
            </a:extLst>
          </p:cNvPr>
          <p:cNvSpPr>
            <a:spLocks noGrp="1"/>
          </p:cNvSpPr>
          <p:nvPr>
            <p:ph type="sldNum" idx="12"/>
          </p:nvPr>
        </p:nvSpPr>
        <p:spPr/>
        <p:txBody>
          <a:bodyPr/>
          <a:lstStyle/>
          <a:p>
            <a:fld id="{014A1D4D-04C4-454B-B3EE-729E68F8446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47059-EF61-3300-7B86-87A4CACF682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79EB5FA5-8730-9494-6DCB-0CDBF37DB8DF}"/>
              </a:ext>
            </a:extLst>
          </p:cNvPr>
          <p:cNvSpPr>
            <a:spLocks noGrp="1"/>
          </p:cNvSpPr>
          <p:nvPr>
            <p:ph type="dt" idx="10"/>
          </p:nvPr>
        </p:nvSpPr>
        <p:spPr/>
        <p:txBody>
          <a:bodyPr/>
          <a:lstStyle/>
          <a:p>
            <a:fld id="{6F9D238F-C953-46AB-90CA-FFCCC05BCB08}" type="datetimeFigureOut">
              <a:t>02/09/2026</a:t>
            </a:fld>
            <a:endParaRPr/>
          </a:p>
        </p:txBody>
      </p:sp>
      <p:sp>
        <p:nvSpPr>
          <p:cNvPr id="4" name="Footer Placeholder 3">
            <a:extLst>
              <a:ext uri="{FF2B5EF4-FFF2-40B4-BE49-F238E27FC236}">
                <a16:creationId xmlns:a16="http://schemas.microsoft.com/office/drawing/2014/main" id="{3698A928-3BEC-2410-6968-C08BA9836A8B}"/>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7767D849-5F30-4EC2-AD17-6CC089D347D1}"/>
              </a:ext>
            </a:extLst>
          </p:cNvPr>
          <p:cNvSpPr>
            <a:spLocks noGrp="1"/>
          </p:cNvSpPr>
          <p:nvPr>
            <p:ph type="sldNum" idx="12"/>
          </p:nvPr>
        </p:nvSpPr>
        <p:spPr/>
        <p:txBody>
          <a:bodyPr/>
          <a:lstStyle/>
          <a:p>
            <a:fld id="{014A1D4D-04C4-454B-B3EE-729E68F8446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C8C76D-FD8F-D39B-8555-E70544E77443}"/>
              </a:ext>
            </a:extLst>
          </p:cNvPr>
          <p:cNvSpPr>
            <a:spLocks noGrp="1"/>
          </p:cNvSpPr>
          <p:nvPr>
            <p:ph type="dt" idx="10"/>
          </p:nvPr>
        </p:nvSpPr>
        <p:spPr/>
        <p:txBody>
          <a:bodyPr/>
          <a:lstStyle/>
          <a:p>
            <a:fld id="{6F9D238F-C953-46AB-90CA-FFCCC05BCB08}" type="datetimeFigureOut">
              <a:t>02/09/2026</a:t>
            </a:fld>
            <a:endParaRPr/>
          </a:p>
        </p:txBody>
      </p:sp>
      <p:sp>
        <p:nvSpPr>
          <p:cNvPr id="3" name="Footer Placeholder 2">
            <a:extLst>
              <a:ext uri="{FF2B5EF4-FFF2-40B4-BE49-F238E27FC236}">
                <a16:creationId xmlns:a16="http://schemas.microsoft.com/office/drawing/2014/main" id="{4A442F99-639D-11B3-2B2E-6FE66146C903}"/>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AD82E89-15EA-F2F3-C2C4-67D5EC0134CE}"/>
              </a:ext>
            </a:extLst>
          </p:cNvPr>
          <p:cNvSpPr>
            <a:spLocks noGrp="1"/>
          </p:cNvSpPr>
          <p:nvPr>
            <p:ph type="sldNum" idx="12"/>
          </p:nvPr>
        </p:nvSpPr>
        <p:spPr/>
        <p:txBody>
          <a:bodyPr/>
          <a:lstStyle/>
          <a:p>
            <a:fld id="{014A1D4D-04C4-454B-B3EE-729E68F8446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AA64F-33E5-F671-8A27-A590C8D84D10}"/>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D8731F08-09AC-C8AE-E5B4-2324D10A4667}"/>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165F457C-8F25-CCD7-A9C6-5C5AB859AF6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9149892-2A1D-9333-7288-10645F782FB7}"/>
              </a:ext>
            </a:extLst>
          </p:cNvPr>
          <p:cNvSpPr>
            <a:spLocks noGrp="1"/>
          </p:cNvSpPr>
          <p:nvPr>
            <p:ph type="dt" idx="10"/>
          </p:nvPr>
        </p:nvSpPr>
        <p:spPr/>
        <p:txBody>
          <a:bodyPr/>
          <a:lstStyle/>
          <a:p>
            <a:fld id="{6F9D238F-C953-46AB-90CA-FFCCC05BCB08}" type="datetimeFigureOut">
              <a:t>02/09/2026</a:t>
            </a:fld>
            <a:endParaRPr/>
          </a:p>
        </p:txBody>
      </p:sp>
      <p:sp>
        <p:nvSpPr>
          <p:cNvPr id="6" name="Footer Placeholder 5">
            <a:extLst>
              <a:ext uri="{FF2B5EF4-FFF2-40B4-BE49-F238E27FC236}">
                <a16:creationId xmlns:a16="http://schemas.microsoft.com/office/drawing/2014/main" id="{9258DD7D-21A6-E088-CAD6-6B8BAADE06A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92F875B3-63AA-1640-A550-3400931ECA6F}"/>
              </a:ext>
            </a:extLst>
          </p:cNvPr>
          <p:cNvSpPr>
            <a:spLocks noGrp="1"/>
          </p:cNvSpPr>
          <p:nvPr>
            <p:ph type="sldNum" idx="12"/>
          </p:nvPr>
        </p:nvSpPr>
        <p:spPr/>
        <p:txBody>
          <a:bodyPr/>
          <a:lstStyle/>
          <a:p>
            <a:fld id="{014A1D4D-04C4-454B-B3EE-729E68F8446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8909E-D230-A96C-F88A-7BCEAA2BC16F}"/>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893C6AC7-6DD6-E5D1-6AC5-30C599CCE9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71CC841B-1B56-D8C9-BC97-1B8F3106B43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25440375-6D2A-F47D-C1F3-BE6EAAD0E83F}"/>
              </a:ext>
            </a:extLst>
          </p:cNvPr>
          <p:cNvSpPr>
            <a:spLocks noGrp="1"/>
          </p:cNvSpPr>
          <p:nvPr>
            <p:ph type="dt" idx="10"/>
          </p:nvPr>
        </p:nvSpPr>
        <p:spPr/>
        <p:txBody>
          <a:bodyPr/>
          <a:lstStyle/>
          <a:p>
            <a:fld id="{6F9D238F-C953-46AB-90CA-FFCCC05BCB08}" type="datetimeFigureOut">
              <a:t>02/09/2026</a:t>
            </a:fld>
            <a:endParaRPr/>
          </a:p>
        </p:txBody>
      </p:sp>
      <p:sp>
        <p:nvSpPr>
          <p:cNvPr id="6" name="Footer Placeholder 5">
            <a:extLst>
              <a:ext uri="{FF2B5EF4-FFF2-40B4-BE49-F238E27FC236}">
                <a16:creationId xmlns:a16="http://schemas.microsoft.com/office/drawing/2014/main" id="{42C580E0-C669-5196-9BC2-EB4F9E23285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99996D0-9207-497B-CCD2-BEDC2B02AB18}"/>
              </a:ext>
            </a:extLst>
          </p:cNvPr>
          <p:cNvSpPr>
            <a:spLocks noGrp="1"/>
          </p:cNvSpPr>
          <p:nvPr>
            <p:ph type="sldNum" idx="12"/>
          </p:nvPr>
        </p:nvSpPr>
        <p:spPr/>
        <p:txBody>
          <a:bodyPr/>
          <a:lstStyle/>
          <a:p>
            <a:fld id="{014A1D4D-04C4-454B-B3EE-729E68F8446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2612-9904-1CEE-7308-75EE8CD1461F}"/>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8C3BA73-A0D5-ACE0-0C31-6F7C9455690A}"/>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E3E1CC5-0BBA-18D3-DA93-4FA5E7B9A480}"/>
              </a:ext>
            </a:extLst>
          </p:cNvPr>
          <p:cNvSpPr>
            <a:spLocks noGrp="1"/>
          </p:cNvSpPr>
          <p:nvPr>
            <p:ph type="dt" idx="10"/>
          </p:nvPr>
        </p:nvSpPr>
        <p:spPr/>
        <p:txBody>
          <a:bodyPr/>
          <a:lstStyle/>
          <a:p>
            <a:fld id="{6F9D238F-C953-46AB-90CA-FFCCC05BCB08}" type="datetimeFigureOut">
              <a:t>02/09/2026</a:t>
            </a:fld>
            <a:endParaRPr/>
          </a:p>
        </p:txBody>
      </p:sp>
      <p:sp>
        <p:nvSpPr>
          <p:cNvPr id="5" name="Footer Placeholder 4">
            <a:extLst>
              <a:ext uri="{FF2B5EF4-FFF2-40B4-BE49-F238E27FC236}">
                <a16:creationId xmlns:a16="http://schemas.microsoft.com/office/drawing/2014/main" id="{1A028376-6055-F9AF-CC70-184C0B2DEB3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83EA311-098B-2478-042F-AC86583E64B6}"/>
              </a:ext>
            </a:extLst>
          </p:cNvPr>
          <p:cNvSpPr>
            <a:spLocks noGrp="1"/>
          </p:cNvSpPr>
          <p:nvPr>
            <p:ph type="sldNum" idx="12"/>
          </p:nvPr>
        </p:nvSpPr>
        <p:spPr/>
        <p:txBody>
          <a:bodyPr/>
          <a:lstStyle/>
          <a:p>
            <a:fld id="{014A1D4D-04C4-454B-B3EE-729E68F8446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DA6028-C3E2-D176-9B40-F48D0BF5CB18}"/>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A6C25AD7-4A49-2E34-24B0-9E41C41B4665}"/>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B008585-BDAB-4590-EC43-C0DD8C1533C2}"/>
              </a:ext>
            </a:extLst>
          </p:cNvPr>
          <p:cNvSpPr>
            <a:spLocks noGrp="1"/>
          </p:cNvSpPr>
          <p:nvPr>
            <p:ph type="dt" idx="10"/>
          </p:nvPr>
        </p:nvSpPr>
        <p:spPr/>
        <p:txBody>
          <a:bodyPr/>
          <a:lstStyle/>
          <a:p>
            <a:fld id="{6F9D238F-C953-46AB-90CA-FFCCC05BCB08}" type="datetimeFigureOut">
              <a:t>02/09/2026</a:t>
            </a:fld>
            <a:endParaRPr/>
          </a:p>
        </p:txBody>
      </p:sp>
      <p:sp>
        <p:nvSpPr>
          <p:cNvPr id="5" name="Footer Placeholder 4">
            <a:extLst>
              <a:ext uri="{FF2B5EF4-FFF2-40B4-BE49-F238E27FC236}">
                <a16:creationId xmlns:a16="http://schemas.microsoft.com/office/drawing/2014/main" id="{A28D1B2C-C4F9-5B1A-9C6B-4A586EB3AA8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E2382E7-8DF1-1AD2-7A48-DE9E63217CAE}"/>
              </a:ext>
            </a:extLst>
          </p:cNvPr>
          <p:cNvSpPr>
            <a:spLocks noGrp="1"/>
          </p:cNvSpPr>
          <p:nvPr>
            <p:ph type="sldNum" idx="12"/>
          </p:nvPr>
        </p:nvSpPr>
        <p:spPr/>
        <p:txBody>
          <a:bodyPr/>
          <a:lstStyle/>
          <a:p>
            <a:fld id="{014A1D4D-04C4-454B-B3EE-729E68F8446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967DFD-8765-2ACA-C1CB-2B2457DDBE23}"/>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8F6C44DD-A44E-7E51-355F-E7E5580FD6DB}"/>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981FC35-27BC-FE0F-F35B-55B97AC3F107}"/>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6F9D238F-C953-46AB-90CA-FFCCC05BCB08}" type="datetimeFigureOut">
              <a:t>02/09/2026</a:t>
            </a:fld>
            <a:endParaRPr/>
          </a:p>
        </p:txBody>
      </p:sp>
      <p:sp>
        <p:nvSpPr>
          <p:cNvPr id="5" name="Footer Placeholder 4">
            <a:extLst>
              <a:ext uri="{FF2B5EF4-FFF2-40B4-BE49-F238E27FC236}">
                <a16:creationId xmlns:a16="http://schemas.microsoft.com/office/drawing/2014/main" id="{A4698FEC-47EE-8B39-DAC6-9DFA8C2E52FB}"/>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09CAD881-6C2B-5677-F518-17A50D0FEA3B}"/>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014A1D4D-04C4-454B-B3EE-729E68F8446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mailto:etu@mmmi.sdu.dk"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mailto:nebar24@student.sdu.dk" TargetMode="External"/><Relationship Id="rId4" Type="http://schemas.openxmlformats.org/officeDocument/2006/relationships/hyperlink" Target="mailto:doutv24@student.sdu.dk"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www.test101.com/" TargetMode="External"/><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www.sdu.dk/-/media/images/forsiden_nytsdu/megamenu_spots_270x170px/bib-mega-4.png" TargetMode="External"/><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hyperlink" Target="https://medium.com/platform-engineer/evolution-of-http-69cfe6531ba0" TargetMode="Externa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hyperlink" Target="https://medium.com/platform-engineer/evolution-of-http-69cfe6531ba0" TargetMode="Externa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4.xml"/><Relationship Id="rId1" Type="http://schemas.openxmlformats.org/officeDocument/2006/relationships/slideLayout" Target="../slideLayouts/slideLayout2.xml"/><Relationship Id="rId5" Type="http://schemas.openxmlformats.org/officeDocument/2006/relationships/image" Target="../media/image26.jpe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A217A-99E1-5FA6-384D-03CF255FE577}"/>
              </a:ext>
            </a:extLst>
          </p:cNvPr>
          <p:cNvSpPr>
            <a:spLocks noGrp="1"/>
          </p:cNvSpPr>
          <p:nvPr>
            <p:ph type="ctrTitle"/>
          </p:nvPr>
        </p:nvSpPr>
        <p:spPr/>
        <p:txBody>
          <a:bodyPr/>
          <a:lstStyle/>
          <a:p>
            <a:pPr>
              <a:buNone/>
              <a:defRPr>
                <a:latin typeface="Aptos Display"/>
                <a:ea typeface="Aptos Display"/>
                <a:cs typeface="Aptos Display"/>
              </a:defRPr>
            </a:pPr>
            <a:r>
              <a:rPr dirty="0"/>
              <a:t>Web Development</a:t>
            </a:r>
          </a:p>
        </p:txBody>
      </p:sp>
      <p:sp>
        <p:nvSpPr>
          <p:cNvPr id="3" name="Subtitle 2">
            <a:extLst>
              <a:ext uri="{FF2B5EF4-FFF2-40B4-BE49-F238E27FC236}">
                <a16:creationId xmlns:a16="http://schemas.microsoft.com/office/drawing/2014/main" id="{64730B14-FD3B-ACE6-11B2-165CEBBF136D}"/>
              </a:ext>
            </a:extLst>
          </p:cNvPr>
          <p:cNvSpPr>
            <a:spLocks noGrp="1"/>
          </p:cNvSpPr>
          <p:nvPr>
            <p:ph type="subTitle" idx="1"/>
          </p:nvPr>
        </p:nvSpPr>
        <p:spPr/>
        <p:txBody>
          <a:bodyPr/>
          <a:lstStyle/>
          <a:p>
            <a:pPr>
              <a:buNone/>
              <a:defRPr>
                <a:latin typeface="Aptos"/>
                <a:ea typeface="Aptos"/>
                <a:cs typeface="Aptos"/>
              </a:defRPr>
            </a:pPr>
            <a:r>
              <a:rPr dirty="0"/>
              <a:t>Lecture 01: Introduction to Web Development</a:t>
            </a:r>
          </a:p>
        </p:txBody>
      </p:sp>
      <p:sp>
        <p:nvSpPr>
          <p:cNvPr id="4" name="TextBox 3">
            <a:extLst>
              <a:ext uri="{FF2B5EF4-FFF2-40B4-BE49-F238E27FC236}">
                <a16:creationId xmlns:a16="http://schemas.microsoft.com/office/drawing/2014/main" id="{AFA54849-DACF-3D2C-7C32-4918B6E04CE7}"/>
              </a:ext>
            </a:extLst>
          </p:cNvPr>
          <p:cNvSpPr>
            <a:spLocks noGrp="1"/>
          </p:cNvSpPr>
          <p:nvPr/>
        </p:nvSpPr>
        <p:spPr>
          <a:xfrm>
            <a:off x="219075" y="5638800"/>
            <a:ext cx="6086475" cy="646331"/>
          </a:xfrm>
          <a:prstGeom prst="rect">
            <a:avLst/>
          </a:prstGeom>
          <a:noFill/>
        </p:spPr>
        <p:txBody>
          <a:bodyPr wrap="square">
            <a:spAutoFit/>
          </a:bodyPr>
          <a:lstStyle/>
          <a:p>
            <a:pPr algn="l">
              <a:buNone/>
              <a:defRPr>
                <a:latin typeface="Aptos"/>
                <a:ea typeface="Aptos"/>
                <a:cs typeface="Aptos"/>
              </a:defRPr>
            </a:pPr>
            <a:r>
              <a:rPr b="1">
                <a:latin typeface="Aptos"/>
                <a:ea typeface="Aptos"/>
                <a:cs typeface="Aptos"/>
              </a:rPr>
              <a:t>Esmot Ara Tuli</a:t>
            </a:r>
          </a:p>
          <a:p>
            <a:pPr algn="l">
              <a:buNone/>
              <a:defRPr>
                <a:latin typeface="Aptos"/>
                <a:ea typeface="Aptos"/>
                <a:cs typeface="Aptos"/>
              </a:defRPr>
            </a:pPr>
            <a:r>
              <a:rPr i="1">
                <a:latin typeface="Aptos"/>
                <a:ea typeface="Aptos"/>
                <a:cs typeface="Aptos"/>
              </a:rPr>
              <a:t>SDU Center for Industrial Software Engineering</a:t>
            </a:r>
          </a:p>
        </p:txBody>
      </p:sp>
      <p:pic>
        <p:nvPicPr>
          <p:cNvPr id="9" name="object 4"/>
          <p:cNvPicPr>
            <a:picLocks noChangeAspect="1"/>
          </p:cNvPicPr>
          <p:nvPr/>
        </p:nvPicPr>
        <p:blipFill>
          <a:blip r:embed="rId3"/>
          <a:stretch>
            <a:fillRect/>
          </a:stretch>
        </p:blipFill>
        <p:spPr>
          <a:xfrm>
            <a:off x="8991600" y="5470695"/>
            <a:ext cx="1954597" cy="533401"/>
          </a:xfrm>
          <a:prstGeom prst="rect">
            <a:avLst/>
          </a:prstGeom>
        </p:spPr>
      </p:pic>
    </p:spTree>
    <p:extLst>
      <p:ext uri="{BB962C8B-B14F-4D97-AF65-F5344CB8AC3E}">
        <p14:creationId xmlns:p14="http://schemas.microsoft.com/office/powerpoint/2010/main" val="2829608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 name="Rectangle 226">
            <a:extLst>
              <a:ext uri="{FF2B5EF4-FFF2-40B4-BE49-F238E27FC236}">
                <a16:creationId xmlns:a16="http://schemas.microsoft.com/office/drawing/2014/main" id="{FB5B0058-AF13-4859-B429-4EDDE2A26F7F}"/>
              </a:ext>
            </a:extLst>
          </p:cNvPr>
          <p:cNvSpPr>
            <a:spLocks noGrp="1"/>
          </p:cNvSpPr>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2" name="Title 1">
            <a:extLst>
              <a:ext uri="{FF2B5EF4-FFF2-40B4-BE49-F238E27FC236}">
                <a16:creationId xmlns:a16="http://schemas.microsoft.com/office/drawing/2014/main" id="{039BBBF9-5C42-0AEB-2039-F7A0FB38C305}"/>
              </a:ext>
            </a:extLst>
          </p:cNvPr>
          <p:cNvSpPr>
            <a:spLocks noGrp="1"/>
          </p:cNvSpPr>
          <p:nvPr>
            <p:ph type="title"/>
          </p:nvPr>
        </p:nvSpPr>
        <p:spPr>
          <a:xfrm>
            <a:off x="2399234" y="2073715"/>
            <a:ext cx="6935759" cy="2993042"/>
          </a:xfrm>
        </p:spPr>
        <p:txBody>
          <a:bodyPr vert="horz" lIns="91440" tIns="45720" rIns="91440" bIns="45720" anchor="ctr">
            <a:normAutofit/>
          </a:bodyPr>
          <a:lstStyle/>
          <a:p>
            <a:pPr algn="ctr">
              <a:buNone/>
              <a:defRPr>
                <a:latin typeface="Aptos Display"/>
                <a:ea typeface="Aptos Display"/>
                <a:cs typeface="Aptos Display"/>
              </a:defRPr>
            </a:pPr>
            <a:r>
              <a:rPr sz="8800">
                <a:solidFill>
                  <a:schemeClr val="bg1"/>
                </a:solidFill>
                <a:latin typeface="Aptos Display"/>
                <a:ea typeface="Aptos Display"/>
                <a:cs typeface="Aptos Display"/>
              </a:rPr>
              <a:t>You first</a:t>
            </a:r>
          </a:p>
        </p:txBody>
      </p:sp>
      <p:sp>
        <p:nvSpPr>
          <p:cNvPr id="228" name="Rectangle 227">
            <a:extLst>
              <a:ext uri="{FF2B5EF4-FFF2-40B4-BE49-F238E27FC236}">
                <a16:creationId xmlns:a16="http://schemas.microsoft.com/office/drawing/2014/main" id="{81BD432D-FAB3-4B5D-BF27-4DA7C75B3238}"/>
              </a:ext>
            </a:extLst>
          </p:cNvPr>
          <p:cNvSpPr>
            <a:spLocks noGrp="1"/>
          </p:cNvSpPr>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9" name="Straight Connector 228">
            <a:extLst>
              <a:ext uri="{FF2B5EF4-FFF2-40B4-BE49-F238E27FC236}">
                <a16:creationId xmlns:a16="http://schemas.microsoft.com/office/drawing/2014/main" id="{5BCD0717-299C-41AC-A984-31CE7D738A92}"/>
              </a:ext>
            </a:extLst>
          </p:cNvPr>
          <p:cNvSpPr>
            <a:spLocks noGrp="1"/>
          </p:cNvSpPr>
          <p:nvPr/>
        </p:nv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
        <p:nvSpPr>
          <p:cNvPr id="230" name="Straight Connector 229">
            <a:extLst>
              <a:ext uri="{FF2B5EF4-FFF2-40B4-BE49-F238E27FC236}">
                <a16:creationId xmlns:a16="http://schemas.microsoft.com/office/drawing/2014/main" id="{71F73C68-6226-4406-920D-9693FAB33FF8}"/>
              </a:ext>
            </a:extLst>
          </p:cNvPr>
          <p:cNvSpPr>
            <a:spLocks noGrp="1"/>
          </p:cNvSpPr>
          <p:nvPr/>
        </p:nv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Tree>
    <p:extLst>
      <p:ext uri="{BB962C8B-B14F-4D97-AF65-F5344CB8AC3E}">
        <p14:creationId xmlns:p14="http://schemas.microsoft.com/office/powerpoint/2010/main" val="1024473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E48BC-66A6-8A13-B5A5-F42277BBCD7A}"/>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Knowing you</a:t>
            </a:r>
          </a:p>
        </p:txBody>
      </p:sp>
      <p:sp>
        <p:nvSpPr>
          <p:cNvPr id="3" name="Content Placeholder 2">
            <a:extLst>
              <a:ext uri="{FF2B5EF4-FFF2-40B4-BE49-F238E27FC236}">
                <a16:creationId xmlns:a16="http://schemas.microsoft.com/office/drawing/2014/main" id="{BF847F85-34F8-8486-8ED2-5E19974CA3CA}"/>
              </a:ext>
            </a:extLst>
          </p:cNvPr>
          <p:cNvSpPr>
            <a:spLocks noGrp="1"/>
          </p:cNvSpPr>
          <p:nvPr>
            <p:ph idx="1"/>
          </p:nvPr>
        </p:nvSpPr>
        <p:spPr/>
        <p:txBody>
          <a:bodyPr/>
          <a:lstStyle/>
          <a:p>
            <a:pPr>
              <a:buNone/>
              <a:defRPr>
                <a:latin typeface="Aptos"/>
                <a:ea typeface="Aptos"/>
                <a:cs typeface="Aptos"/>
              </a:defRPr>
            </a:pPr>
            <a:r>
              <a:t>Have you developed a web application? </a:t>
            </a:r>
          </a:p>
          <a:p>
            <a:pPr marL="0" indent="0">
              <a:buNone/>
              <a:defRPr>
                <a:latin typeface="Aptos"/>
                <a:ea typeface="Aptos"/>
                <a:cs typeface="Aptos"/>
              </a:defRPr>
            </a:pPr>
            <a:endParaRPr/>
          </a:p>
          <a:p>
            <a:pPr>
              <a:buNone/>
              <a:defRPr>
                <a:latin typeface="Aptos"/>
                <a:ea typeface="Aptos"/>
                <a:cs typeface="Aptos"/>
              </a:defRPr>
            </a:pPr>
            <a:r>
              <a:t>What do you expect from this course?</a:t>
            </a:r>
          </a:p>
          <a:p>
            <a:pPr marL="0" indent="0">
              <a:buNone/>
              <a:defRPr>
                <a:latin typeface="Aptos"/>
                <a:ea typeface="Aptos"/>
                <a:cs typeface="Aptos"/>
              </a:defRPr>
            </a:pPr>
            <a:r>
              <a:t> </a:t>
            </a:r>
          </a:p>
          <a:p>
            <a:pPr>
              <a:buNone/>
              <a:defRPr>
                <a:latin typeface="Aptos"/>
                <a:ea typeface="Aptos"/>
                <a:cs typeface="Aptos"/>
              </a:defRPr>
            </a:pPr>
            <a:r>
              <a:t>What would you like to learn?</a:t>
            </a:r>
          </a:p>
          <a:p>
            <a:pPr marL="0" indent="0">
              <a:buNone/>
              <a:defRPr>
                <a:latin typeface="Aptos"/>
                <a:ea typeface="Aptos"/>
                <a:cs typeface="Aptos"/>
              </a:defRPr>
            </a:pPr>
            <a:endParaRPr/>
          </a:p>
          <a:p>
            <a:pPr>
              <a:buNone/>
              <a:defRPr>
                <a:latin typeface="Aptos"/>
                <a:ea typeface="Aptos"/>
                <a:cs typeface="Aptos"/>
              </a:defRPr>
            </a:pPr>
            <a:r>
              <a:t>What do you know? </a:t>
            </a:r>
            <a:r>
              <a:rPr>
                <a:solidFill>
                  <a:schemeClr val="bg1">
                    <a:lumMod val="50000"/>
                  </a:schemeClr>
                </a:solidFill>
                <a:latin typeface="Aptos"/>
                <a:ea typeface="Aptos"/>
                <a:cs typeface="Aptos"/>
              </a:rPr>
              <a:t>Web framework/language, Security/Scalability topics, Architecture</a:t>
            </a:r>
          </a:p>
        </p:txBody>
      </p:sp>
    </p:spTree>
    <p:extLst>
      <p:ext uri="{BB962C8B-B14F-4D97-AF65-F5344CB8AC3E}">
        <p14:creationId xmlns:p14="http://schemas.microsoft.com/office/powerpoint/2010/main" val="3714981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 name="Rectangle 226">
            <a:extLst>
              <a:ext uri="{FF2B5EF4-FFF2-40B4-BE49-F238E27FC236}">
                <a16:creationId xmlns:a16="http://schemas.microsoft.com/office/drawing/2014/main" id="{6894B69E-DE84-0350-B9A9-8EF9C9415888}"/>
              </a:ext>
            </a:extLst>
          </p:cNvPr>
          <p:cNvSpPr>
            <a:spLocks noGrp="1"/>
          </p:cNvSpPr>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2" name="Title 1">
            <a:extLst>
              <a:ext uri="{FF2B5EF4-FFF2-40B4-BE49-F238E27FC236}">
                <a16:creationId xmlns:a16="http://schemas.microsoft.com/office/drawing/2014/main" id="{F9845F05-FC37-8849-8DE5-3E908FCC4A01}"/>
              </a:ext>
            </a:extLst>
          </p:cNvPr>
          <p:cNvSpPr>
            <a:spLocks noGrp="1"/>
          </p:cNvSpPr>
          <p:nvPr>
            <p:ph type="title"/>
          </p:nvPr>
        </p:nvSpPr>
        <p:spPr>
          <a:xfrm>
            <a:off x="2399234" y="2073715"/>
            <a:ext cx="6935759" cy="2993042"/>
          </a:xfrm>
        </p:spPr>
        <p:txBody>
          <a:bodyPr vert="horz" lIns="91440" tIns="45720" rIns="91440" bIns="45720" anchor="ctr">
            <a:normAutofit/>
          </a:bodyPr>
          <a:lstStyle/>
          <a:p>
            <a:pPr algn="ctr">
              <a:buNone/>
              <a:defRPr>
                <a:latin typeface="Aptos Display"/>
                <a:ea typeface="Aptos Display"/>
                <a:cs typeface="Aptos Display"/>
              </a:defRPr>
            </a:pPr>
            <a:r>
              <a:rPr sz="8800">
                <a:solidFill>
                  <a:schemeClr val="bg1"/>
                </a:solidFill>
                <a:latin typeface="Aptos Display"/>
                <a:ea typeface="Aptos Display"/>
                <a:cs typeface="Aptos Display"/>
              </a:rPr>
              <a:t>Now us</a:t>
            </a:r>
          </a:p>
        </p:txBody>
      </p:sp>
      <p:sp>
        <p:nvSpPr>
          <p:cNvPr id="228" name="Rectangle 227">
            <a:extLst>
              <a:ext uri="{FF2B5EF4-FFF2-40B4-BE49-F238E27FC236}">
                <a16:creationId xmlns:a16="http://schemas.microsoft.com/office/drawing/2014/main" id="{10EE08BB-0E54-5DEE-7569-5BD9E061418F}"/>
              </a:ext>
            </a:extLst>
          </p:cNvPr>
          <p:cNvSpPr>
            <a:spLocks noGrp="1"/>
          </p:cNvSpPr>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9" name="Straight Connector 228">
            <a:extLst>
              <a:ext uri="{FF2B5EF4-FFF2-40B4-BE49-F238E27FC236}">
                <a16:creationId xmlns:a16="http://schemas.microsoft.com/office/drawing/2014/main" id="{A882CB24-B615-4E9C-9738-4AA0AAD2B156}"/>
              </a:ext>
            </a:extLst>
          </p:cNvPr>
          <p:cNvSpPr>
            <a:spLocks noGrp="1"/>
          </p:cNvSpPr>
          <p:nvPr/>
        </p:nv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
        <p:nvSpPr>
          <p:cNvPr id="230" name="Straight Connector 229">
            <a:extLst>
              <a:ext uri="{FF2B5EF4-FFF2-40B4-BE49-F238E27FC236}">
                <a16:creationId xmlns:a16="http://schemas.microsoft.com/office/drawing/2014/main" id="{C9EE1BE9-E08B-4581-A447-5A4931236185}"/>
              </a:ext>
            </a:extLst>
          </p:cNvPr>
          <p:cNvSpPr>
            <a:spLocks noGrp="1"/>
          </p:cNvSpPr>
          <p:nvPr/>
        </p:nv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Tree>
    <p:extLst>
      <p:ext uri="{BB962C8B-B14F-4D97-AF65-F5344CB8AC3E}">
        <p14:creationId xmlns:p14="http://schemas.microsoft.com/office/powerpoint/2010/main" val="2747853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6456A-3025-014D-D52A-AD20B2ED42E8}"/>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Context</a:t>
            </a:r>
          </a:p>
        </p:txBody>
      </p:sp>
      <p:sp>
        <p:nvSpPr>
          <p:cNvPr id="3" name="Content Placeholder 2">
            <a:extLst>
              <a:ext uri="{FF2B5EF4-FFF2-40B4-BE49-F238E27FC236}">
                <a16:creationId xmlns:a16="http://schemas.microsoft.com/office/drawing/2014/main" id="{D5476B91-AB82-B35A-DD7F-244EB8702A45}"/>
              </a:ext>
            </a:extLst>
          </p:cNvPr>
          <p:cNvSpPr>
            <a:spLocks noGrp="1"/>
          </p:cNvSpPr>
          <p:nvPr>
            <p:ph idx="1"/>
          </p:nvPr>
        </p:nvSpPr>
        <p:spPr/>
        <p:txBody>
          <a:bodyPr>
            <a:normAutofit lnSpcReduction="10000"/>
          </a:bodyPr>
          <a:lstStyle/>
          <a:p>
            <a:pPr>
              <a:buNone/>
              <a:defRPr>
                <a:latin typeface="Aptos"/>
                <a:ea typeface="Aptos"/>
                <a:cs typeface="Aptos"/>
              </a:defRPr>
            </a:pPr>
            <a:r>
              <a:rPr b="1">
                <a:latin typeface="Aptos"/>
                <a:ea typeface="Aptos"/>
                <a:cs typeface="Aptos"/>
              </a:rPr>
              <a:t>Course</a:t>
            </a:r>
          </a:p>
          <a:p>
            <a:pPr marL="0" indent="0">
              <a:buNone/>
              <a:defRPr>
                <a:latin typeface="Aptos"/>
                <a:ea typeface="Aptos"/>
                <a:cs typeface="Aptos"/>
              </a:defRPr>
            </a:pPr>
            <a:r>
              <a:rPr b="1">
                <a:latin typeface="Aptos"/>
                <a:ea typeface="Aptos"/>
                <a:cs typeface="Aptos"/>
              </a:rPr>
              <a:t>	Web Development</a:t>
            </a:r>
          </a:p>
          <a:p>
            <a:pPr marL="0" indent="0">
              <a:buNone/>
              <a:defRPr>
                <a:latin typeface="Aptos"/>
                <a:ea typeface="Aptos"/>
                <a:cs typeface="Aptos"/>
              </a:defRPr>
            </a:pPr>
            <a:endParaRPr b="1"/>
          </a:p>
          <a:p>
            <a:pPr>
              <a:buNone/>
              <a:defRPr>
                <a:latin typeface="Aptos"/>
                <a:ea typeface="Aptos"/>
                <a:cs typeface="Aptos"/>
              </a:defRPr>
            </a:pPr>
            <a:r>
              <a:t>Lecture: Esmot Ara Tuli (</a:t>
            </a:r>
            <a:r>
              <a:rPr>
                <a:hlinkClick r:id="rId3"/>
              </a:rPr>
              <a:t>etu@mmmi.sdu.dk</a:t>
            </a:r>
            <a:r>
              <a:t>)</a:t>
            </a:r>
          </a:p>
          <a:p>
            <a:pPr lvl="1">
              <a:buNone/>
              <a:defRPr>
                <a:latin typeface="Aptos"/>
                <a:ea typeface="Aptos"/>
                <a:cs typeface="Aptos"/>
              </a:defRPr>
            </a:pPr>
            <a:r>
              <a:t>Software and Web development? Yes</a:t>
            </a:r>
          </a:p>
          <a:p>
            <a:pPr marL="457200" lvl="1" indent="0">
              <a:buNone/>
              <a:defRPr>
                <a:latin typeface="Aptos"/>
                <a:ea typeface="Aptos"/>
                <a:cs typeface="Aptos"/>
              </a:defRPr>
            </a:pPr>
            <a:endParaRPr/>
          </a:p>
          <a:p>
            <a:pPr>
              <a:buNone/>
              <a:defRPr>
                <a:latin typeface="Aptos"/>
                <a:ea typeface="Aptos"/>
                <a:cs typeface="Aptos"/>
              </a:defRPr>
            </a:pPr>
            <a:r>
              <a:t>Practical: Rebecca De Rosa (rede@mmmi.sdu.dk)</a:t>
            </a:r>
          </a:p>
          <a:p>
            <a:pPr>
              <a:buNone/>
              <a:defRPr>
                <a:latin typeface="Aptos"/>
                <a:ea typeface="Aptos"/>
                <a:cs typeface="Aptos"/>
              </a:defRPr>
            </a:pPr>
            <a:r>
              <a:t>TAs: </a:t>
            </a:r>
          </a:p>
          <a:p>
            <a:pPr lvl="2">
              <a:buNone/>
              <a:defRPr>
                <a:latin typeface="Aptos"/>
                <a:ea typeface="Aptos"/>
                <a:cs typeface="Aptos"/>
              </a:defRPr>
            </a:pPr>
            <a:r>
              <a:t>Donát Zsombor Ötvös (</a:t>
            </a:r>
            <a:r>
              <a:rPr>
                <a:hlinkClick r:id="rId4"/>
              </a:rPr>
              <a:t>doutv24@student.sdu.dk</a:t>
            </a:r>
            <a:r>
              <a:t> )</a:t>
            </a:r>
          </a:p>
          <a:p>
            <a:pPr lvl="2">
              <a:buNone/>
              <a:defRPr>
                <a:latin typeface="Aptos"/>
                <a:ea typeface="Aptos"/>
                <a:cs typeface="Aptos"/>
              </a:defRPr>
            </a:pPr>
            <a:r>
              <a:t>Nedas Bartkus (</a:t>
            </a:r>
            <a:r>
              <a:rPr>
                <a:hlinkClick r:id="rId5"/>
              </a:rPr>
              <a:t>nebar24@student.sdu.dk</a:t>
            </a:r>
            <a:r>
              <a:t>)</a:t>
            </a:r>
          </a:p>
          <a:p>
            <a:pPr lvl="2">
              <a:buNone/>
              <a:defRPr>
                <a:latin typeface="Aptos"/>
                <a:ea typeface="Aptos"/>
                <a:cs typeface="Aptos"/>
              </a:defRPr>
            </a:pPr>
            <a:endParaRPr/>
          </a:p>
          <a:p>
            <a:pPr>
              <a:buNone/>
              <a:defRPr>
                <a:latin typeface="Aptos"/>
                <a:ea typeface="Aptos"/>
                <a:cs typeface="Aptos"/>
              </a:defRPr>
            </a:pPr>
            <a:endParaRPr b="1"/>
          </a:p>
        </p:txBody>
      </p:sp>
    </p:spTree>
    <p:extLst>
      <p:ext uri="{BB962C8B-B14F-4D97-AF65-F5344CB8AC3E}">
        <p14:creationId xmlns:p14="http://schemas.microsoft.com/office/powerpoint/2010/main" val="3051537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37282-6814-05BE-4672-5B732BEC140B}"/>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Course description</a:t>
            </a:r>
          </a:p>
        </p:txBody>
      </p:sp>
      <p:sp>
        <p:nvSpPr>
          <p:cNvPr id="4" name="Content Placeholder 3">
            <a:extLst>
              <a:ext uri="{FF2B5EF4-FFF2-40B4-BE49-F238E27FC236}">
                <a16:creationId xmlns:a16="http://schemas.microsoft.com/office/drawing/2014/main" id="{331F5197-A5B2-624F-E55B-1D17700516E9}"/>
              </a:ext>
            </a:extLst>
          </p:cNvPr>
          <p:cNvSpPr>
            <a:spLocks noGrp="1"/>
          </p:cNvSpPr>
          <p:nvPr>
            <p:ph idx="1"/>
          </p:nvPr>
        </p:nvSpPr>
        <p:spPr/>
        <p:txBody>
          <a:bodyPr/>
          <a:lstStyle/>
          <a:p>
            <a:pPr>
              <a:buNone/>
              <a:defRPr>
                <a:latin typeface="Aptos"/>
                <a:ea typeface="Aptos"/>
                <a:cs typeface="Aptos"/>
              </a:defRPr>
            </a:pPr>
            <a:r>
              <a:t>Content</a:t>
            </a:r>
          </a:p>
          <a:p>
            <a:pPr marL="457200" lvl="1" indent="0" algn="just">
              <a:buNone/>
              <a:defRPr>
                <a:latin typeface="Aptos"/>
                <a:ea typeface="Aptos"/>
                <a:cs typeface="Aptos"/>
              </a:defRPr>
            </a:pPr>
            <a:r>
              <a:t>The module focuses on the design and development of web applications. In doing so, the module provides motivation for the use of web technologies in software development. In addition, the module delivers knowledge of the unique requirements for using the internet for data communication and a web browser as the interface between users and the system, including security and performance. Moreover, students acquire technical skills to develop web applications, both on the front-end (HTML, CSS, and JavaScript) and the back-end (web servers).</a:t>
            </a:r>
          </a:p>
        </p:txBody>
      </p:sp>
    </p:spTree>
    <p:extLst>
      <p:ext uri="{BB962C8B-B14F-4D97-AF65-F5344CB8AC3E}">
        <p14:creationId xmlns:p14="http://schemas.microsoft.com/office/powerpoint/2010/main" val="453572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1653B-D35C-29B3-7EC5-B50BAC133124}"/>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Course description</a:t>
            </a:r>
          </a:p>
        </p:txBody>
      </p:sp>
      <p:sp>
        <p:nvSpPr>
          <p:cNvPr id="4" name="Content Placeholder 3">
            <a:extLst>
              <a:ext uri="{FF2B5EF4-FFF2-40B4-BE49-F238E27FC236}">
                <a16:creationId xmlns:a16="http://schemas.microsoft.com/office/drawing/2014/main" id="{173F517B-D890-5FC9-4D43-21917CBB7857}"/>
              </a:ext>
            </a:extLst>
          </p:cNvPr>
          <p:cNvSpPr>
            <a:spLocks noGrp="1"/>
          </p:cNvSpPr>
          <p:nvPr>
            <p:ph idx="1"/>
          </p:nvPr>
        </p:nvSpPr>
        <p:spPr>
          <a:xfrm>
            <a:off x="838200" y="1569592"/>
            <a:ext cx="10515600" cy="5288408"/>
          </a:xfrm>
        </p:spPr>
        <p:txBody>
          <a:bodyPr>
            <a:noAutofit/>
          </a:bodyPr>
          <a:lstStyle/>
          <a:p>
            <a:pPr marL="0" indent="0" algn="l">
              <a:buNone/>
              <a:defRPr>
                <a:latin typeface="Aptos"/>
                <a:ea typeface="Aptos"/>
                <a:cs typeface="Aptos"/>
              </a:defRPr>
            </a:pPr>
            <a:r>
              <a:rPr sz="1400" b="1">
                <a:latin typeface="Aptos"/>
                <a:ea typeface="Aptos"/>
                <a:cs typeface="Aptos"/>
              </a:rPr>
              <a:t>Learning objectives - Knowledge</a:t>
            </a:r>
          </a:p>
          <a:p>
            <a:pPr algn="l">
              <a:buNone/>
              <a:defRPr>
                <a:latin typeface="Aptos"/>
                <a:ea typeface="Aptos"/>
                <a:cs typeface="Aptos"/>
              </a:defRPr>
            </a:pPr>
            <a:r>
              <a:rPr sz="1400">
                <a:latin typeface="Aptos"/>
                <a:ea typeface="Aptos"/>
                <a:cs typeface="Aptos"/>
              </a:rPr>
              <a:t>Explain the fundamental building blocks underlying web applications. </a:t>
            </a:r>
          </a:p>
          <a:p>
            <a:pPr algn="l">
              <a:buNone/>
              <a:defRPr>
                <a:latin typeface="Aptos"/>
                <a:ea typeface="Aptos"/>
                <a:cs typeface="Aptos"/>
              </a:defRPr>
            </a:pPr>
            <a:r>
              <a:rPr sz="1400">
                <a:latin typeface="Aptos"/>
                <a:ea typeface="Aptos"/>
                <a:cs typeface="Aptos"/>
              </a:rPr>
              <a:t>Explain how data is exchanged and processed between users and server-side programs.</a:t>
            </a:r>
          </a:p>
          <a:p>
            <a:pPr algn="l">
              <a:buNone/>
              <a:defRPr>
                <a:latin typeface="Aptos"/>
                <a:ea typeface="Aptos"/>
                <a:cs typeface="Aptos"/>
              </a:defRPr>
            </a:pPr>
            <a:r>
              <a:rPr sz="1400">
                <a:latin typeface="Aptos"/>
                <a:ea typeface="Aptos"/>
                <a:cs typeface="Aptos"/>
              </a:rPr>
              <a:t>Justify the best practices for building robust web applications, such as security, efficiency, and testing. </a:t>
            </a:r>
          </a:p>
          <a:p>
            <a:pPr>
              <a:buNone/>
              <a:defRPr>
                <a:latin typeface="Aptos"/>
                <a:ea typeface="Aptos"/>
                <a:cs typeface="Aptos"/>
              </a:defRPr>
            </a:pPr>
            <a:endParaRPr sz="1400"/>
          </a:p>
          <a:p>
            <a:pPr marL="0" indent="0" algn="l">
              <a:buNone/>
              <a:defRPr>
                <a:latin typeface="Aptos"/>
                <a:ea typeface="Aptos"/>
                <a:cs typeface="Aptos"/>
              </a:defRPr>
            </a:pPr>
            <a:r>
              <a:rPr sz="1400" b="1">
                <a:latin typeface="Aptos"/>
                <a:ea typeface="Aptos"/>
                <a:cs typeface="Aptos"/>
              </a:rPr>
              <a:t>Learning objectives - Skills</a:t>
            </a:r>
          </a:p>
          <a:p>
            <a:pPr algn="l">
              <a:buNone/>
              <a:defRPr>
                <a:latin typeface="Aptos"/>
                <a:ea typeface="Aptos"/>
                <a:cs typeface="Aptos"/>
              </a:defRPr>
            </a:pPr>
            <a:r>
              <a:rPr sz="1400">
                <a:latin typeface="Aptos"/>
                <a:ea typeface="Aptos"/>
                <a:cs typeface="Aptos"/>
              </a:rPr>
              <a:t>Design and develop a web application, both user interface and server-side processing, that fulfills specific requirements.</a:t>
            </a:r>
          </a:p>
          <a:p>
            <a:pPr algn="l">
              <a:buNone/>
              <a:defRPr>
                <a:latin typeface="Aptos"/>
                <a:ea typeface="Aptos"/>
                <a:cs typeface="Aptos"/>
              </a:defRPr>
            </a:pPr>
            <a:r>
              <a:rPr sz="1400">
                <a:latin typeface="Aptos"/>
                <a:ea typeface="Aptos"/>
                <a:cs typeface="Aptos"/>
              </a:rPr>
              <a:t>Implement a dynamic and interactive web application, where interfaces change according to server-side data and user inputs.</a:t>
            </a:r>
          </a:p>
          <a:p>
            <a:pPr algn="l">
              <a:buNone/>
              <a:defRPr>
                <a:latin typeface="Aptos"/>
                <a:ea typeface="Aptos"/>
                <a:cs typeface="Aptos"/>
              </a:defRPr>
            </a:pPr>
            <a:r>
              <a:rPr sz="1400">
                <a:latin typeface="Aptos"/>
                <a:ea typeface="Aptos"/>
                <a:cs typeface="Aptos"/>
              </a:rPr>
              <a:t>Apply secure coding principles to prevent common web vulnerabilities (e.g., code injection, XSS, broken authentication).</a:t>
            </a:r>
          </a:p>
          <a:p>
            <a:pPr algn="l">
              <a:buNone/>
              <a:defRPr>
                <a:latin typeface="Aptos"/>
                <a:ea typeface="Aptos"/>
                <a:cs typeface="Aptos"/>
              </a:defRPr>
            </a:pPr>
            <a:r>
              <a:rPr sz="1400">
                <a:latin typeface="Aptos"/>
                <a:ea typeface="Aptos"/>
                <a:cs typeface="Aptos"/>
              </a:rPr>
              <a:t>Analyze web applications behavior, identifying the causes of functional errors, performance issues, and security weaknesses. </a:t>
            </a:r>
          </a:p>
          <a:p>
            <a:pPr>
              <a:buNone/>
              <a:defRPr>
                <a:latin typeface="Aptos"/>
                <a:ea typeface="Aptos"/>
                <a:cs typeface="Aptos"/>
              </a:defRPr>
            </a:pPr>
            <a:endParaRPr sz="1400"/>
          </a:p>
          <a:p>
            <a:pPr marL="0" indent="0" algn="l">
              <a:buNone/>
              <a:defRPr>
                <a:latin typeface="Aptos"/>
                <a:ea typeface="Aptos"/>
                <a:cs typeface="Aptos"/>
              </a:defRPr>
            </a:pPr>
            <a:r>
              <a:rPr sz="1400" b="1">
                <a:latin typeface="Aptos"/>
                <a:ea typeface="Aptos"/>
                <a:cs typeface="Aptos"/>
              </a:rPr>
              <a:t>Learning objectives - Competences</a:t>
            </a:r>
          </a:p>
          <a:p>
            <a:pPr algn="l">
              <a:buNone/>
              <a:defRPr>
                <a:latin typeface="Aptos"/>
                <a:ea typeface="Aptos"/>
                <a:cs typeface="Aptos"/>
              </a:defRPr>
            </a:pPr>
            <a:r>
              <a:rPr sz="1400">
                <a:latin typeface="Aptos"/>
                <a:ea typeface="Aptos"/>
                <a:cs typeface="Aptos"/>
              </a:rPr>
              <a:t>Analyze how the requirements of a system influence the adoption of web technologies.</a:t>
            </a:r>
          </a:p>
          <a:p>
            <a:pPr algn="l">
              <a:buNone/>
              <a:defRPr>
                <a:latin typeface="Aptos"/>
                <a:ea typeface="Aptos"/>
                <a:cs typeface="Aptos"/>
              </a:defRPr>
            </a:pPr>
            <a:r>
              <a:rPr sz="1400">
                <a:latin typeface="Aptos"/>
                <a:ea typeface="Aptos"/>
                <a:cs typeface="Aptos"/>
              </a:rPr>
              <a:t>Design and implement web-based systems, such that the system is clearly defined, the different components are divided into different modules, and similar components are grouped together in similar modules (modular web based systems).</a:t>
            </a:r>
          </a:p>
          <a:p>
            <a:pPr algn="l">
              <a:buNone/>
              <a:defRPr>
                <a:latin typeface="Aptos"/>
                <a:ea typeface="Aptos"/>
                <a:cs typeface="Aptos"/>
              </a:defRPr>
            </a:pPr>
            <a:r>
              <a:rPr sz="1400">
                <a:latin typeface="Aptos"/>
                <a:ea typeface="Aptos"/>
                <a:cs typeface="Aptos"/>
              </a:rPr>
              <a:t>Analyze which parts of a web-based software system are critical for non-functional properties such as security and efficiency. </a:t>
            </a:r>
            <a:endParaRPr sz="1400"/>
          </a:p>
        </p:txBody>
      </p:sp>
    </p:spTree>
    <p:extLst>
      <p:ext uri="{BB962C8B-B14F-4D97-AF65-F5344CB8AC3E}">
        <p14:creationId xmlns:p14="http://schemas.microsoft.com/office/powerpoint/2010/main" val="3886199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7CC77-D474-B6ED-3738-7DB5693FFF9E}"/>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Course description</a:t>
            </a:r>
          </a:p>
        </p:txBody>
      </p:sp>
      <p:sp>
        <p:nvSpPr>
          <p:cNvPr id="9" name="TextBox 8">
            <a:extLst>
              <a:ext uri="{FF2B5EF4-FFF2-40B4-BE49-F238E27FC236}">
                <a16:creationId xmlns:a16="http://schemas.microsoft.com/office/drawing/2014/main" id="{755BCCF3-6608-F6FF-9BCB-FD3550E0C9A0}"/>
              </a:ext>
            </a:extLst>
          </p:cNvPr>
          <p:cNvSpPr>
            <a:spLocks noGrp="1"/>
          </p:cNvSpPr>
          <p:nvPr/>
        </p:nvSpPr>
        <p:spPr>
          <a:xfrm>
            <a:off x="714142" y="1766676"/>
            <a:ext cx="11380321" cy="4726199"/>
          </a:xfrm>
          <a:prstGeom prst="rect">
            <a:avLst/>
          </a:prstGeom>
        </p:spPr>
        <p:txBody>
          <a:bodyPr vert="horz" lIns="91440" tIns="45720" rIns="91440" bIns="45720" anchor="ctr">
            <a:normAutofit/>
          </a:bodyPr>
          <a:lstStyle/>
          <a:p>
            <a:pPr marL="266700" indent="-152400" algn="l">
              <a:lnSpc>
                <a:spcPct val="108000"/>
              </a:lnSpc>
              <a:spcBef>
                <a:spcPts val="100"/>
              </a:spcBef>
              <a:spcAft>
                <a:spcPts val="5"/>
              </a:spcAft>
              <a:buFont typeface="Arial"/>
              <a:buChar char="•"/>
              <a:defRPr>
                <a:latin typeface="Aptos"/>
                <a:ea typeface="Aptos"/>
                <a:cs typeface="Aptos"/>
              </a:defRPr>
            </a:pPr>
            <a:r>
              <a:rPr sz="2000" b="1" spc="-10">
                <a:solidFill>
                  <a:schemeClr val="tx1"/>
                </a:solidFill>
                <a:latin typeface="Aptos"/>
                <a:ea typeface="Aptos"/>
                <a:cs typeface="Aptos"/>
              </a:rPr>
              <a:t>Content</a:t>
            </a:r>
            <a:endParaRPr sz="2000" b="1" kern="1200">
              <a:solidFill>
                <a:schemeClr val="tx1"/>
              </a:solidFill>
              <a:latin typeface="+mn-lt"/>
              <a:ea typeface="+mn-lt"/>
              <a:cs typeface="+mn-lt"/>
            </a:endParaRPr>
          </a:p>
          <a:p>
            <a:pPr marL="266700" marR="5080" indent="-152400" algn="l">
              <a:lnSpc>
                <a:spcPct val="108000"/>
              </a:lnSpc>
              <a:spcBef>
                <a:spcPts val="980"/>
              </a:spcBef>
              <a:spcAft>
                <a:spcPts val="5"/>
              </a:spcAft>
              <a:buFont typeface="Arial"/>
              <a:buChar char="•"/>
              <a:defRPr>
                <a:latin typeface="Aptos"/>
                <a:ea typeface="Aptos"/>
                <a:cs typeface="Aptos"/>
              </a:defRPr>
            </a:pPr>
            <a:r>
              <a:rPr sz="2000">
                <a:solidFill>
                  <a:schemeClr val="tx1"/>
                </a:solidFill>
                <a:latin typeface="Aptos"/>
                <a:ea typeface="Aptos"/>
                <a:cs typeface="Aptos"/>
              </a:rPr>
              <a:t>It</a:t>
            </a:r>
            <a:r>
              <a:rPr sz="2000" spc="5">
                <a:solidFill>
                  <a:schemeClr val="tx1"/>
                </a:solidFill>
                <a:latin typeface="Aptos"/>
                <a:ea typeface="Aptos"/>
                <a:cs typeface="Aptos"/>
              </a:rPr>
              <a:t> </a:t>
            </a:r>
            <a:r>
              <a:rPr sz="2000" spc="-55">
                <a:solidFill>
                  <a:schemeClr val="tx1"/>
                </a:solidFill>
                <a:latin typeface="Aptos"/>
                <a:ea typeface="Aptos"/>
                <a:cs typeface="Aptos"/>
              </a:rPr>
              <a:t>provides</a:t>
            </a:r>
            <a:r>
              <a:rPr sz="2000" spc="110">
                <a:solidFill>
                  <a:schemeClr val="tx1"/>
                </a:solidFill>
                <a:latin typeface="Aptos"/>
                <a:ea typeface="Aptos"/>
                <a:cs typeface="Aptos"/>
              </a:rPr>
              <a:t> </a:t>
            </a:r>
            <a:r>
              <a:rPr sz="2000" spc="-35">
                <a:solidFill>
                  <a:schemeClr val="tx1"/>
                </a:solidFill>
                <a:latin typeface="Aptos"/>
                <a:ea typeface="Aptos"/>
                <a:cs typeface="Aptos"/>
              </a:rPr>
              <a:t>both</a:t>
            </a:r>
            <a:r>
              <a:rPr sz="2000" spc="-50">
                <a:solidFill>
                  <a:schemeClr val="tx1"/>
                </a:solidFill>
                <a:latin typeface="Aptos"/>
                <a:ea typeface="Aptos"/>
                <a:cs typeface="Aptos"/>
              </a:rPr>
              <a:t> </a:t>
            </a:r>
            <a:r>
              <a:rPr sz="2000" spc="-25">
                <a:solidFill>
                  <a:schemeClr val="tx1"/>
                </a:solidFill>
                <a:latin typeface="Aptos"/>
                <a:ea typeface="Aptos"/>
                <a:cs typeface="Aptos"/>
              </a:rPr>
              <a:t>an</a:t>
            </a:r>
            <a:r>
              <a:rPr sz="2000" spc="75">
                <a:solidFill>
                  <a:schemeClr val="tx1"/>
                </a:solidFill>
                <a:latin typeface="Aptos"/>
                <a:ea typeface="Aptos"/>
                <a:cs typeface="Aptos"/>
              </a:rPr>
              <a:t> </a:t>
            </a:r>
            <a:r>
              <a:rPr sz="2000" spc="-50">
                <a:solidFill>
                  <a:schemeClr val="tx1"/>
                </a:solidFill>
                <a:latin typeface="Aptos"/>
                <a:ea typeface="Aptos"/>
                <a:cs typeface="Aptos"/>
              </a:rPr>
              <a:t>introduction</a:t>
            </a:r>
            <a:r>
              <a:rPr sz="2000" spc="-55">
                <a:solidFill>
                  <a:schemeClr val="tx1"/>
                </a:solidFill>
                <a:latin typeface="Aptos"/>
                <a:ea typeface="Aptos"/>
                <a:cs typeface="Aptos"/>
              </a:rPr>
              <a:t> </a:t>
            </a:r>
            <a:r>
              <a:rPr sz="2000">
                <a:solidFill>
                  <a:schemeClr val="tx1"/>
                </a:solidFill>
                <a:latin typeface="Aptos"/>
                <a:ea typeface="Aptos"/>
                <a:cs typeface="Aptos"/>
              </a:rPr>
              <a:t>to</a:t>
            </a:r>
            <a:r>
              <a:rPr sz="2000" spc="50">
                <a:solidFill>
                  <a:schemeClr val="tx1"/>
                </a:solidFill>
                <a:latin typeface="Aptos"/>
                <a:ea typeface="Aptos"/>
                <a:cs typeface="Aptos"/>
              </a:rPr>
              <a:t> </a:t>
            </a:r>
            <a:r>
              <a:rPr sz="2000">
                <a:solidFill>
                  <a:schemeClr val="tx1"/>
                </a:solidFill>
                <a:latin typeface="Aptos"/>
                <a:ea typeface="Aptos"/>
                <a:cs typeface="Aptos"/>
              </a:rPr>
              <a:t>web </a:t>
            </a:r>
            <a:r>
              <a:rPr sz="2000" spc="-60">
                <a:solidFill>
                  <a:schemeClr val="tx1"/>
                </a:solidFill>
                <a:latin typeface="Aptos"/>
                <a:ea typeface="Aptos"/>
                <a:cs typeface="Aptos"/>
              </a:rPr>
              <a:t>technology</a:t>
            </a:r>
            <a:r>
              <a:rPr sz="2000" spc="-35">
                <a:solidFill>
                  <a:schemeClr val="tx1"/>
                </a:solidFill>
                <a:latin typeface="Aptos"/>
                <a:ea typeface="Aptos"/>
                <a:cs typeface="Aptos"/>
              </a:rPr>
              <a:t> </a:t>
            </a:r>
            <a:r>
              <a:rPr sz="2000">
                <a:solidFill>
                  <a:schemeClr val="tx1"/>
                </a:solidFill>
                <a:latin typeface="Aptos"/>
                <a:ea typeface="Aptos"/>
                <a:cs typeface="Aptos"/>
              </a:rPr>
              <a:t>(HTTP,</a:t>
            </a:r>
            <a:r>
              <a:rPr sz="2000" spc="95">
                <a:solidFill>
                  <a:schemeClr val="tx1"/>
                </a:solidFill>
                <a:latin typeface="Aptos"/>
                <a:ea typeface="Aptos"/>
                <a:cs typeface="Aptos"/>
              </a:rPr>
              <a:t> </a:t>
            </a:r>
            <a:r>
              <a:rPr sz="2000">
                <a:solidFill>
                  <a:schemeClr val="tx1"/>
                </a:solidFill>
                <a:latin typeface="Aptos"/>
                <a:ea typeface="Aptos"/>
                <a:cs typeface="Aptos"/>
              </a:rPr>
              <a:t>HTML,</a:t>
            </a:r>
            <a:r>
              <a:rPr sz="2000" spc="25">
                <a:solidFill>
                  <a:schemeClr val="tx1"/>
                </a:solidFill>
                <a:latin typeface="Aptos"/>
                <a:ea typeface="Aptos"/>
                <a:cs typeface="Aptos"/>
              </a:rPr>
              <a:t> </a:t>
            </a:r>
            <a:r>
              <a:rPr sz="2000">
                <a:solidFill>
                  <a:schemeClr val="tx1"/>
                </a:solidFill>
                <a:latin typeface="Aptos"/>
                <a:ea typeface="Aptos"/>
                <a:cs typeface="Aptos"/>
              </a:rPr>
              <a:t>CSS,</a:t>
            </a:r>
            <a:r>
              <a:rPr sz="2000" spc="100">
                <a:solidFill>
                  <a:schemeClr val="tx1"/>
                </a:solidFill>
                <a:latin typeface="Aptos"/>
                <a:ea typeface="Aptos"/>
                <a:cs typeface="Aptos"/>
              </a:rPr>
              <a:t> </a:t>
            </a:r>
            <a:r>
              <a:rPr sz="2000" spc="-65">
                <a:solidFill>
                  <a:schemeClr val="tx1"/>
                </a:solidFill>
                <a:latin typeface="Aptos"/>
                <a:ea typeface="Aptos"/>
                <a:cs typeface="Aptos"/>
              </a:rPr>
              <a:t>and</a:t>
            </a:r>
            <a:r>
              <a:rPr sz="2000" spc="-5">
                <a:solidFill>
                  <a:schemeClr val="tx1"/>
                </a:solidFill>
                <a:latin typeface="Aptos"/>
                <a:ea typeface="Aptos"/>
                <a:cs typeface="Aptos"/>
              </a:rPr>
              <a:t> </a:t>
            </a:r>
            <a:r>
              <a:rPr sz="2000" spc="-50">
                <a:solidFill>
                  <a:schemeClr val="tx1"/>
                </a:solidFill>
                <a:latin typeface="Aptos"/>
                <a:ea typeface="Aptos"/>
                <a:cs typeface="Aptos"/>
              </a:rPr>
              <a:t>JavaScript) </a:t>
            </a:r>
            <a:r>
              <a:rPr sz="2000" spc="-45">
                <a:solidFill>
                  <a:schemeClr val="tx1"/>
                </a:solidFill>
                <a:latin typeface="Aptos"/>
                <a:ea typeface="Aptos"/>
                <a:cs typeface="Aptos"/>
              </a:rPr>
              <a:t>as</a:t>
            </a:r>
            <a:r>
              <a:rPr sz="2000" spc="-90">
                <a:solidFill>
                  <a:schemeClr val="tx1"/>
                </a:solidFill>
                <a:latin typeface="Aptos"/>
                <a:ea typeface="Aptos"/>
                <a:cs typeface="Aptos"/>
              </a:rPr>
              <a:t> </a:t>
            </a:r>
            <a:r>
              <a:rPr sz="2000" spc="-40">
                <a:solidFill>
                  <a:schemeClr val="tx1"/>
                </a:solidFill>
                <a:latin typeface="Aptos"/>
                <a:ea typeface="Aptos"/>
                <a:cs typeface="Aptos"/>
              </a:rPr>
              <a:t>well</a:t>
            </a:r>
            <a:r>
              <a:rPr sz="2000" spc="-95">
                <a:solidFill>
                  <a:schemeClr val="tx1"/>
                </a:solidFill>
                <a:latin typeface="Aptos"/>
                <a:ea typeface="Aptos"/>
                <a:cs typeface="Aptos"/>
              </a:rPr>
              <a:t> </a:t>
            </a:r>
            <a:r>
              <a:rPr sz="2000" spc="-20">
                <a:solidFill>
                  <a:schemeClr val="tx1"/>
                </a:solidFill>
                <a:latin typeface="Aptos"/>
                <a:ea typeface="Aptos"/>
                <a:cs typeface="Aptos"/>
              </a:rPr>
              <a:t>as</a:t>
            </a:r>
            <a:r>
              <a:rPr sz="2000" spc="-10">
                <a:solidFill>
                  <a:schemeClr val="tx1"/>
                </a:solidFill>
                <a:latin typeface="Aptos"/>
                <a:ea typeface="Aptos"/>
                <a:cs typeface="Aptos"/>
              </a:rPr>
              <a:t> </a:t>
            </a:r>
            <a:r>
              <a:rPr sz="2000" spc="-90">
                <a:solidFill>
                  <a:schemeClr val="tx1"/>
                </a:solidFill>
                <a:latin typeface="Aptos"/>
                <a:ea typeface="Aptos"/>
                <a:cs typeface="Aptos"/>
              </a:rPr>
              <a:t>skills</a:t>
            </a:r>
            <a:r>
              <a:rPr sz="2000" spc="-40">
                <a:solidFill>
                  <a:schemeClr val="tx1"/>
                </a:solidFill>
                <a:latin typeface="Aptos"/>
                <a:ea typeface="Aptos"/>
                <a:cs typeface="Aptos"/>
              </a:rPr>
              <a:t> </a:t>
            </a:r>
            <a:r>
              <a:rPr sz="2000">
                <a:solidFill>
                  <a:schemeClr val="tx1"/>
                </a:solidFill>
                <a:latin typeface="Aptos"/>
                <a:ea typeface="Aptos"/>
                <a:cs typeface="Aptos"/>
              </a:rPr>
              <a:t>in</a:t>
            </a:r>
            <a:r>
              <a:rPr sz="2000" spc="-85">
                <a:solidFill>
                  <a:schemeClr val="tx1"/>
                </a:solidFill>
                <a:latin typeface="Aptos"/>
                <a:ea typeface="Aptos"/>
                <a:cs typeface="Aptos"/>
              </a:rPr>
              <a:t> </a:t>
            </a:r>
            <a:r>
              <a:rPr sz="2000">
                <a:solidFill>
                  <a:schemeClr val="tx1"/>
                </a:solidFill>
                <a:latin typeface="Aptos"/>
                <a:ea typeface="Aptos"/>
                <a:cs typeface="Aptos"/>
              </a:rPr>
              <a:t>web</a:t>
            </a:r>
            <a:r>
              <a:rPr sz="2000" spc="-95">
                <a:solidFill>
                  <a:schemeClr val="tx1"/>
                </a:solidFill>
                <a:latin typeface="Aptos"/>
                <a:ea typeface="Aptos"/>
                <a:cs typeface="Aptos"/>
              </a:rPr>
              <a:t> </a:t>
            </a:r>
            <a:r>
              <a:rPr sz="2000" spc="-10">
                <a:solidFill>
                  <a:schemeClr val="tx1"/>
                </a:solidFill>
                <a:latin typeface="Aptos"/>
                <a:ea typeface="Aptos"/>
                <a:cs typeface="Aptos"/>
              </a:rPr>
              <a:t>servers.</a:t>
            </a:r>
            <a:endParaRPr sz="2000" kern="1200">
              <a:solidFill>
                <a:schemeClr val="tx1"/>
              </a:solidFill>
              <a:latin typeface="+mn-lt"/>
              <a:ea typeface="+mn-lt"/>
              <a:cs typeface="+mn-lt"/>
            </a:endParaRPr>
          </a:p>
          <a:p>
            <a:pPr indent="-228600" algn="l">
              <a:lnSpc>
                <a:spcPct val="90000"/>
              </a:lnSpc>
              <a:spcBef>
                <a:spcPts val="270"/>
              </a:spcBef>
              <a:buFont typeface="Arial"/>
              <a:buChar char="•"/>
              <a:defRPr>
                <a:latin typeface="Aptos"/>
                <a:ea typeface="Aptos"/>
                <a:cs typeface="Aptos"/>
              </a:defRPr>
            </a:pPr>
            <a:endParaRPr sz="2000" kern="1200">
              <a:solidFill>
                <a:schemeClr val="tx1"/>
              </a:solidFill>
              <a:latin typeface="+mn-lt"/>
              <a:ea typeface="+mn-lt"/>
              <a:cs typeface="+mn-lt"/>
            </a:endParaRPr>
          </a:p>
          <a:p>
            <a:pPr marL="266700" indent="-152400" algn="l">
              <a:lnSpc>
                <a:spcPct val="108000"/>
              </a:lnSpc>
              <a:spcAft>
                <a:spcPts val="5"/>
              </a:spcAft>
              <a:buFont typeface="Arial"/>
              <a:buChar char="•"/>
              <a:defRPr>
                <a:latin typeface="Aptos"/>
                <a:ea typeface="Aptos"/>
                <a:cs typeface="Aptos"/>
              </a:defRPr>
            </a:pPr>
            <a:r>
              <a:rPr sz="2000" b="1" spc="-50">
                <a:solidFill>
                  <a:schemeClr val="tx1"/>
                </a:solidFill>
                <a:latin typeface="Aptos"/>
                <a:ea typeface="Aptos"/>
                <a:cs typeface="Aptos"/>
              </a:rPr>
              <a:t>Learning</a:t>
            </a:r>
            <a:r>
              <a:rPr sz="2000" b="1" spc="55">
                <a:solidFill>
                  <a:schemeClr val="tx1"/>
                </a:solidFill>
                <a:latin typeface="Aptos"/>
                <a:ea typeface="Aptos"/>
                <a:cs typeface="Aptos"/>
              </a:rPr>
              <a:t> </a:t>
            </a:r>
            <a:r>
              <a:rPr sz="2000" b="1" spc="-70">
                <a:solidFill>
                  <a:schemeClr val="tx1"/>
                </a:solidFill>
                <a:latin typeface="Aptos"/>
                <a:ea typeface="Aptos"/>
                <a:cs typeface="Aptos"/>
              </a:rPr>
              <a:t>objectives</a:t>
            </a:r>
            <a:r>
              <a:rPr sz="2000" b="1" spc="-65">
                <a:solidFill>
                  <a:schemeClr val="tx1"/>
                </a:solidFill>
                <a:latin typeface="Aptos"/>
                <a:ea typeface="Aptos"/>
                <a:cs typeface="Aptos"/>
              </a:rPr>
              <a:t> </a:t>
            </a:r>
            <a:r>
              <a:rPr sz="2000" b="1">
                <a:solidFill>
                  <a:schemeClr val="tx1"/>
                </a:solidFill>
                <a:latin typeface="Aptos"/>
                <a:ea typeface="Aptos"/>
                <a:cs typeface="Aptos"/>
              </a:rPr>
              <a:t>-</a:t>
            </a:r>
            <a:r>
              <a:rPr sz="2000" b="1" spc="60">
                <a:solidFill>
                  <a:schemeClr val="tx1"/>
                </a:solidFill>
                <a:latin typeface="Aptos"/>
                <a:ea typeface="Aptos"/>
                <a:cs typeface="Aptos"/>
              </a:rPr>
              <a:t> </a:t>
            </a:r>
            <a:r>
              <a:rPr sz="2000" b="1" spc="-10">
                <a:solidFill>
                  <a:schemeClr val="tx1"/>
                </a:solidFill>
                <a:latin typeface="Aptos"/>
                <a:ea typeface="Aptos"/>
                <a:cs typeface="Aptos"/>
              </a:rPr>
              <a:t>Knowledge</a:t>
            </a:r>
            <a:endParaRPr sz="2000" b="1" kern="1200">
              <a:solidFill>
                <a:schemeClr val="tx1"/>
              </a:solidFill>
              <a:latin typeface="+mn-lt"/>
              <a:ea typeface="+mn-lt"/>
              <a:cs typeface="+mn-lt"/>
            </a:endParaRPr>
          </a:p>
          <a:p>
            <a:pPr marL="266700" indent="-152400" algn="l">
              <a:lnSpc>
                <a:spcPct val="108000"/>
              </a:lnSpc>
              <a:spcBef>
                <a:spcPts val="125"/>
              </a:spcBef>
              <a:spcAft>
                <a:spcPts val="5"/>
              </a:spcAft>
              <a:buFont typeface="Arial"/>
              <a:buChar char="•"/>
              <a:defRPr>
                <a:latin typeface="Aptos"/>
                <a:ea typeface="Aptos"/>
                <a:cs typeface="Aptos"/>
              </a:defRPr>
            </a:pPr>
            <a:r>
              <a:rPr sz="2000">
                <a:solidFill>
                  <a:schemeClr val="tx1"/>
                </a:solidFill>
                <a:latin typeface="Aptos"/>
                <a:ea typeface="Aptos"/>
                <a:cs typeface="Aptos"/>
              </a:rPr>
              <a:t>Web</a:t>
            </a:r>
            <a:r>
              <a:rPr sz="2000" spc="-95">
                <a:solidFill>
                  <a:schemeClr val="tx1"/>
                </a:solidFill>
                <a:latin typeface="Aptos"/>
                <a:ea typeface="Aptos"/>
                <a:cs typeface="Aptos"/>
              </a:rPr>
              <a:t> </a:t>
            </a:r>
            <a:r>
              <a:rPr sz="2000" spc="-85">
                <a:solidFill>
                  <a:schemeClr val="tx1"/>
                </a:solidFill>
                <a:latin typeface="Aptos"/>
                <a:ea typeface="Aptos"/>
                <a:cs typeface="Aptos"/>
              </a:rPr>
              <a:t>applications,</a:t>
            </a:r>
            <a:r>
              <a:rPr sz="2000" spc="60">
                <a:solidFill>
                  <a:schemeClr val="tx1"/>
                </a:solidFill>
                <a:latin typeface="Aptos"/>
                <a:ea typeface="Aptos"/>
                <a:cs typeface="Aptos"/>
              </a:rPr>
              <a:t> </a:t>
            </a:r>
            <a:r>
              <a:rPr sz="2000">
                <a:solidFill>
                  <a:schemeClr val="tx1"/>
                </a:solidFill>
                <a:latin typeface="Aptos"/>
                <a:ea typeface="Aptos"/>
                <a:cs typeface="Aptos"/>
              </a:rPr>
              <a:t>web</a:t>
            </a:r>
            <a:r>
              <a:rPr sz="2000" spc="-40">
                <a:solidFill>
                  <a:schemeClr val="tx1"/>
                </a:solidFill>
                <a:latin typeface="Aptos"/>
                <a:ea typeface="Aptos"/>
                <a:cs typeface="Aptos"/>
              </a:rPr>
              <a:t> </a:t>
            </a:r>
            <a:r>
              <a:rPr sz="2000" spc="-80">
                <a:solidFill>
                  <a:schemeClr val="tx1"/>
                </a:solidFill>
                <a:latin typeface="Aptos"/>
                <a:ea typeface="Aptos"/>
                <a:cs typeface="Aptos"/>
              </a:rPr>
              <a:t>interoperability</a:t>
            </a:r>
            <a:r>
              <a:rPr sz="2000" spc="-55">
                <a:solidFill>
                  <a:schemeClr val="tx1"/>
                </a:solidFill>
                <a:latin typeface="Aptos"/>
                <a:ea typeface="Aptos"/>
                <a:cs typeface="Aptos"/>
              </a:rPr>
              <a:t> </a:t>
            </a:r>
            <a:r>
              <a:rPr sz="2000" spc="-95">
                <a:solidFill>
                  <a:schemeClr val="tx1"/>
                </a:solidFill>
                <a:latin typeface="Aptos"/>
                <a:ea typeface="Aptos"/>
                <a:cs typeface="Aptos"/>
              </a:rPr>
              <a:t>standards,</a:t>
            </a:r>
            <a:r>
              <a:rPr sz="2000" spc="125">
                <a:solidFill>
                  <a:schemeClr val="tx1"/>
                </a:solidFill>
                <a:latin typeface="Aptos"/>
                <a:ea typeface="Aptos"/>
                <a:cs typeface="Aptos"/>
              </a:rPr>
              <a:t> </a:t>
            </a:r>
            <a:r>
              <a:rPr sz="2000" spc="-50">
                <a:solidFill>
                  <a:schemeClr val="tx1"/>
                </a:solidFill>
                <a:latin typeface="Aptos"/>
                <a:ea typeface="Aptos"/>
                <a:cs typeface="Aptos"/>
              </a:rPr>
              <a:t>best</a:t>
            </a:r>
            <a:r>
              <a:rPr sz="2000" spc="-30">
                <a:solidFill>
                  <a:schemeClr val="tx1"/>
                </a:solidFill>
                <a:latin typeface="Aptos"/>
                <a:ea typeface="Aptos"/>
                <a:cs typeface="Aptos"/>
              </a:rPr>
              <a:t> </a:t>
            </a:r>
            <a:r>
              <a:rPr sz="2000" spc="-55">
                <a:solidFill>
                  <a:schemeClr val="tx1"/>
                </a:solidFill>
                <a:latin typeface="Aptos"/>
                <a:ea typeface="Aptos"/>
                <a:cs typeface="Aptos"/>
              </a:rPr>
              <a:t>practices</a:t>
            </a:r>
            <a:r>
              <a:rPr sz="2000" spc="20">
                <a:solidFill>
                  <a:schemeClr val="tx1"/>
                </a:solidFill>
                <a:latin typeface="Aptos"/>
                <a:ea typeface="Aptos"/>
                <a:cs typeface="Aptos"/>
              </a:rPr>
              <a:t> </a:t>
            </a:r>
            <a:r>
              <a:rPr sz="2000" i="1" spc="-160">
                <a:solidFill>
                  <a:schemeClr val="tx1"/>
                </a:solidFill>
                <a:latin typeface="Aptos"/>
                <a:ea typeface="Aptos"/>
                <a:cs typeface="Aptos"/>
              </a:rPr>
              <a:t>within</a:t>
            </a:r>
            <a:r>
              <a:rPr sz="2000" i="1" spc="30">
                <a:solidFill>
                  <a:schemeClr val="tx1"/>
                </a:solidFill>
                <a:latin typeface="Aptos"/>
                <a:ea typeface="Aptos"/>
                <a:cs typeface="Aptos"/>
              </a:rPr>
              <a:t> </a:t>
            </a:r>
            <a:r>
              <a:rPr sz="2000" i="1" spc="-135">
                <a:solidFill>
                  <a:schemeClr val="tx1"/>
                </a:solidFill>
                <a:latin typeface="Aptos"/>
                <a:ea typeface="Aptos"/>
                <a:cs typeface="Aptos"/>
              </a:rPr>
              <a:t>web</a:t>
            </a:r>
            <a:r>
              <a:rPr sz="2000" i="1" spc="25">
                <a:solidFill>
                  <a:schemeClr val="tx1"/>
                </a:solidFill>
                <a:latin typeface="Aptos"/>
                <a:ea typeface="Aptos"/>
                <a:cs typeface="Aptos"/>
              </a:rPr>
              <a:t> </a:t>
            </a:r>
            <a:r>
              <a:rPr sz="2000" i="1" spc="-10">
                <a:solidFill>
                  <a:schemeClr val="tx1"/>
                </a:solidFill>
                <a:latin typeface="Aptos"/>
                <a:ea typeface="Aptos"/>
                <a:cs typeface="Aptos"/>
              </a:rPr>
              <a:t>security</a:t>
            </a:r>
            <a:endParaRPr sz="2000" kern="1200">
              <a:solidFill>
                <a:schemeClr val="tx1"/>
              </a:solidFill>
              <a:latin typeface="+mn-lt"/>
              <a:ea typeface="+mn-lt"/>
              <a:cs typeface="+mn-lt"/>
            </a:endParaRPr>
          </a:p>
          <a:p>
            <a:pPr indent="-228600" algn="l">
              <a:lnSpc>
                <a:spcPct val="90000"/>
              </a:lnSpc>
              <a:spcBef>
                <a:spcPts val="200"/>
              </a:spcBef>
              <a:buFont typeface="Arial"/>
              <a:buChar char="•"/>
              <a:defRPr>
                <a:latin typeface="Aptos"/>
                <a:ea typeface="Aptos"/>
                <a:cs typeface="Aptos"/>
              </a:defRPr>
            </a:pPr>
            <a:endParaRPr sz="2000" b="1" kern="1200">
              <a:solidFill>
                <a:schemeClr val="tx1"/>
              </a:solidFill>
              <a:latin typeface="+mn-lt"/>
              <a:ea typeface="+mn-lt"/>
              <a:cs typeface="+mn-lt"/>
            </a:endParaRPr>
          </a:p>
          <a:p>
            <a:pPr marL="266700" indent="-152400" algn="l">
              <a:lnSpc>
                <a:spcPct val="108000"/>
              </a:lnSpc>
              <a:spcAft>
                <a:spcPts val="5"/>
              </a:spcAft>
              <a:buFont typeface="Arial"/>
              <a:buChar char="•"/>
              <a:defRPr>
                <a:latin typeface="Aptos"/>
                <a:ea typeface="Aptos"/>
                <a:cs typeface="Aptos"/>
              </a:defRPr>
            </a:pPr>
            <a:r>
              <a:rPr sz="2000" b="1" spc="-50">
                <a:solidFill>
                  <a:schemeClr val="tx1"/>
                </a:solidFill>
                <a:latin typeface="Aptos"/>
                <a:ea typeface="Aptos"/>
                <a:cs typeface="Aptos"/>
              </a:rPr>
              <a:t>Learning</a:t>
            </a:r>
            <a:r>
              <a:rPr sz="2000" b="1" spc="35">
                <a:solidFill>
                  <a:schemeClr val="tx1"/>
                </a:solidFill>
                <a:latin typeface="Aptos"/>
                <a:ea typeface="Aptos"/>
                <a:cs typeface="Aptos"/>
              </a:rPr>
              <a:t> </a:t>
            </a:r>
            <a:r>
              <a:rPr sz="2000" b="1" spc="-65">
                <a:solidFill>
                  <a:schemeClr val="tx1"/>
                </a:solidFill>
                <a:latin typeface="Aptos"/>
                <a:ea typeface="Aptos"/>
                <a:cs typeface="Aptos"/>
              </a:rPr>
              <a:t>objectives</a:t>
            </a:r>
            <a:r>
              <a:rPr sz="2000" b="1" spc="-70">
                <a:solidFill>
                  <a:schemeClr val="tx1"/>
                </a:solidFill>
                <a:latin typeface="Aptos"/>
                <a:ea typeface="Aptos"/>
                <a:cs typeface="Aptos"/>
              </a:rPr>
              <a:t> </a:t>
            </a:r>
            <a:r>
              <a:rPr sz="2000" b="1">
                <a:solidFill>
                  <a:schemeClr val="tx1"/>
                </a:solidFill>
                <a:latin typeface="Aptos"/>
                <a:ea typeface="Aptos"/>
                <a:cs typeface="Aptos"/>
              </a:rPr>
              <a:t>-</a:t>
            </a:r>
            <a:r>
              <a:rPr sz="2000" b="1" spc="60">
                <a:solidFill>
                  <a:schemeClr val="tx1"/>
                </a:solidFill>
                <a:latin typeface="Aptos"/>
                <a:ea typeface="Aptos"/>
                <a:cs typeface="Aptos"/>
              </a:rPr>
              <a:t> </a:t>
            </a:r>
            <a:r>
              <a:rPr sz="2000" b="1" spc="-10">
                <a:solidFill>
                  <a:schemeClr val="tx1"/>
                </a:solidFill>
                <a:latin typeface="Aptos"/>
                <a:ea typeface="Aptos"/>
                <a:cs typeface="Aptos"/>
              </a:rPr>
              <a:t>Skills</a:t>
            </a:r>
            <a:endParaRPr sz="2000" b="1" kern="1200">
              <a:solidFill>
                <a:schemeClr val="tx1"/>
              </a:solidFill>
              <a:latin typeface="+mn-lt"/>
              <a:ea typeface="+mn-lt"/>
              <a:cs typeface="+mn-lt"/>
            </a:endParaRPr>
          </a:p>
          <a:p>
            <a:pPr marL="266700" indent="-152400" algn="l">
              <a:lnSpc>
                <a:spcPct val="108000"/>
              </a:lnSpc>
              <a:spcBef>
                <a:spcPts val="200"/>
              </a:spcBef>
              <a:spcAft>
                <a:spcPts val="5"/>
              </a:spcAft>
              <a:buFont typeface="Arial"/>
              <a:buChar char="•"/>
              <a:defRPr>
                <a:latin typeface="Aptos"/>
                <a:ea typeface="Aptos"/>
                <a:cs typeface="Aptos"/>
              </a:defRPr>
            </a:pPr>
            <a:r>
              <a:rPr sz="2000">
                <a:solidFill>
                  <a:schemeClr val="tx1"/>
                </a:solidFill>
                <a:latin typeface="Aptos"/>
                <a:ea typeface="Aptos"/>
                <a:cs typeface="Aptos"/>
              </a:rPr>
              <a:t>Develop</a:t>
            </a:r>
            <a:r>
              <a:rPr sz="2000" spc="-135">
                <a:solidFill>
                  <a:schemeClr val="tx1"/>
                </a:solidFill>
                <a:latin typeface="Aptos"/>
                <a:ea typeface="Aptos"/>
                <a:cs typeface="Aptos"/>
              </a:rPr>
              <a:t> </a:t>
            </a:r>
            <a:r>
              <a:rPr sz="2000" spc="-75">
                <a:solidFill>
                  <a:schemeClr val="tx1"/>
                </a:solidFill>
                <a:latin typeface="Aptos"/>
                <a:ea typeface="Aptos"/>
                <a:cs typeface="Aptos"/>
              </a:rPr>
              <a:t>architecture,</a:t>
            </a:r>
            <a:r>
              <a:rPr sz="2000" spc="-60">
                <a:solidFill>
                  <a:schemeClr val="tx1"/>
                </a:solidFill>
                <a:latin typeface="Aptos"/>
                <a:ea typeface="Aptos"/>
                <a:cs typeface="Aptos"/>
              </a:rPr>
              <a:t> </a:t>
            </a:r>
            <a:r>
              <a:rPr sz="2000" spc="-110">
                <a:solidFill>
                  <a:schemeClr val="tx1"/>
                </a:solidFill>
                <a:latin typeface="Aptos"/>
                <a:ea typeface="Aptos"/>
                <a:cs typeface="Aptos"/>
              </a:rPr>
              <a:t>design,</a:t>
            </a:r>
            <a:r>
              <a:rPr sz="2000" spc="-25">
                <a:solidFill>
                  <a:schemeClr val="tx1"/>
                </a:solidFill>
                <a:latin typeface="Aptos"/>
                <a:ea typeface="Aptos"/>
                <a:cs typeface="Aptos"/>
              </a:rPr>
              <a:t> </a:t>
            </a:r>
            <a:r>
              <a:rPr sz="2000" spc="-40">
                <a:solidFill>
                  <a:schemeClr val="tx1"/>
                </a:solidFill>
                <a:latin typeface="Aptos"/>
                <a:ea typeface="Aptos"/>
                <a:cs typeface="Aptos"/>
              </a:rPr>
              <a:t>and</a:t>
            </a:r>
            <a:r>
              <a:rPr sz="2000" spc="15">
                <a:solidFill>
                  <a:schemeClr val="tx1"/>
                </a:solidFill>
                <a:latin typeface="Aptos"/>
                <a:ea typeface="Aptos"/>
                <a:cs typeface="Aptos"/>
              </a:rPr>
              <a:t> </a:t>
            </a:r>
            <a:r>
              <a:rPr sz="2000" spc="-80">
                <a:solidFill>
                  <a:schemeClr val="tx1"/>
                </a:solidFill>
                <a:latin typeface="Aptos"/>
                <a:ea typeface="Aptos"/>
                <a:cs typeface="Aptos"/>
              </a:rPr>
              <a:t>implementation</a:t>
            </a:r>
            <a:r>
              <a:rPr sz="2000" spc="-75">
                <a:solidFill>
                  <a:schemeClr val="tx1"/>
                </a:solidFill>
                <a:latin typeface="Aptos"/>
                <a:ea typeface="Aptos"/>
                <a:cs typeface="Aptos"/>
              </a:rPr>
              <a:t> </a:t>
            </a:r>
            <a:r>
              <a:rPr sz="2000">
                <a:solidFill>
                  <a:schemeClr val="tx1"/>
                </a:solidFill>
                <a:latin typeface="Aptos"/>
                <a:ea typeface="Aptos"/>
                <a:cs typeface="Aptos"/>
              </a:rPr>
              <a:t>of</a:t>
            </a:r>
            <a:r>
              <a:rPr sz="2000" spc="-5">
                <a:solidFill>
                  <a:schemeClr val="tx1"/>
                </a:solidFill>
                <a:latin typeface="Aptos"/>
                <a:ea typeface="Aptos"/>
                <a:cs typeface="Aptos"/>
              </a:rPr>
              <a:t> </a:t>
            </a:r>
            <a:r>
              <a:rPr sz="2000">
                <a:solidFill>
                  <a:schemeClr val="tx1"/>
                </a:solidFill>
                <a:latin typeface="Aptos"/>
                <a:ea typeface="Aptos"/>
                <a:cs typeface="Aptos"/>
              </a:rPr>
              <a:t>a</a:t>
            </a:r>
            <a:r>
              <a:rPr sz="2000" spc="5">
                <a:solidFill>
                  <a:schemeClr val="tx1"/>
                </a:solidFill>
                <a:latin typeface="Aptos"/>
                <a:ea typeface="Aptos"/>
                <a:cs typeface="Aptos"/>
              </a:rPr>
              <a:t> </a:t>
            </a:r>
            <a:r>
              <a:rPr sz="2000" spc="-70">
                <a:solidFill>
                  <a:schemeClr val="tx1"/>
                </a:solidFill>
                <a:latin typeface="Aptos"/>
                <a:ea typeface="Aptos"/>
                <a:cs typeface="Aptos"/>
              </a:rPr>
              <a:t>distributed</a:t>
            </a:r>
            <a:r>
              <a:rPr sz="2000" spc="-65">
                <a:solidFill>
                  <a:schemeClr val="tx1"/>
                </a:solidFill>
                <a:latin typeface="Aptos"/>
                <a:ea typeface="Aptos"/>
                <a:cs typeface="Aptos"/>
              </a:rPr>
              <a:t> </a:t>
            </a:r>
            <a:r>
              <a:rPr sz="2000">
                <a:solidFill>
                  <a:schemeClr val="tx1"/>
                </a:solidFill>
                <a:latin typeface="Aptos"/>
                <a:ea typeface="Aptos"/>
                <a:cs typeface="Aptos"/>
              </a:rPr>
              <a:t>web</a:t>
            </a:r>
            <a:r>
              <a:rPr sz="2000" spc="-30">
                <a:solidFill>
                  <a:schemeClr val="tx1"/>
                </a:solidFill>
                <a:latin typeface="Aptos"/>
                <a:ea typeface="Aptos"/>
                <a:cs typeface="Aptos"/>
              </a:rPr>
              <a:t> </a:t>
            </a:r>
            <a:r>
              <a:rPr sz="2000" spc="-10">
                <a:solidFill>
                  <a:schemeClr val="tx1"/>
                </a:solidFill>
                <a:latin typeface="Aptos"/>
                <a:ea typeface="Aptos"/>
                <a:cs typeface="Aptos"/>
              </a:rPr>
              <a:t>application</a:t>
            </a:r>
            <a:endParaRPr sz="2000" kern="1200">
              <a:solidFill>
                <a:schemeClr val="tx1"/>
              </a:solidFill>
              <a:latin typeface="+mn-lt"/>
              <a:ea typeface="+mn-lt"/>
              <a:cs typeface="+mn-lt"/>
            </a:endParaRPr>
          </a:p>
          <a:p>
            <a:pPr indent="-228600" algn="l">
              <a:lnSpc>
                <a:spcPct val="90000"/>
              </a:lnSpc>
              <a:spcBef>
                <a:spcPts val="195"/>
              </a:spcBef>
              <a:buFont typeface="Arial"/>
              <a:buChar char="•"/>
              <a:defRPr>
                <a:latin typeface="Aptos"/>
                <a:ea typeface="Aptos"/>
                <a:cs typeface="Aptos"/>
              </a:defRPr>
            </a:pPr>
            <a:endParaRPr sz="2000" kern="1200">
              <a:solidFill>
                <a:schemeClr val="tx1"/>
              </a:solidFill>
              <a:latin typeface="+mn-lt"/>
              <a:ea typeface="+mn-lt"/>
              <a:cs typeface="+mn-lt"/>
            </a:endParaRPr>
          </a:p>
          <a:p>
            <a:pPr marL="266700" indent="-152400" algn="l">
              <a:lnSpc>
                <a:spcPct val="108000"/>
              </a:lnSpc>
              <a:spcAft>
                <a:spcPts val="5"/>
              </a:spcAft>
              <a:buFont typeface="Arial"/>
              <a:buChar char="•"/>
              <a:defRPr>
                <a:latin typeface="Aptos"/>
                <a:ea typeface="Aptos"/>
                <a:cs typeface="Aptos"/>
              </a:defRPr>
            </a:pPr>
            <a:r>
              <a:rPr sz="2000" b="1" spc="-50">
                <a:solidFill>
                  <a:schemeClr val="tx1"/>
                </a:solidFill>
                <a:latin typeface="Aptos"/>
                <a:ea typeface="Aptos"/>
                <a:cs typeface="Aptos"/>
              </a:rPr>
              <a:t>Learning</a:t>
            </a:r>
            <a:r>
              <a:rPr sz="2000" b="1" spc="35">
                <a:solidFill>
                  <a:schemeClr val="tx1"/>
                </a:solidFill>
                <a:latin typeface="Aptos"/>
                <a:ea typeface="Aptos"/>
                <a:cs typeface="Aptos"/>
              </a:rPr>
              <a:t> </a:t>
            </a:r>
            <a:r>
              <a:rPr sz="2000" b="1" spc="-65">
                <a:solidFill>
                  <a:schemeClr val="tx1"/>
                </a:solidFill>
                <a:latin typeface="Aptos"/>
                <a:ea typeface="Aptos"/>
                <a:cs typeface="Aptos"/>
              </a:rPr>
              <a:t>objectives</a:t>
            </a:r>
            <a:r>
              <a:rPr sz="2000" b="1" spc="-70">
                <a:solidFill>
                  <a:schemeClr val="tx1"/>
                </a:solidFill>
                <a:latin typeface="Aptos"/>
                <a:ea typeface="Aptos"/>
                <a:cs typeface="Aptos"/>
              </a:rPr>
              <a:t> </a:t>
            </a:r>
            <a:r>
              <a:rPr sz="2000" b="1">
                <a:solidFill>
                  <a:schemeClr val="tx1"/>
                </a:solidFill>
                <a:latin typeface="Aptos"/>
                <a:ea typeface="Aptos"/>
                <a:cs typeface="Aptos"/>
              </a:rPr>
              <a:t>-</a:t>
            </a:r>
            <a:r>
              <a:rPr sz="2000" b="1" spc="60">
                <a:solidFill>
                  <a:schemeClr val="tx1"/>
                </a:solidFill>
                <a:latin typeface="Aptos"/>
                <a:ea typeface="Aptos"/>
                <a:cs typeface="Aptos"/>
              </a:rPr>
              <a:t> </a:t>
            </a:r>
            <a:r>
              <a:rPr sz="2000" b="1" spc="-10">
                <a:solidFill>
                  <a:schemeClr val="tx1"/>
                </a:solidFill>
                <a:latin typeface="Aptos"/>
                <a:ea typeface="Aptos"/>
                <a:cs typeface="Aptos"/>
              </a:rPr>
              <a:t>Competences</a:t>
            </a:r>
            <a:endParaRPr sz="2000" b="1" kern="1200">
              <a:solidFill>
                <a:schemeClr val="tx1"/>
              </a:solidFill>
              <a:latin typeface="+mn-lt"/>
              <a:ea typeface="+mn-lt"/>
              <a:cs typeface="+mn-lt"/>
            </a:endParaRPr>
          </a:p>
          <a:p>
            <a:pPr marL="266700" indent="-152400" algn="l">
              <a:lnSpc>
                <a:spcPct val="108000"/>
              </a:lnSpc>
              <a:spcBef>
                <a:spcPts val="125"/>
              </a:spcBef>
              <a:spcAft>
                <a:spcPts val="5"/>
              </a:spcAft>
              <a:buFont typeface="Arial"/>
              <a:buChar char="•"/>
              <a:defRPr>
                <a:latin typeface="Aptos"/>
                <a:ea typeface="Aptos"/>
                <a:cs typeface="Aptos"/>
              </a:defRPr>
            </a:pPr>
            <a:r>
              <a:rPr sz="2000" spc="-10">
                <a:solidFill>
                  <a:schemeClr val="tx1"/>
                </a:solidFill>
                <a:latin typeface="Aptos"/>
                <a:ea typeface="Aptos"/>
                <a:cs typeface="Aptos"/>
              </a:rPr>
              <a:t>Design</a:t>
            </a:r>
            <a:r>
              <a:rPr sz="2000" spc="-135">
                <a:solidFill>
                  <a:schemeClr val="tx1"/>
                </a:solidFill>
                <a:latin typeface="Aptos"/>
                <a:ea typeface="Aptos"/>
                <a:cs typeface="Aptos"/>
              </a:rPr>
              <a:t> </a:t>
            </a:r>
            <a:r>
              <a:rPr sz="2000" spc="-65">
                <a:solidFill>
                  <a:schemeClr val="tx1"/>
                </a:solidFill>
                <a:latin typeface="Aptos"/>
                <a:ea typeface="Aptos"/>
                <a:cs typeface="Aptos"/>
              </a:rPr>
              <a:t>and</a:t>
            </a:r>
            <a:r>
              <a:rPr sz="2000" spc="-70">
                <a:solidFill>
                  <a:schemeClr val="tx1"/>
                </a:solidFill>
                <a:latin typeface="Aptos"/>
                <a:ea typeface="Aptos"/>
                <a:cs typeface="Aptos"/>
              </a:rPr>
              <a:t> implement</a:t>
            </a:r>
            <a:r>
              <a:rPr sz="2000" spc="-65">
                <a:solidFill>
                  <a:schemeClr val="tx1"/>
                </a:solidFill>
                <a:latin typeface="Aptos"/>
                <a:ea typeface="Aptos"/>
                <a:cs typeface="Aptos"/>
              </a:rPr>
              <a:t> </a:t>
            </a:r>
            <a:r>
              <a:rPr sz="2000" spc="-25">
                <a:solidFill>
                  <a:schemeClr val="tx1"/>
                </a:solidFill>
                <a:latin typeface="Aptos"/>
                <a:ea typeface="Aptos"/>
                <a:cs typeface="Aptos"/>
              </a:rPr>
              <a:t>an</a:t>
            </a:r>
            <a:r>
              <a:rPr sz="2000" spc="-20">
                <a:solidFill>
                  <a:schemeClr val="tx1"/>
                </a:solidFill>
                <a:latin typeface="Aptos"/>
                <a:ea typeface="Aptos"/>
                <a:cs typeface="Aptos"/>
              </a:rPr>
              <a:t> </a:t>
            </a:r>
            <a:r>
              <a:rPr sz="2000" spc="-80">
                <a:solidFill>
                  <a:schemeClr val="tx1"/>
                </a:solidFill>
                <a:latin typeface="Aptos"/>
                <a:ea typeface="Aptos"/>
                <a:cs typeface="Aptos"/>
              </a:rPr>
              <a:t>efficient</a:t>
            </a:r>
            <a:r>
              <a:rPr sz="2000" spc="-50">
                <a:solidFill>
                  <a:schemeClr val="tx1"/>
                </a:solidFill>
                <a:latin typeface="Aptos"/>
                <a:ea typeface="Aptos"/>
                <a:cs typeface="Aptos"/>
              </a:rPr>
              <a:t> </a:t>
            </a:r>
            <a:r>
              <a:rPr sz="2000" spc="-65">
                <a:solidFill>
                  <a:schemeClr val="tx1"/>
                </a:solidFill>
                <a:latin typeface="Aptos"/>
                <a:ea typeface="Aptos"/>
                <a:cs typeface="Aptos"/>
              </a:rPr>
              <a:t>and</a:t>
            </a:r>
            <a:r>
              <a:rPr sz="2000" spc="-70">
                <a:solidFill>
                  <a:schemeClr val="tx1"/>
                </a:solidFill>
                <a:latin typeface="Aptos"/>
                <a:ea typeface="Aptos"/>
                <a:cs typeface="Aptos"/>
              </a:rPr>
              <a:t> </a:t>
            </a:r>
            <a:r>
              <a:rPr sz="2000" spc="-90">
                <a:solidFill>
                  <a:schemeClr val="tx1"/>
                </a:solidFill>
                <a:latin typeface="Aptos"/>
                <a:ea typeface="Aptos"/>
                <a:cs typeface="Aptos"/>
              </a:rPr>
              <a:t>scalable</a:t>
            </a:r>
            <a:r>
              <a:rPr sz="2000" spc="-15">
                <a:solidFill>
                  <a:schemeClr val="tx1"/>
                </a:solidFill>
                <a:latin typeface="Aptos"/>
                <a:ea typeface="Aptos"/>
                <a:cs typeface="Aptos"/>
              </a:rPr>
              <a:t> </a:t>
            </a:r>
            <a:r>
              <a:rPr sz="2000" spc="-35">
                <a:solidFill>
                  <a:schemeClr val="tx1"/>
                </a:solidFill>
                <a:latin typeface="Aptos"/>
                <a:ea typeface="Aptos"/>
                <a:cs typeface="Aptos"/>
              </a:rPr>
              <a:t>web-</a:t>
            </a:r>
            <a:r>
              <a:rPr sz="2000" spc="-85">
                <a:solidFill>
                  <a:schemeClr val="tx1"/>
                </a:solidFill>
                <a:latin typeface="Aptos"/>
                <a:ea typeface="Aptos"/>
                <a:cs typeface="Aptos"/>
              </a:rPr>
              <a:t>based</a:t>
            </a:r>
            <a:r>
              <a:rPr sz="2000" spc="-45">
                <a:solidFill>
                  <a:schemeClr val="tx1"/>
                </a:solidFill>
                <a:latin typeface="Aptos"/>
                <a:ea typeface="Aptos"/>
                <a:cs typeface="Aptos"/>
              </a:rPr>
              <a:t> </a:t>
            </a:r>
            <a:r>
              <a:rPr sz="2000" spc="-10">
                <a:solidFill>
                  <a:schemeClr val="tx1"/>
                </a:solidFill>
                <a:latin typeface="Aptos"/>
                <a:ea typeface="Aptos"/>
                <a:cs typeface="Aptos"/>
              </a:rPr>
              <a:t>system</a:t>
            </a:r>
            <a:endParaRPr sz="2000" kern="1200">
              <a:solidFill>
                <a:schemeClr val="tx1"/>
              </a:solidFill>
              <a:latin typeface="+mn-lt"/>
              <a:ea typeface="+mn-lt"/>
              <a:cs typeface="+mn-lt"/>
            </a:endParaRPr>
          </a:p>
        </p:txBody>
      </p:sp>
    </p:spTree>
    <p:extLst>
      <p:ext uri="{BB962C8B-B14F-4D97-AF65-F5344CB8AC3E}">
        <p14:creationId xmlns:p14="http://schemas.microsoft.com/office/powerpoint/2010/main" val="349917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68431-8834-E2CC-C8ED-063A5ED4BF47}"/>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Preliminary Plan</a:t>
            </a:r>
          </a:p>
        </p:txBody>
      </p:sp>
      <p:sp>
        <p:nvSpPr>
          <p:cNvPr id="4" name="TextBox 3">
            <a:extLst>
              <a:ext uri="{FF2B5EF4-FFF2-40B4-BE49-F238E27FC236}">
                <a16:creationId xmlns:a16="http://schemas.microsoft.com/office/drawing/2014/main" id="{A62E6277-C7BC-3801-8B1B-B88BFA4E1F9A}"/>
              </a:ext>
            </a:extLst>
          </p:cNvPr>
          <p:cNvSpPr>
            <a:spLocks noGrp="1"/>
          </p:cNvSpPr>
          <p:nvPr/>
        </p:nvSpPr>
        <p:spPr>
          <a:xfrm>
            <a:off x="838200" y="1825625"/>
            <a:ext cx="6096000" cy="830997"/>
          </a:xfrm>
          <a:prstGeom prst="rect">
            <a:avLst/>
          </a:prstGeom>
          <a:noFill/>
        </p:spPr>
        <p:txBody>
          <a:bodyPr wrap="square">
            <a:spAutoFit/>
          </a:bodyPr>
          <a:lstStyle/>
          <a:p>
            <a:pPr algn="l">
              <a:buNone/>
              <a:defRPr>
                <a:latin typeface="Aptos"/>
                <a:ea typeface="Aptos"/>
                <a:cs typeface="Aptos"/>
              </a:defRPr>
            </a:pPr>
            <a:r>
              <a:rPr sz="2400">
                <a:latin typeface="Aptos"/>
                <a:ea typeface="Aptos"/>
                <a:cs typeface="Aptos"/>
              </a:rPr>
              <a:t>In itslearning </a:t>
            </a:r>
          </a:p>
          <a:p>
            <a:pPr algn="l">
              <a:buNone/>
              <a:defRPr>
                <a:latin typeface="Aptos"/>
                <a:ea typeface="Aptos"/>
                <a:cs typeface="Aptos"/>
              </a:defRPr>
            </a:pPr>
            <a:r>
              <a:rPr sz="2400">
                <a:latin typeface="Aptos"/>
                <a:ea typeface="Aptos"/>
                <a:cs typeface="Aptos"/>
              </a:rPr>
              <a:t>Preliminary: It can (will) change </a:t>
            </a:r>
          </a:p>
        </p:txBody>
      </p:sp>
      <p:pic>
        <p:nvPicPr>
          <p:cNvPr id="17" name="Picture 5"/>
          <p:cNvPicPr>
            <a:picLocks noChangeAspect="1"/>
          </p:cNvPicPr>
          <p:nvPr/>
        </p:nvPicPr>
        <p:blipFill>
          <a:blip r:embed="rId3"/>
          <a:stretch>
            <a:fillRect/>
          </a:stretch>
        </p:blipFill>
        <p:spPr>
          <a:xfrm>
            <a:off x="5872858" y="681037"/>
            <a:ext cx="5054860" cy="5321573"/>
          </a:xfrm>
          <a:prstGeom prst="rect">
            <a:avLst/>
          </a:prstGeom>
        </p:spPr>
      </p:pic>
      <p:pic>
        <p:nvPicPr>
          <p:cNvPr id="18" name="Picture 9"/>
          <p:cNvPicPr>
            <a:picLocks noChangeAspect="1"/>
          </p:cNvPicPr>
          <p:nvPr/>
        </p:nvPicPr>
        <p:blipFill>
          <a:blip r:embed="rId4"/>
          <a:stretch>
            <a:fillRect/>
          </a:stretch>
        </p:blipFill>
        <p:spPr>
          <a:xfrm>
            <a:off x="9532586" y="4646534"/>
            <a:ext cx="1295467" cy="1530429"/>
          </a:xfrm>
          <a:prstGeom prst="rect">
            <a:avLst/>
          </a:prstGeom>
        </p:spPr>
      </p:pic>
      <p:sp>
        <p:nvSpPr>
          <p:cNvPr id="12" name="object 3">
            <a:extLst>
              <a:ext uri="{FF2B5EF4-FFF2-40B4-BE49-F238E27FC236}">
                <a16:creationId xmlns:a16="http://schemas.microsoft.com/office/drawing/2014/main" id="{90C6086C-F553-FD8F-B798-DD148BA1A9A9}"/>
              </a:ext>
            </a:extLst>
          </p:cNvPr>
          <p:cNvSpPr>
            <a:spLocks noGrp="1"/>
          </p:cNvSpPr>
          <p:nvPr/>
        </p:nvSpPr>
        <p:spPr>
          <a:xfrm>
            <a:off x="515239" y="6226776"/>
            <a:ext cx="8250809" cy="532197"/>
          </a:xfrm>
          <a:prstGeom prst="rect">
            <a:avLst/>
          </a:prstGeom>
        </p:spPr>
        <p:txBody>
          <a:bodyPr vert="horz" wrap="square" lIns="0" tIns="107950" rIns="0" bIns="0">
            <a:spAutoFit/>
          </a:bodyPr>
          <a:lstStyle/>
          <a:p>
            <a:pPr marL="12700" algn="l">
              <a:lnSpc>
                <a:spcPct val="100000"/>
              </a:lnSpc>
              <a:spcBef>
                <a:spcPts val="755"/>
              </a:spcBef>
              <a:buNone/>
              <a:defRPr>
                <a:latin typeface="Aptos"/>
                <a:ea typeface="Aptos"/>
                <a:cs typeface="Aptos"/>
              </a:defRPr>
            </a:pPr>
            <a:r>
              <a:rPr sz="2750" i="1" spc="-90">
                <a:solidFill>
                  <a:srgbClr val="FF0000"/>
                </a:solidFill>
                <a:latin typeface="Aptos"/>
                <a:ea typeface="Aptos"/>
                <a:cs typeface="Aptos"/>
              </a:rPr>
              <a:t>Recomendation: Look every week for any updates</a:t>
            </a:r>
            <a:endParaRPr sz="2750" i="1">
              <a:solidFill>
                <a:srgbClr val="FF0000"/>
              </a:solidFill>
              <a:latin typeface="Calibri"/>
              <a:ea typeface="Calibri"/>
              <a:cs typeface="Calibri"/>
            </a:endParaRPr>
          </a:p>
        </p:txBody>
      </p:sp>
    </p:spTree>
    <p:extLst>
      <p:ext uri="{BB962C8B-B14F-4D97-AF65-F5344CB8AC3E}">
        <p14:creationId xmlns:p14="http://schemas.microsoft.com/office/powerpoint/2010/main" val="164132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76DA6-D858-5BC4-0F0B-7E3EFD24603F}"/>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Classes</a:t>
            </a:r>
          </a:p>
        </p:txBody>
      </p:sp>
      <p:sp>
        <p:nvSpPr>
          <p:cNvPr id="4" name="TextBox 3">
            <a:extLst>
              <a:ext uri="{FF2B5EF4-FFF2-40B4-BE49-F238E27FC236}">
                <a16:creationId xmlns:a16="http://schemas.microsoft.com/office/drawing/2014/main" id="{EF78A07D-B5D7-C336-73F7-CC49115E5E0A}"/>
              </a:ext>
            </a:extLst>
          </p:cNvPr>
          <p:cNvSpPr>
            <a:spLocks noGrp="1"/>
          </p:cNvSpPr>
          <p:nvPr/>
        </p:nvSpPr>
        <p:spPr>
          <a:xfrm>
            <a:off x="838200" y="1825625"/>
            <a:ext cx="7171944" cy="461665"/>
          </a:xfrm>
          <a:prstGeom prst="rect">
            <a:avLst/>
          </a:prstGeom>
          <a:noFill/>
        </p:spPr>
        <p:txBody>
          <a:bodyPr wrap="square">
            <a:spAutoFit/>
          </a:bodyPr>
          <a:lstStyle/>
          <a:p>
            <a:pPr algn="l">
              <a:buNone/>
              <a:defRPr>
                <a:latin typeface="Aptos"/>
                <a:ea typeface="Aptos"/>
                <a:cs typeface="Aptos"/>
              </a:defRPr>
            </a:pPr>
            <a:r>
              <a:rPr sz="2400">
                <a:latin typeface="Aptos"/>
                <a:ea typeface="Aptos"/>
                <a:cs typeface="Aptos"/>
              </a:rPr>
              <a:t>Web: itslearning, discord, and course webpage</a:t>
            </a:r>
          </a:p>
        </p:txBody>
      </p:sp>
      <p:pic>
        <p:nvPicPr>
          <p:cNvPr id="18" name="Picture 9"/>
          <p:cNvPicPr>
            <a:picLocks noChangeAspect="1"/>
          </p:cNvPicPr>
          <p:nvPr/>
        </p:nvPicPr>
        <p:blipFill>
          <a:blip r:embed="rId3"/>
          <a:stretch>
            <a:fillRect/>
          </a:stretch>
        </p:blipFill>
        <p:spPr>
          <a:xfrm>
            <a:off x="10058333" y="4330874"/>
            <a:ext cx="1295467" cy="1530429"/>
          </a:xfrm>
          <a:prstGeom prst="rect">
            <a:avLst/>
          </a:prstGeom>
        </p:spPr>
      </p:pic>
      <p:sp>
        <p:nvSpPr>
          <p:cNvPr id="12" name="object 3">
            <a:extLst>
              <a:ext uri="{FF2B5EF4-FFF2-40B4-BE49-F238E27FC236}">
                <a16:creationId xmlns:a16="http://schemas.microsoft.com/office/drawing/2014/main" id="{E409B0E5-1EFE-9D95-A38B-431A7266BB2E}"/>
              </a:ext>
            </a:extLst>
          </p:cNvPr>
          <p:cNvSpPr>
            <a:spLocks noGrp="1"/>
          </p:cNvSpPr>
          <p:nvPr/>
        </p:nvSpPr>
        <p:spPr>
          <a:xfrm>
            <a:off x="515239" y="6226776"/>
            <a:ext cx="9908921" cy="539891"/>
          </a:xfrm>
          <a:prstGeom prst="rect">
            <a:avLst/>
          </a:prstGeom>
        </p:spPr>
        <p:txBody>
          <a:bodyPr vert="horz" wrap="square" lIns="0" tIns="107950" rIns="0" bIns="0">
            <a:spAutoFit/>
          </a:bodyPr>
          <a:lstStyle/>
          <a:p>
            <a:pPr marL="12700" algn="l">
              <a:lnSpc>
                <a:spcPct val="100000"/>
              </a:lnSpc>
              <a:spcBef>
                <a:spcPts val="755"/>
              </a:spcBef>
              <a:buNone/>
              <a:defRPr>
                <a:latin typeface="Aptos"/>
                <a:ea typeface="Aptos"/>
                <a:cs typeface="Aptos"/>
              </a:defRPr>
            </a:pPr>
            <a:r>
              <a:rPr sz="2800">
                <a:latin typeface="Aptos"/>
                <a:ea typeface="Aptos"/>
                <a:cs typeface="Aptos"/>
              </a:rPr>
              <a:t>Supervision: in class and online (discord, itslearning, mail) </a:t>
            </a:r>
            <a:endParaRPr sz="2750" i="1">
              <a:solidFill>
                <a:srgbClr val="FF0000"/>
              </a:solidFill>
              <a:latin typeface="Calibri"/>
              <a:ea typeface="Calibri"/>
              <a:cs typeface="Calibri"/>
            </a:endParaRPr>
          </a:p>
        </p:txBody>
      </p:sp>
      <p:sp>
        <p:nvSpPr>
          <p:cNvPr id="5" name="TextBox 4">
            <a:extLst>
              <a:ext uri="{FF2B5EF4-FFF2-40B4-BE49-F238E27FC236}">
                <a16:creationId xmlns:a16="http://schemas.microsoft.com/office/drawing/2014/main" id="{B08990C9-FC30-DF7A-C073-2D5942BFB856}"/>
              </a:ext>
            </a:extLst>
          </p:cNvPr>
          <p:cNvSpPr>
            <a:spLocks noGrp="1"/>
          </p:cNvSpPr>
          <p:nvPr/>
        </p:nvSpPr>
        <p:spPr>
          <a:xfrm>
            <a:off x="7182738" y="1690688"/>
            <a:ext cx="4648200" cy="923330"/>
          </a:xfrm>
          <a:prstGeom prst="rect">
            <a:avLst/>
          </a:prstGeom>
          <a:solidFill>
            <a:schemeClr val="bg1">
              <a:lumMod val="75000"/>
            </a:schemeClr>
          </a:solidFill>
        </p:spPr>
        <p:txBody>
          <a:bodyPr wrap="square">
            <a:spAutoFit/>
          </a:bodyPr>
          <a:lstStyle/>
          <a:p>
            <a:pPr>
              <a:buNone/>
              <a:defRPr>
                <a:latin typeface="Aptos"/>
                <a:ea typeface="Aptos"/>
                <a:cs typeface="Aptos"/>
              </a:defRPr>
            </a:pPr>
            <a:r>
              <a:t>Lecture: 12:30-14:30</a:t>
            </a:r>
          </a:p>
          <a:p>
            <a:pPr>
              <a:buNone/>
              <a:defRPr>
                <a:latin typeface="Aptos"/>
                <a:ea typeface="Aptos"/>
                <a:cs typeface="Aptos"/>
              </a:defRPr>
            </a:pPr>
            <a:endParaRPr/>
          </a:p>
          <a:p>
            <a:pPr>
              <a:buNone/>
              <a:defRPr>
                <a:latin typeface="Aptos"/>
                <a:ea typeface="Aptos"/>
                <a:cs typeface="Aptos"/>
              </a:defRPr>
            </a:pPr>
            <a:r>
              <a:t>Exercise Session: 14:30-16:30</a:t>
            </a:r>
          </a:p>
        </p:txBody>
      </p:sp>
      <p:sp>
        <p:nvSpPr>
          <p:cNvPr id="8" name="TextBox 7">
            <a:extLst>
              <a:ext uri="{FF2B5EF4-FFF2-40B4-BE49-F238E27FC236}">
                <a16:creationId xmlns:a16="http://schemas.microsoft.com/office/drawing/2014/main" id="{3AA54B61-8403-DD15-7D43-3DF46E1311FC}"/>
              </a:ext>
            </a:extLst>
          </p:cNvPr>
          <p:cNvSpPr>
            <a:spLocks noGrp="1"/>
          </p:cNvSpPr>
          <p:nvPr/>
        </p:nvSpPr>
        <p:spPr>
          <a:xfrm>
            <a:off x="838200" y="3608832"/>
            <a:ext cx="7318248" cy="1569660"/>
          </a:xfrm>
          <a:prstGeom prst="rect">
            <a:avLst/>
          </a:prstGeom>
          <a:noFill/>
        </p:spPr>
        <p:txBody>
          <a:bodyPr wrap="square">
            <a:spAutoFit/>
          </a:bodyPr>
          <a:lstStyle/>
          <a:p>
            <a:pPr algn="l">
              <a:buNone/>
              <a:defRPr>
                <a:latin typeface="Aptos"/>
                <a:ea typeface="Aptos"/>
                <a:cs typeface="Aptos"/>
              </a:defRPr>
            </a:pPr>
            <a:r>
              <a:rPr sz="2400">
                <a:latin typeface="Aptos"/>
                <a:ea typeface="Aptos"/>
                <a:cs typeface="Aptos"/>
              </a:rPr>
              <a:t>Lectures</a:t>
            </a:r>
            <a:endParaRPr sz="2400"/>
          </a:p>
          <a:p>
            <a:pPr algn="l">
              <a:buNone/>
              <a:defRPr>
                <a:latin typeface="Aptos"/>
                <a:ea typeface="Aptos"/>
                <a:cs typeface="Aptos"/>
              </a:defRPr>
            </a:pPr>
            <a:r>
              <a:rPr sz="2400">
                <a:latin typeface="Aptos"/>
                <a:ea typeface="Aptos"/>
                <a:cs typeface="Aptos"/>
              </a:rPr>
              <a:t>	Wednesday from 12.30  to 14.30 (ish)</a:t>
            </a:r>
          </a:p>
          <a:p>
            <a:pPr algn="l">
              <a:buNone/>
              <a:defRPr>
                <a:latin typeface="Aptos"/>
                <a:ea typeface="Aptos"/>
                <a:cs typeface="Aptos"/>
              </a:defRPr>
            </a:pPr>
            <a:r>
              <a:rPr sz="2400">
                <a:latin typeface="Aptos"/>
                <a:ea typeface="Aptos"/>
                <a:cs typeface="Aptos"/>
              </a:rPr>
              <a:t>	Exercises from 14:30 to 16:30 PM </a:t>
            </a:r>
          </a:p>
          <a:p>
            <a:pPr algn="l">
              <a:buNone/>
              <a:defRPr>
                <a:latin typeface="Aptos"/>
                <a:ea typeface="Aptos"/>
                <a:cs typeface="Aptos"/>
              </a:defRPr>
            </a:pPr>
            <a:r>
              <a:rPr sz="2400">
                <a:latin typeface="Aptos"/>
                <a:ea typeface="Aptos"/>
                <a:cs typeface="Aptos"/>
              </a:rPr>
              <a:t>	Exercises: Work in assignments / exam</a:t>
            </a:r>
            <a:endParaRPr sz="2400"/>
          </a:p>
        </p:txBody>
      </p:sp>
      <p:pic>
        <p:nvPicPr>
          <p:cNvPr id="22" name="Picture 12"/>
          <p:cNvPicPr>
            <a:picLocks noChangeAspect="1"/>
          </p:cNvPicPr>
          <p:nvPr/>
        </p:nvPicPr>
        <p:blipFill>
          <a:blip r:embed="rId4"/>
          <a:stretch>
            <a:fillRect/>
          </a:stretch>
        </p:blipFill>
        <p:spPr>
          <a:xfrm>
            <a:off x="10120786" y="3537669"/>
            <a:ext cx="1203848" cy="1180796"/>
          </a:xfrm>
          <a:prstGeom prst="rect">
            <a:avLst/>
          </a:prstGeom>
        </p:spPr>
      </p:pic>
      <p:pic>
        <p:nvPicPr>
          <p:cNvPr id="23" name="Picture 8"/>
          <p:cNvPicPr>
            <a:picLocks noChangeAspect="1"/>
          </p:cNvPicPr>
          <p:nvPr/>
        </p:nvPicPr>
        <p:blipFill>
          <a:blip r:embed="rId5"/>
          <a:stretch>
            <a:fillRect/>
          </a:stretch>
        </p:blipFill>
        <p:spPr>
          <a:xfrm>
            <a:off x="9076486" y="3772734"/>
            <a:ext cx="1134324" cy="1298448"/>
          </a:xfrm>
          <a:prstGeom prst="rect">
            <a:avLst/>
          </a:prstGeom>
        </p:spPr>
      </p:pic>
    </p:spTree>
    <p:extLst>
      <p:ext uri="{BB962C8B-B14F-4D97-AF65-F5344CB8AC3E}">
        <p14:creationId xmlns:p14="http://schemas.microsoft.com/office/powerpoint/2010/main" val="1870096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 name="Rectangle 226">
            <a:extLst>
              <a:ext uri="{FF2B5EF4-FFF2-40B4-BE49-F238E27FC236}">
                <a16:creationId xmlns:a16="http://schemas.microsoft.com/office/drawing/2014/main" id="{17641062-46FE-5C6D-885F-750685E2DB04}"/>
              </a:ext>
            </a:extLst>
          </p:cNvPr>
          <p:cNvSpPr>
            <a:spLocks noGrp="1"/>
          </p:cNvSpPr>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2" name="Title 1">
            <a:extLst>
              <a:ext uri="{FF2B5EF4-FFF2-40B4-BE49-F238E27FC236}">
                <a16:creationId xmlns:a16="http://schemas.microsoft.com/office/drawing/2014/main" id="{BE0DB273-7F2D-A475-1CC2-5941BF66507E}"/>
              </a:ext>
            </a:extLst>
          </p:cNvPr>
          <p:cNvSpPr>
            <a:spLocks noGrp="1"/>
          </p:cNvSpPr>
          <p:nvPr>
            <p:ph type="title"/>
          </p:nvPr>
        </p:nvSpPr>
        <p:spPr>
          <a:xfrm>
            <a:off x="1215865" y="2159059"/>
            <a:ext cx="9302496" cy="2193482"/>
          </a:xfrm>
        </p:spPr>
        <p:txBody>
          <a:bodyPr vert="horz" lIns="91440" tIns="45720" rIns="91440" bIns="45720" anchor="ctr">
            <a:normAutofit/>
          </a:bodyPr>
          <a:lstStyle/>
          <a:p>
            <a:pPr algn="ctr">
              <a:buNone/>
              <a:defRPr>
                <a:latin typeface="Aptos Display"/>
                <a:ea typeface="Aptos Display"/>
                <a:cs typeface="Aptos Display"/>
              </a:defRPr>
            </a:pPr>
            <a:r>
              <a:rPr sz="8800">
                <a:solidFill>
                  <a:schemeClr val="bg1"/>
                </a:solidFill>
                <a:latin typeface="Aptos Display"/>
                <a:ea typeface="Aptos Display"/>
                <a:cs typeface="Aptos Display"/>
              </a:rPr>
              <a:t>What is this course</a:t>
            </a:r>
          </a:p>
        </p:txBody>
      </p:sp>
      <p:sp>
        <p:nvSpPr>
          <p:cNvPr id="228" name="Rectangle 227">
            <a:extLst>
              <a:ext uri="{FF2B5EF4-FFF2-40B4-BE49-F238E27FC236}">
                <a16:creationId xmlns:a16="http://schemas.microsoft.com/office/drawing/2014/main" id="{7CA6D6C9-6F52-CEFA-CBA1-7F5BD9A9880D}"/>
              </a:ext>
            </a:extLst>
          </p:cNvPr>
          <p:cNvSpPr>
            <a:spLocks noGrp="1"/>
          </p:cNvSpPr>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9" name="Straight Connector 228">
            <a:extLst>
              <a:ext uri="{FF2B5EF4-FFF2-40B4-BE49-F238E27FC236}">
                <a16:creationId xmlns:a16="http://schemas.microsoft.com/office/drawing/2014/main" id="{42441C3A-E45F-4DFE-9BCC-016460D28E92}"/>
              </a:ext>
            </a:extLst>
          </p:cNvPr>
          <p:cNvSpPr>
            <a:spLocks noGrp="1"/>
          </p:cNvSpPr>
          <p:nvPr/>
        </p:nv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
        <p:nvSpPr>
          <p:cNvPr id="230" name="Straight Connector 229">
            <a:extLst>
              <a:ext uri="{FF2B5EF4-FFF2-40B4-BE49-F238E27FC236}">
                <a16:creationId xmlns:a16="http://schemas.microsoft.com/office/drawing/2014/main" id="{71F19F74-C6D8-4DFA-B5AA-E8F5DFD9F73F}"/>
              </a:ext>
            </a:extLst>
          </p:cNvPr>
          <p:cNvSpPr>
            <a:spLocks noGrp="1"/>
          </p:cNvSpPr>
          <p:nvPr/>
        </p:nv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Tree>
    <p:extLst>
      <p:ext uri="{BB962C8B-B14F-4D97-AF65-F5344CB8AC3E}">
        <p14:creationId xmlns:p14="http://schemas.microsoft.com/office/powerpoint/2010/main" val="353865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6C4F3-E7C2-FBA1-E472-5E4C43569BF7}"/>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Expectations</a:t>
            </a:r>
          </a:p>
        </p:txBody>
      </p:sp>
      <p:sp>
        <p:nvSpPr>
          <p:cNvPr id="6" name="TextBox 5">
            <a:extLst>
              <a:ext uri="{FF2B5EF4-FFF2-40B4-BE49-F238E27FC236}">
                <a16:creationId xmlns:a16="http://schemas.microsoft.com/office/drawing/2014/main" id="{1DAAD226-8F41-94CB-AC43-3EF9B3230124}"/>
              </a:ext>
            </a:extLst>
          </p:cNvPr>
          <p:cNvSpPr>
            <a:spLocks noGrp="1"/>
          </p:cNvSpPr>
          <p:nvPr/>
        </p:nvSpPr>
        <p:spPr>
          <a:xfrm>
            <a:off x="730250" y="1413063"/>
            <a:ext cx="10924032" cy="5509200"/>
          </a:xfrm>
          <a:prstGeom prst="rect">
            <a:avLst/>
          </a:prstGeom>
          <a:noFill/>
        </p:spPr>
        <p:txBody>
          <a:bodyPr wrap="square">
            <a:spAutoFit/>
          </a:bodyPr>
          <a:lstStyle/>
          <a:p>
            <a:pPr algn="l">
              <a:buNone/>
              <a:defRPr>
                <a:latin typeface="Aptos"/>
                <a:ea typeface="Aptos"/>
                <a:cs typeface="Aptos"/>
              </a:defRPr>
            </a:pPr>
            <a:r>
              <a:rPr sz="3200" i="1">
                <a:latin typeface="Aptos"/>
                <a:ea typeface="Aptos"/>
                <a:cs typeface="Aptos"/>
              </a:rPr>
              <a:t>We do not focus on a tool</a:t>
            </a:r>
            <a:endParaRPr sz="3200" i="1"/>
          </a:p>
          <a:p>
            <a:pPr>
              <a:buNone/>
              <a:defRPr>
                <a:latin typeface="Aptos"/>
                <a:ea typeface="Aptos"/>
                <a:cs typeface="Aptos"/>
              </a:defRPr>
            </a:pPr>
            <a:endParaRPr sz="3200" i="1"/>
          </a:p>
          <a:p>
            <a:pPr algn="l">
              <a:buNone/>
              <a:defRPr>
                <a:latin typeface="Aptos"/>
                <a:ea typeface="Aptos"/>
                <a:cs typeface="Aptos"/>
              </a:defRPr>
            </a:pPr>
            <a:r>
              <a:rPr sz="3200" b="1">
                <a:latin typeface="Aptos"/>
                <a:ea typeface="Aptos"/>
                <a:cs typeface="Aptos"/>
              </a:rPr>
              <a:t>Technology</a:t>
            </a:r>
            <a:r>
              <a:rPr sz="3200">
                <a:latin typeface="Aptos"/>
                <a:ea typeface="Aptos"/>
                <a:cs typeface="Aptos"/>
              </a:rPr>
              <a:t> (NodeJS, npm) </a:t>
            </a:r>
          </a:p>
          <a:p>
            <a:pPr algn="l">
              <a:buNone/>
              <a:defRPr>
                <a:latin typeface="Aptos"/>
                <a:ea typeface="Aptos"/>
                <a:cs typeface="Aptos"/>
              </a:defRPr>
            </a:pPr>
            <a:r>
              <a:rPr sz="3200" b="1">
                <a:latin typeface="Aptos"/>
                <a:ea typeface="Aptos"/>
                <a:cs typeface="Aptos"/>
              </a:rPr>
              <a:t>Programming language </a:t>
            </a:r>
            <a:r>
              <a:rPr sz="3200">
                <a:latin typeface="Aptos"/>
                <a:ea typeface="Aptos"/>
                <a:cs typeface="Aptos"/>
              </a:rPr>
              <a:t>(JavaScript, Java, C#, PHP) </a:t>
            </a:r>
            <a:r>
              <a:rPr sz="3200" b="1" i="1">
                <a:latin typeface="Aptos"/>
                <a:ea typeface="Aptos"/>
                <a:cs typeface="Aptos"/>
              </a:rPr>
              <a:t>Framework</a:t>
            </a:r>
            <a:r>
              <a:rPr sz="3200">
                <a:latin typeface="Aptos"/>
                <a:ea typeface="Aptos"/>
                <a:cs typeface="Aptos"/>
              </a:rPr>
              <a:t> (Laravel, Ruby on Rails, Django, Angular, Vue)</a:t>
            </a:r>
          </a:p>
          <a:p>
            <a:pPr algn="l">
              <a:buNone/>
              <a:defRPr>
                <a:latin typeface="Aptos"/>
                <a:ea typeface="Aptos"/>
                <a:cs typeface="Aptos"/>
              </a:defRPr>
            </a:pPr>
            <a:r>
              <a:rPr sz="3200" b="1">
                <a:latin typeface="Aptos"/>
                <a:ea typeface="Aptos"/>
                <a:cs typeface="Aptos"/>
              </a:rPr>
              <a:t>Library</a:t>
            </a:r>
            <a:r>
              <a:rPr sz="3200">
                <a:latin typeface="Aptos"/>
                <a:ea typeface="Aptos"/>
                <a:cs typeface="Aptos"/>
              </a:rPr>
              <a:t> (JQuery, React, Bootstrap) </a:t>
            </a:r>
          </a:p>
          <a:p>
            <a:pPr>
              <a:buNone/>
              <a:defRPr>
                <a:latin typeface="Aptos"/>
                <a:ea typeface="Aptos"/>
                <a:cs typeface="Aptos"/>
              </a:defRPr>
            </a:pPr>
            <a:endParaRPr sz="3200"/>
          </a:p>
          <a:p>
            <a:pPr algn="l">
              <a:buNone/>
              <a:defRPr>
                <a:latin typeface="Aptos"/>
                <a:ea typeface="Aptos"/>
                <a:cs typeface="Aptos"/>
              </a:defRPr>
            </a:pPr>
            <a:r>
              <a:rPr sz="3200">
                <a:latin typeface="Aptos"/>
                <a:ea typeface="Aptos"/>
                <a:cs typeface="Aptos"/>
              </a:rPr>
              <a:t>We do focus on techniques and theories </a:t>
            </a:r>
          </a:p>
          <a:p>
            <a:pPr marL="533400" lvl="1" indent="-152400" algn="l">
              <a:lnSpc>
                <a:spcPct val="108000"/>
              </a:lnSpc>
              <a:spcAft>
                <a:spcPts val="3"/>
              </a:spcAft>
              <a:buFont typeface="Wingdings"/>
              <a:buChar char="v"/>
              <a:defRPr>
                <a:latin typeface="Aptos"/>
                <a:ea typeface="Aptos"/>
                <a:cs typeface="Aptos"/>
              </a:defRPr>
            </a:pPr>
            <a:r>
              <a:rPr sz="2800">
                <a:latin typeface="Aptos"/>
                <a:ea typeface="Aptos"/>
                <a:cs typeface="Aptos"/>
              </a:rPr>
              <a:t>Design and implement a web-based system,</a:t>
            </a:r>
          </a:p>
          <a:p>
            <a:pPr marL="533400" lvl="1" indent="-152400" algn="l">
              <a:lnSpc>
                <a:spcPct val="108000"/>
              </a:lnSpc>
              <a:spcAft>
                <a:spcPts val="3"/>
              </a:spcAft>
              <a:buFont typeface="Wingdings"/>
              <a:buChar char="v"/>
              <a:defRPr>
                <a:latin typeface="Aptos"/>
                <a:ea typeface="Aptos"/>
                <a:cs typeface="Aptos"/>
              </a:defRPr>
            </a:pPr>
            <a:r>
              <a:rPr sz="2800">
                <a:latin typeface="Aptos"/>
                <a:ea typeface="Aptos"/>
                <a:cs typeface="Aptos"/>
              </a:rPr>
              <a:t>Considering non-functional requirements (security, performance, etc) </a:t>
            </a:r>
          </a:p>
        </p:txBody>
      </p:sp>
    </p:spTree>
    <p:extLst>
      <p:ext uri="{BB962C8B-B14F-4D97-AF65-F5344CB8AC3E}">
        <p14:creationId xmlns:p14="http://schemas.microsoft.com/office/powerpoint/2010/main" val="1705747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32A8A-7B1C-43B4-146E-46E8BD76D58B}"/>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Expectations</a:t>
            </a:r>
          </a:p>
        </p:txBody>
      </p:sp>
      <p:sp>
        <p:nvSpPr>
          <p:cNvPr id="6" name="TextBox 5">
            <a:extLst>
              <a:ext uri="{FF2B5EF4-FFF2-40B4-BE49-F238E27FC236}">
                <a16:creationId xmlns:a16="http://schemas.microsoft.com/office/drawing/2014/main" id="{A1B9B1B6-6125-49BA-7D62-BF4B32063B85}"/>
              </a:ext>
            </a:extLst>
          </p:cNvPr>
          <p:cNvSpPr>
            <a:spLocks noGrp="1"/>
          </p:cNvSpPr>
          <p:nvPr/>
        </p:nvSpPr>
        <p:spPr>
          <a:xfrm>
            <a:off x="730250" y="1413063"/>
            <a:ext cx="10924032" cy="2062103"/>
          </a:xfrm>
          <a:prstGeom prst="rect">
            <a:avLst/>
          </a:prstGeom>
          <a:noFill/>
        </p:spPr>
        <p:txBody>
          <a:bodyPr wrap="square">
            <a:spAutoFit/>
          </a:bodyPr>
          <a:lstStyle/>
          <a:p>
            <a:pPr algn="l">
              <a:buNone/>
              <a:defRPr>
                <a:latin typeface="Aptos"/>
                <a:ea typeface="Aptos"/>
                <a:cs typeface="Aptos"/>
              </a:defRPr>
            </a:pPr>
            <a:r>
              <a:rPr sz="3200">
                <a:latin typeface="Aptos"/>
                <a:ea typeface="Aptos"/>
                <a:cs typeface="Aptos"/>
              </a:rPr>
              <a:t>We do not learn tools, we learn theory and techniques</a:t>
            </a:r>
            <a:endParaRPr sz="3200"/>
          </a:p>
          <a:p>
            <a:pPr>
              <a:buNone/>
              <a:defRPr>
                <a:latin typeface="Aptos"/>
                <a:ea typeface="Aptos"/>
                <a:cs typeface="Aptos"/>
              </a:defRPr>
            </a:pPr>
            <a:endParaRPr sz="3200"/>
          </a:p>
          <a:p>
            <a:pPr>
              <a:buNone/>
              <a:defRPr>
                <a:latin typeface="Aptos"/>
                <a:ea typeface="Aptos"/>
                <a:cs typeface="Aptos"/>
              </a:defRPr>
            </a:pPr>
            <a:endParaRPr sz="3200"/>
          </a:p>
          <a:p>
            <a:pPr algn="l">
              <a:buNone/>
              <a:defRPr>
                <a:latin typeface="Aptos"/>
                <a:ea typeface="Aptos"/>
                <a:cs typeface="Aptos"/>
              </a:defRPr>
            </a:pPr>
            <a:r>
              <a:rPr sz="3200">
                <a:latin typeface="Aptos"/>
                <a:ea typeface="Aptos"/>
                <a:cs typeface="Aptos"/>
              </a:rPr>
              <a:t>We use tools to apply those techniques</a:t>
            </a:r>
            <a:endParaRPr sz="3200"/>
          </a:p>
        </p:txBody>
      </p:sp>
    </p:spTree>
    <p:extLst>
      <p:ext uri="{BB962C8B-B14F-4D97-AF65-F5344CB8AC3E}">
        <p14:creationId xmlns:p14="http://schemas.microsoft.com/office/powerpoint/2010/main" val="3558506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F3E80-4371-A21B-9CD8-1C8BD88727E7}"/>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Expectations</a:t>
            </a:r>
          </a:p>
        </p:txBody>
      </p:sp>
      <p:sp>
        <p:nvSpPr>
          <p:cNvPr id="6" name="TextBox 5">
            <a:extLst>
              <a:ext uri="{FF2B5EF4-FFF2-40B4-BE49-F238E27FC236}">
                <a16:creationId xmlns:a16="http://schemas.microsoft.com/office/drawing/2014/main" id="{1696DB41-B65B-9774-91AA-EC1398E7E52E}"/>
              </a:ext>
            </a:extLst>
          </p:cNvPr>
          <p:cNvSpPr>
            <a:spLocks noGrp="1"/>
          </p:cNvSpPr>
          <p:nvPr/>
        </p:nvSpPr>
        <p:spPr>
          <a:xfrm>
            <a:off x="279400" y="1413063"/>
            <a:ext cx="11912600" cy="4278935"/>
          </a:xfrm>
          <a:prstGeom prst="rect">
            <a:avLst/>
          </a:prstGeom>
          <a:noFill/>
        </p:spPr>
        <p:txBody>
          <a:bodyPr wrap="square">
            <a:spAutoFit/>
          </a:bodyPr>
          <a:lstStyle/>
          <a:p>
            <a:pPr algn="l">
              <a:buNone/>
              <a:defRPr>
                <a:latin typeface="Aptos"/>
                <a:ea typeface="Aptos"/>
                <a:cs typeface="Aptos"/>
              </a:defRPr>
            </a:pPr>
            <a:r>
              <a:rPr sz="3200">
                <a:latin typeface="Aptos"/>
                <a:ea typeface="Aptos"/>
                <a:cs typeface="Aptos"/>
              </a:rPr>
              <a:t>We do not learn tools, we learn theory and techniques</a:t>
            </a:r>
            <a:endParaRPr sz="3200"/>
          </a:p>
          <a:p>
            <a:pPr>
              <a:buNone/>
              <a:defRPr>
                <a:latin typeface="Aptos"/>
                <a:ea typeface="Aptos"/>
                <a:cs typeface="Aptos"/>
              </a:defRPr>
            </a:pPr>
            <a:endParaRPr sz="3200"/>
          </a:p>
          <a:p>
            <a:pPr algn="l">
              <a:buNone/>
              <a:defRPr>
                <a:latin typeface="Aptos"/>
                <a:ea typeface="Aptos"/>
                <a:cs typeface="Aptos"/>
              </a:defRPr>
            </a:pPr>
            <a:r>
              <a:rPr sz="3200">
                <a:latin typeface="Aptos"/>
                <a:ea typeface="Aptos"/>
                <a:cs typeface="Aptos"/>
              </a:rPr>
              <a:t>We use tools to apply those techniques</a:t>
            </a:r>
            <a:endParaRPr sz="3200"/>
          </a:p>
          <a:p>
            <a:pPr>
              <a:buNone/>
              <a:defRPr>
                <a:latin typeface="Aptos"/>
                <a:ea typeface="Aptos"/>
                <a:cs typeface="Aptos"/>
              </a:defRPr>
            </a:pPr>
            <a:endParaRPr sz="3200"/>
          </a:p>
          <a:p>
            <a:pPr marL="800100" lvl="2" indent="-152400" algn="l">
              <a:lnSpc>
                <a:spcPct val="108000"/>
              </a:lnSpc>
              <a:spcAft>
                <a:spcPts val="3"/>
              </a:spcAft>
              <a:buFont typeface="Wingdings"/>
              <a:buChar char="v"/>
              <a:defRPr>
                <a:latin typeface="Aptos"/>
                <a:ea typeface="Aptos"/>
                <a:cs typeface="Aptos"/>
              </a:defRPr>
            </a:pPr>
            <a:r>
              <a:rPr sz="2800">
                <a:latin typeface="Aptos"/>
                <a:ea typeface="Aptos"/>
                <a:cs typeface="Aptos"/>
              </a:rPr>
              <a:t>We are not learning a tool/framework/programming language </a:t>
            </a:r>
          </a:p>
          <a:p>
            <a:pPr lvl="2">
              <a:buNone/>
              <a:defRPr>
                <a:latin typeface="Aptos"/>
                <a:ea typeface="Aptos"/>
                <a:cs typeface="Aptos"/>
              </a:defRPr>
            </a:pPr>
            <a:endParaRPr sz="2800"/>
          </a:p>
          <a:p>
            <a:pPr marL="800100" lvl="2" indent="-152400" algn="l">
              <a:lnSpc>
                <a:spcPct val="108000"/>
              </a:lnSpc>
              <a:spcAft>
                <a:spcPts val="3"/>
              </a:spcAft>
              <a:buFont typeface="Wingdings"/>
              <a:buChar char="v"/>
              <a:defRPr>
                <a:latin typeface="Aptos"/>
                <a:ea typeface="Aptos"/>
                <a:cs typeface="Aptos"/>
              </a:defRPr>
            </a:pPr>
            <a:r>
              <a:rPr sz="2800">
                <a:latin typeface="Aptos"/>
                <a:ea typeface="Aptos"/>
                <a:cs typeface="Aptos"/>
              </a:rPr>
              <a:t>We learn the concept behind those tools and use them in web dev</a:t>
            </a:r>
            <a:endParaRPr sz="2800"/>
          </a:p>
          <a:p>
            <a:pPr lvl="2" algn="l">
              <a:buNone/>
              <a:defRPr>
                <a:latin typeface="Aptos"/>
                <a:ea typeface="Aptos"/>
                <a:cs typeface="Aptos"/>
              </a:defRPr>
            </a:pPr>
            <a:r>
              <a:rPr sz="2800">
                <a:latin typeface="Aptos"/>
                <a:ea typeface="Aptos"/>
                <a:cs typeface="Aptos"/>
              </a:rPr>
              <a:t> </a:t>
            </a:r>
          </a:p>
          <a:p>
            <a:pPr marL="800100" lvl="2" indent="-152400" algn="l">
              <a:lnSpc>
                <a:spcPct val="108000"/>
              </a:lnSpc>
              <a:spcAft>
                <a:spcPts val="3"/>
              </a:spcAft>
              <a:buFont typeface="Wingdings"/>
              <a:buChar char="v"/>
              <a:defRPr>
                <a:latin typeface="Aptos"/>
                <a:ea typeface="Aptos"/>
                <a:cs typeface="Aptos"/>
              </a:defRPr>
            </a:pPr>
            <a:r>
              <a:rPr sz="2800">
                <a:latin typeface="Aptos"/>
                <a:ea typeface="Aptos"/>
                <a:cs typeface="Aptos"/>
              </a:rPr>
              <a:t>We learn good practices to design/develop web applications </a:t>
            </a:r>
          </a:p>
        </p:txBody>
      </p:sp>
    </p:spTree>
    <p:extLst>
      <p:ext uri="{BB962C8B-B14F-4D97-AF65-F5344CB8AC3E}">
        <p14:creationId xmlns:p14="http://schemas.microsoft.com/office/powerpoint/2010/main" val="494357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126E1-832E-AFB8-5710-CF4A00CDF4F0}"/>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Expectations</a:t>
            </a:r>
          </a:p>
        </p:txBody>
      </p:sp>
      <p:sp>
        <p:nvSpPr>
          <p:cNvPr id="6" name="TextBox 5">
            <a:extLst>
              <a:ext uri="{FF2B5EF4-FFF2-40B4-BE49-F238E27FC236}">
                <a16:creationId xmlns:a16="http://schemas.microsoft.com/office/drawing/2014/main" id="{773E1711-372F-7C84-609C-68202C962979}"/>
              </a:ext>
            </a:extLst>
          </p:cNvPr>
          <p:cNvSpPr>
            <a:spLocks noGrp="1"/>
          </p:cNvSpPr>
          <p:nvPr/>
        </p:nvSpPr>
        <p:spPr>
          <a:xfrm>
            <a:off x="838200" y="1690688"/>
            <a:ext cx="10924032" cy="3539430"/>
          </a:xfrm>
          <a:prstGeom prst="rect">
            <a:avLst/>
          </a:prstGeom>
          <a:noFill/>
        </p:spPr>
        <p:txBody>
          <a:bodyPr wrap="square">
            <a:spAutoFit/>
          </a:bodyPr>
          <a:lstStyle/>
          <a:p>
            <a:pPr algn="l">
              <a:buNone/>
              <a:defRPr>
                <a:latin typeface="Aptos"/>
                <a:ea typeface="Aptos"/>
                <a:cs typeface="Aptos"/>
              </a:defRPr>
            </a:pPr>
            <a:r>
              <a:rPr sz="3200">
                <a:latin typeface="Aptos"/>
                <a:ea typeface="Aptos"/>
                <a:cs typeface="Aptos"/>
              </a:rPr>
              <a:t>We do not learn tools, we learn theory and techniques</a:t>
            </a:r>
            <a:endParaRPr sz="3200"/>
          </a:p>
          <a:p>
            <a:pPr>
              <a:buNone/>
              <a:defRPr>
                <a:latin typeface="Aptos"/>
                <a:ea typeface="Aptos"/>
                <a:cs typeface="Aptos"/>
              </a:defRPr>
            </a:pPr>
            <a:endParaRPr sz="3200"/>
          </a:p>
          <a:p>
            <a:pPr>
              <a:buNone/>
              <a:defRPr>
                <a:latin typeface="Aptos"/>
                <a:ea typeface="Aptos"/>
                <a:cs typeface="Aptos"/>
              </a:defRPr>
            </a:pPr>
            <a:endParaRPr sz="3200"/>
          </a:p>
          <a:p>
            <a:pPr algn="l">
              <a:buNone/>
              <a:defRPr>
                <a:latin typeface="Aptos"/>
                <a:ea typeface="Aptos"/>
                <a:cs typeface="Aptos"/>
              </a:defRPr>
            </a:pPr>
            <a:r>
              <a:rPr sz="3200">
                <a:latin typeface="Aptos"/>
                <a:ea typeface="Aptos"/>
                <a:cs typeface="Aptos"/>
              </a:rPr>
              <a:t>We use tools to apply those techniques</a:t>
            </a:r>
            <a:endParaRPr sz="3200"/>
          </a:p>
          <a:p>
            <a:pPr>
              <a:buNone/>
              <a:defRPr>
                <a:latin typeface="Aptos"/>
                <a:ea typeface="Aptos"/>
                <a:cs typeface="Aptos"/>
              </a:defRPr>
            </a:pPr>
            <a:endParaRPr sz="3200"/>
          </a:p>
          <a:p>
            <a:pPr marL="800100" lvl="2" indent="-152400" algn="l">
              <a:lnSpc>
                <a:spcPct val="108000"/>
              </a:lnSpc>
              <a:spcAft>
                <a:spcPts val="3"/>
              </a:spcAft>
              <a:buFont typeface="Wingdings"/>
              <a:buChar char="v"/>
              <a:defRPr>
                <a:latin typeface="Aptos"/>
                <a:ea typeface="Aptos"/>
                <a:cs typeface="Aptos"/>
              </a:defRPr>
            </a:pPr>
            <a:r>
              <a:rPr sz="2800">
                <a:latin typeface="Aptos"/>
                <a:ea typeface="Aptos"/>
                <a:cs typeface="Aptos"/>
              </a:rPr>
              <a:t>HTML, CSS, JavaScript</a:t>
            </a:r>
          </a:p>
          <a:p>
            <a:pPr marL="800100" lvl="2" indent="-152400" algn="l">
              <a:lnSpc>
                <a:spcPct val="108000"/>
              </a:lnSpc>
              <a:spcAft>
                <a:spcPts val="3"/>
              </a:spcAft>
              <a:buFont typeface="Wingdings"/>
              <a:buChar char="v"/>
              <a:defRPr>
                <a:latin typeface="Aptos"/>
                <a:ea typeface="Aptos"/>
                <a:cs typeface="Aptos"/>
              </a:defRPr>
            </a:pPr>
            <a:r>
              <a:rPr sz="2800">
                <a:latin typeface="Aptos"/>
                <a:ea typeface="Aptos"/>
                <a:cs typeface="Aptos"/>
              </a:rPr>
              <a:t>PHP, Laravel (MVC framework) </a:t>
            </a:r>
          </a:p>
        </p:txBody>
      </p:sp>
    </p:spTree>
    <p:extLst>
      <p:ext uri="{BB962C8B-B14F-4D97-AF65-F5344CB8AC3E}">
        <p14:creationId xmlns:p14="http://schemas.microsoft.com/office/powerpoint/2010/main" val="2260015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55B31-0CA4-C254-1732-9720E3106604}"/>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Expectations</a:t>
            </a:r>
          </a:p>
        </p:txBody>
      </p:sp>
      <p:sp>
        <p:nvSpPr>
          <p:cNvPr id="6" name="TextBox 5">
            <a:extLst>
              <a:ext uri="{FF2B5EF4-FFF2-40B4-BE49-F238E27FC236}">
                <a16:creationId xmlns:a16="http://schemas.microsoft.com/office/drawing/2014/main" id="{CC09BA75-E70F-E482-4CF9-3797927FECA0}"/>
              </a:ext>
            </a:extLst>
          </p:cNvPr>
          <p:cNvSpPr>
            <a:spLocks noGrp="1"/>
          </p:cNvSpPr>
          <p:nvPr/>
        </p:nvSpPr>
        <p:spPr>
          <a:xfrm>
            <a:off x="838200" y="1690688"/>
            <a:ext cx="10924032" cy="4453270"/>
          </a:xfrm>
          <a:prstGeom prst="rect">
            <a:avLst/>
          </a:prstGeom>
          <a:noFill/>
        </p:spPr>
        <p:txBody>
          <a:bodyPr wrap="square">
            <a:spAutoFit/>
          </a:bodyPr>
          <a:lstStyle/>
          <a:p>
            <a:pPr algn="l">
              <a:buNone/>
              <a:defRPr>
                <a:latin typeface="Aptos"/>
                <a:ea typeface="Aptos"/>
                <a:cs typeface="Aptos"/>
              </a:defRPr>
            </a:pPr>
            <a:r>
              <a:rPr sz="3200" dirty="0">
                <a:latin typeface="Aptos"/>
                <a:ea typeface="Aptos"/>
                <a:cs typeface="Aptos"/>
              </a:rPr>
              <a:t>We do not learn tools, we learn theory and techniques</a:t>
            </a:r>
            <a:endParaRPr sz="3200" dirty="0"/>
          </a:p>
          <a:p>
            <a:pPr>
              <a:buNone/>
              <a:defRPr>
                <a:latin typeface="Aptos"/>
                <a:ea typeface="Aptos"/>
                <a:cs typeface="Aptos"/>
              </a:defRPr>
            </a:pPr>
            <a:endParaRPr sz="3200" dirty="0"/>
          </a:p>
          <a:p>
            <a:pPr algn="l">
              <a:buNone/>
              <a:defRPr>
                <a:latin typeface="Aptos"/>
                <a:ea typeface="Aptos"/>
                <a:cs typeface="Aptos"/>
              </a:defRPr>
            </a:pPr>
            <a:r>
              <a:rPr sz="3200" dirty="0">
                <a:latin typeface="Aptos"/>
                <a:ea typeface="Aptos"/>
                <a:cs typeface="Aptos"/>
              </a:rPr>
              <a:t>We use tools to apply those techniques</a:t>
            </a:r>
            <a:endParaRPr sz="3200" dirty="0"/>
          </a:p>
          <a:p>
            <a:pPr>
              <a:buNone/>
              <a:defRPr>
                <a:latin typeface="Aptos"/>
                <a:ea typeface="Aptos"/>
                <a:cs typeface="Aptos"/>
              </a:defRPr>
            </a:pPr>
            <a:endParaRPr sz="3200" dirty="0"/>
          </a:p>
          <a:p>
            <a:pPr algn="l">
              <a:buNone/>
              <a:defRPr>
                <a:latin typeface="Aptos"/>
                <a:ea typeface="Aptos"/>
                <a:cs typeface="Aptos"/>
              </a:defRPr>
            </a:pPr>
            <a:r>
              <a:rPr sz="3200" dirty="0">
                <a:latin typeface="Aptos"/>
                <a:ea typeface="Aptos"/>
                <a:cs typeface="Aptos"/>
              </a:rPr>
              <a:t>We develop web solutions for people </a:t>
            </a:r>
          </a:p>
          <a:p>
            <a:pPr>
              <a:buNone/>
              <a:defRPr>
                <a:latin typeface="Aptos"/>
                <a:ea typeface="Aptos"/>
                <a:cs typeface="Aptos"/>
              </a:defRPr>
            </a:pPr>
            <a:endParaRPr sz="3200" dirty="0"/>
          </a:p>
          <a:p>
            <a:pPr algn="l">
              <a:buNone/>
              <a:defRPr>
                <a:latin typeface="Aptos"/>
                <a:ea typeface="Aptos"/>
                <a:cs typeface="Aptos"/>
              </a:defRPr>
            </a:pPr>
            <a:r>
              <a:rPr sz="3200" dirty="0">
                <a:latin typeface="Aptos"/>
                <a:ea typeface="Aptos"/>
                <a:cs typeface="Aptos"/>
              </a:rPr>
              <a:t>You know clients’ needs, requirements, etc. </a:t>
            </a:r>
          </a:p>
          <a:p>
            <a:pPr marL="800100" lvl="2" indent="-152400" algn="l">
              <a:lnSpc>
                <a:spcPct val="108000"/>
              </a:lnSpc>
              <a:spcAft>
                <a:spcPts val="3"/>
              </a:spcAft>
              <a:buFont typeface="Wingdings"/>
              <a:buChar char="Ø"/>
              <a:defRPr>
                <a:latin typeface="Aptos"/>
                <a:ea typeface="Aptos"/>
                <a:cs typeface="Aptos"/>
              </a:defRPr>
            </a:pPr>
            <a:r>
              <a:rPr sz="2800" dirty="0">
                <a:latin typeface="Aptos"/>
                <a:ea typeface="Aptos"/>
                <a:cs typeface="Aptos"/>
              </a:rPr>
              <a:t>Why building a web solution? </a:t>
            </a:r>
          </a:p>
          <a:p>
            <a:pPr marL="800100" lvl="2" indent="-152400" algn="l">
              <a:lnSpc>
                <a:spcPct val="108000"/>
              </a:lnSpc>
              <a:spcAft>
                <a:spcPts val="3"/>
              </a:spcAft>
              <a:buFont typeface="Wingdings"/>
              <a:buChar char="Ø"/>
              <a:defRPr>
                <a:latin typeface="Aptos"/>
                <a:ea typeface="Aptos"/>
                <a:cs typeface="Aptos"/>
              </a:defRPr>
            </a:pPr>
            <a:r>
              <a:rPr sz="2800" dirty="0">
                <a:latin typeface="Aptos"/>
                <a:ea typeface="Aptos"/>
                <a:cs typeface="Aptos"/>
              </a:rPr>
              <a:t>Why not building a web solution? </a:t>
            </a:r>
          </a:p>
        </p:txBody>
      </p:sp>
    </p:spTree>
    <p:extLst>
      <p:ext uri="{BB962C8B-B14F-4D97-AF65-F5344CB8AC3E}">
        <p14:creationId xmlns:p14="http://schemas.microsoft.com/office/powerpoint/2010/main" val="1752330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 name="Rectangle 226">
            <a:extLst>
              <a:ext uri="{FF2B5EF4-FFF2-40B4-BE49-F238E27FC236}">
                <a16:creationId xmlns:a16="http://schemas.microsoft.com/office/drawing/2014/main" id="{187947EA-0E7E-8627-F0A3-36D43F14967C}"/>
              </a:ext>
            </a:extLst>
          </p:cNvPr>
          <p:cNvSpPr>
            <a:spLocks noGrp="1"/>
          </p:cNvSpPr>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2" name="Title 1">
            <a:extLst>
              <a:ext uri="{FF2B5EF4-FFF2-40B4-BE49-F238E27FC236}">
                <a16:creationId xmlns:a16="http://schemas.microsoft.com/office/drawing/2014/main" id="{01995413-6353-5EB1-EDDE-222A09CA2930}"/>
              </a:ext>
            </a:extLst>
          </p:cNvPr>
          <p:cNvSpPr>
            <a:spLocks noGrp="1"/>
          </p:cNvSpPr>
          <p:nvPr>
            <p:ph type="title"/>
          </p:nvPr>
        </p:nvSpPr>
        <p:spPr>
          <a:xfrm>
            <a:off x="1215865" y="2432109"/>
            <a:ext cx="9302496" cy="2193482"/>
          </a:xfrm>
        </p:spPr>
        <p:txBody>
          <a:bodyPr vert="horz" lIns="91440" tIns="45720" rIns="91440" bIns="45720" anchor="ctr">
            <a:normAutofit fontScale="90000"/>
          </a:bodyPr>
          <a:lstStyle/>
          <a:p>
            <a:pPr algn="ctr">
              <a:buNone/>
              <a:defRPr>
                <a:latin typeface="Aptos Display"/>
                <a:ea typeface="Aptos Display"/>
                <a:cs typeface="Aptos Display"/>
              </a:defRPr>
            </a:pPr>
            <a:r>
              <a:rPr sz="8800">
                <a:solidFill>
                  <a:schemeClr val="bg1"/>
                </a:solidFill>
                <a:latin typeface="Aptos Display"/>
                <a:ea typeface="Aptos Display"/>
                <a:cs typeface="Aptos Display"/>
              </a:rPr>
              <a:t>Examination </a:t>
            </a:r>
            <a:br/>
            <a:r>
              <a:rPr sz="8800">
                <a:solidFill>
                  <a:schemeClr val="bg1"/>
                </a:solidFill>
                <a:latin typeface="Aptos Display"/>
                <a:ea typeface="Aptos Display"/>
                <a:cs typeface="Aptos Display"/>
              </a:rPr>
              <a:t>and </a:t>
            </a:r>
            <a:br/>
            <a:r>
              <a:rPr sz="8800">
                <a:solidFill>
                  <a:schemeClr val="bg1"/>
                </a:solidFill>
                <a:latin typeface="Aptos Display"/>
                <a:ea typeface="Aptos Display"/>
                <a:cs typeface="Aptos Display"/>
              </a:rPr>
              <a:t>Evaluation</a:t>
            </a:r>
          </a:p>
        </p:txBody>
      </p:sp>
      <p:sp>
        <p:nvSpPr>
          <p:cNvPr id="228" name="Rectangle 227">
            <a:extLst>
              <a:ext uri="{FF2B5EF4-FFF2-40B4-BE49-F238E27FC236}">
                <a16:creationId xmlns:a16="http://schemas.microsoft.com/office/drawing/2014/main" id="{5B768ACF-1A42-B186-A395-59EBEF1BA5D8}"/>
              </a:ext>
            </a:extLst>
          </p:cNvPr>
          <p:cNvSpPr>
            <a:spLocks noGrp="1"/>
          </p:cNvSpPr>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9" name="Straight Connector 228">
            <a:extLst>
              <a:ext uri="{FF2B5EF4-FFF2-40B4-BE49-F238E27FC236}">
                <a16:creationId xmlns:a16="http://schemas.microsoft.com/office/drawing/2014/main" id="{67AD0570-1A8D-4381-9C06-1AA4AF97097C}"/>
              </a:ext>
            </a:extLst>
          </p:cNvPr>
          <p:cNvSpPr>
            <a:spLocks noGrp="1"/>
          </p:cNvSpPr>
          <p:nvPr/>
        </p:nv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
        <p:nvSpPr>
          <p:cNvPr id="230" name="Straight Connector 229">
            <a:extLst>
              <a:ext uri="{FF2B5EF4-FFF2-40B4-BE49-F238E27FC236}">
                <a16:creationId xmlns:a16="http://schemas.microsoft.com/office/drawing/2014/main" id="{36E81153-DBF1-4859-BB0E-400197BD0B2A}"/>
              </a:ext>
            </a:extLst>
          </p:cNvPr>
          <p:cNvSpPr>
            <a:spLocks noGrp="1"/>
          </p:cNvSpPr>
          <p:nvPr/>
        </p:nv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Tree>
    <p:extLst>
      <p:ext uri="{BB962C8B-B14F-4D97-AF65-F5344CB8AC3E}">
        <p14:creationId xmlns:p14="http://schemas.microsoft.com/office/powerpoint/2010/main" val="1519345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1A1BA-8188-BB1D-6B9A-F3B4ABA3DF63}"/>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Evaluation</a:t>
            </a:r>
          </a:p>
        </p:txBody>
      </p:sp>
      <p:sp>
        <p:nvSpPr>
          <p:cNvPr id="6" name="TextBox 5">
            <a:extLst>
              <a:ext uri="{FF2B5EF4-FFF2-40B4-BE49-F238E27FC236}">
                <a16:creationId xmlns:a16="http://schemas.microsoft.com/office/drawing/2014/main" id="{4BECB536-B6EC-C745-451B-5639921D9C44}"/>
              </a:ext>
            </a:extLst>
          </p:cNvPr>
          <p:cNvSpPr>
            <a:spLocks noGrp="1"/>
          </p:cNvSpPr>
          <p:nvPr/>
        </p:nvSpPr>
        <p:spPr>
          <a:xfrm>
            <a:off x="838200" y="1919288"/>
            <a:ext cx="10924032" cy="5304914"/>
          </a:xfrm>
          <a:prstGeom prst="rect">
            <a:avLst/>
          </a:prstGeom>
          <a:noFill/>
        </p:spPr>
        <p:txBody>
          <a:bodyPr wrap="square">
            <a:spAutoFit/>
          </a:bodyPr>
          <a:lstStyle/>
          <a:p>
            <a:pPr marL="266700" indent="-152400" algn="l">
              <a:lnSpc>
                <a:spcPct val="108000"/>
              </a:lnSpc>
              <a:spcAft>
                <a:spcPts val="5"/>
              </a:spcAft>
              <a:buFont typeface="Wingdings"/>
              <a:buChar char="Ø"/>
              <a:defRPr>
                <a:latin typeface="Aptos"/>
                <a:ea typeface="Aptos"/>
                <a:cs typeface="Aptos"/>
              </a:defRPr>
            </a:pPr>
            <a:r>
              <a:rPr lang="it-IT" sz="2800" dirty="0">
                <a:latin typeface="Aptos"/>
                <a:ea typeface="Aptos"/>
                <a:cs typeface="Aptos"/>
              </a:rPr>
              <a:t> </a:t>
            </a:r>
            <a:r>
              <a:rPr sz="2800" dirty="0">
                <a:latin typeface="Aptos"/>
                <a:ea typeface="Aptos"/>
                <a:cs typeface="Aptos"/>
              </a:rPr>
              <a:t>Graded Assignments</a:t>
            </a:r>
            <a:endParaRPr sz="2800" dirty="0"/>
          </a:p>
          <a:p>
            <a:pPr algn="l">
              <a:buNone/>
              <a:defRPr>
                <a:latin typeface="Aptos"/>
                <a:ea typeface="Aptos"/>
                <a:cs typeface="Aptos"/>
              </a:defRPr>
            </a:pPr>
            <a:r>
              <a:rPr sz="2600" dirty="0">
                <a:latin typeface="Aptos"/>
                <a:ea typeface="Aptos"/>
                <a:cs typeface="Aptos"/>
              </a:rPr>
              <a:t>	Coding Skills</a:t>
            </a:r>
            <a:endParaRPr sz="2600" dirty="0"/>
          </a:p>
          <a:p>
            <a:pPr>
              <a:buNone/>
              <a:defRPr>
                <a:latin typeface="Aptos"/>
                <a:ea typeface="Aptos"/>
                <a:cs typeface="Aptos"/>
              </a:defRPr>
            </a:pPr>
            <a:endParaRPr sz="2800" dirty="0"/>
          </a:p>
          <a:p>
            <a:pPr marL="266700" indent="-152400" algn="l">
              <a:lnSpc>
                <a:spcPct val="108000"/>
              </a:lnSpc>
              <a:spcAft>
                <a:spcPts val="5"/>
              </a:spcAft>
              <a:buFont typeface="Wingdings"/>
              <a:buChar char="Ø"/>
              <a:defRPr>
                <a:latin typeface="Aptos"/>
                <a:ea typeface="Aptos"/>
                <a:cs typeface="Aptos"/>
              </a:defRPr>
            </a:pPr>
            <a:r>
              <a:rPr lang="it-IT" sz="2800" dirty="0">
                <a:latin typeface="Aptos"/>
                <a:ea typeface="Aptos"/>
                <a:cs typeface="Aptos"/>
              </a:rPr>
              <a:t> </a:t>
            </a:r>
            <a:r>
              <a:rPr sz="2800" dirty="0">
                <a:latin typeface="Aptos"/>
                <a:ea typeface="Aptos"/>
                <a:cs typeface="Aptos"/>
              </a:rPr>
              <a:t>Written Exam</a:t>
            </a:r>
            <a:endParaRPr sz="2800" dirty="0"/>
          </a:p>
          <a:p>
            <a:pPr algn="l">
              <a:buNone/>
              <a:defRPr>
                <a:latin typeface="Aptos"/>
                <a:ea typeface="Aptos"/>
                <a:cs typeface="Aptos"/>
              </a:defRPr>
            </a:pPr>
            <a:r>
              <a:rPr sz="2600" dirty="0">
                <a:latin typeface="Aptos"/>
                <a:ea typeface="Aptos"/>
                <a:cs typeface="Aptos"/>
              </a:rPr>
              <a:t>	Theory and Coding Knowledge</a:t>
            </a:r>
          </a:p>
          <a:p>
            <a:pPr marL="457200" indent="-457200">
              <a:buFont typeface="Wingdings"/>
              <a:buChar char="Ø"/>
              <a:defRPr>
                <a:latin typeface="Aptos"/>
                <a:ea typeface="Aptos"/>
                <a:cs typeface="Aptos"/>
              </a:defRPr>
            </a:pPr>
            <a:endParaRPr sz="2800" dirty="0"/>
          </a:p>
          <a:p>
            <a:pPr marL="266700" indent="-152400" algn="l">
              <a:lnSpc>
                <a:spcPct val="108000"/>
              </a:lnSpc>
              <a:spcAft>
                <a:spcPts val="5"/>
              </a:spcAft>
              <a:buFont typeface="Wingdings"/>
              <a:buChar char="Ø"/>
              <a:defRPr>
                <a:latin typeface="Aptos"/>
                <a:ea typeface="Aptos"/>
                <a:cs typeface="Aptos"/>
              </a:defRPr>
            </a:pPr>
            <a:r>
              <a:rPr lang="it-IT" sz="2800" dirty="0">
                <a:latin typeface="Aptos"/>
                <a:ea typeface="Aptos"/>
                <a:cs typeface="Aptos"/>
              </a:rPr>
              <a:t> </a:t>
            </a:r>
            <a:r>
              <a:rPr sz="2800" dirty="0">
                <a:latin typeface="Aptos"/>
                <a:ea typeface="Aptos"/>
                <a:cs typeface="Aptos"/>
              </a:rPr>
              <a:t>Final Grade: Overall Assessment</a:t>
            </a:r>
            <a:endParaRPr sz="2800" dirty="0"/>
          </a:p>
          <a:p>
            <a:pPr marL="457200" indent="-457200">
              <a:buFont typeface="Wingdings"/>
              <a:buChar char="Ø"/>
              <a:defRPr>
                <a:latin typeface="Aptos"/>
                <a:ea typeface="Aptos"/>
                <a:cs typeface="Aptos"/>
              </a:defRPr>
            </a:pPr>
            <a:endParaRPr sz="2800" dirty="0"/>
          </a:p>
          <a:p>
            <a:pPr lvl="1" algn="l">
              <a:buNone/>
              <a:defRPr>
                <a:latin typeface="Aptos"/>
                <a:ea typeface="Aptos"/>
                <a:cs typeface="Aptos"/>
              </a:defRPr>
            </a:pPr>
            <a:r>
              <a:rPr sz="2800" dirty="0">
                <a:latin typeface="Aptos"/>
                <a:ea typeface="Aptos"/>
                <a:cs typeface="Aptos"/>
              </a:rPr>
              <a:t>	</a:t>
            </a:r>
          </a:p>
          <a:p>
            <a:pPr lvl="1">
              <a:buNone/>
              <a:defRPr>
                <a:latin typeface="Aptos"/>
                <a:ea typeface="Aptos"/>
                <a:cs typeface="Aptos"/>
              </a:defRPr>
            </a:pPr>
            <a:endParaRPr sz="2800" dirty="0"/>
          </a:p>
          <a:p>
            <a:pPr lvl="1">
              <a:buNone/>
              <a:defRPr>
                <a:latin typeface="Aptos"/>
                <a:ea typeface="Aptos"/>
                <a:cs typeface="Aptos"/>
              </a:defRPr>
            </a:pPr>
            <a:endParaRPr sz="2800" dirty="0"/>
          </a:p>
          <a:p>
            <a:pPr lvl="2">
              <a:buNone/>
              <a:defRPr>
                <a:latin typeface="Aptos"/>
                <a:ea typeface="Aptos"/>
                <a:cs typeface="Aptos"/>
              </a:defRPr>
            </a:pPr>
            <a:endParaRPr sz="2800" dirty="0"/>
          </a:p>
        </p:txBody>
      </p:sp>
    </p:spTree>
    <p:extLst>
      <p:ext uri="{BB962C8B-B14F-4D97-AF65-F5344CB8AC3E}">
        <p14:creationId xmlns:p14="http://schemas.microsoft.com/office/powerpoint/2010/main" val="3582829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9651E-9A52-0BB5-02D2-B85216B1571A}"/>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Evaluation: Graded Assignments</a:t>
            </a:r>
          </a:p>
        </p:txBody>
      </p:sp>
      <p:sp>
        <p:nvSpPr>
          <p:cNvPr id="7" name="Content Placeholder 6">
            <a:extLst>
              <a:ext uri="{FF2B5EF4-FFF2-40B4-BE49-F238E27FC236}">
                <a16:creationId xmlns:a16="http://schemas.microsoft.com/office/drawing/2014/main" id="{764DDAB9-426D-75EA-EA09-BA9915199B5B}"/>
              </a:ext>
            </a:extLst>
          </p:cNvPr>
          <p:cNvSpPr>
            <a:spLocks noGrp="1"/>
          </p:cNvSpPr>
          <p:nvPr>
            <p:ph idx="1"/>
          </p:nvPr>
        </p:nvSpPr>
        <p:spPr>
          <a:xfrm>
            <a:off x="-32951" y="1899765"/>
            <a:ext cx="12224951" cy="4351338"/>
          </a:xfrm>
        </p:spPr>
        <p:txBody>
          <a:bodyPr>
            <a:normAutofit/>
          </a:bodyPr>
          <a:lstStyle/>
          <a:p>
            <a:pPr marL="0" indent="0" algn="l">
              <a:buNone/>
              <a:defRPr>
                <a:latin typeface="Aptos"/>
                <a:ea typeface="Aptos"/>
                <a:cs typeface="Aptos"/>
              </a:defRPr>
            </a:pPr>
            <a:r>
              <a:rPr dirty="0"/>
              <a:t>	Coding assignments: program </a:t>
            </a:r>
            <a:r>
              <a:rPr i="1" dirty="0">
                <a:latin typeface="Aptos"/>
                <a:ea typeface="Aptos"/>
                <a:cs typeface="Aptos"/>
              </a:rPr>
              <a:t>something</a:t>
            </a:r>
            <a:endParaRPr i="1" dirty="0"/>
          </a:p>
          <a:p>
            <a:pPr marL="0" indent="0">
              <a:buNone/>
              <a:defRPr>
                <a:latin typeface="Aptos"/>
                <a:ea typeface="Aptos"/>
                <a:cs typeface="Aptos"/>
              </a:defRPr>
            </a:pPr>
            <a:endParaRPr dirty="0"/>
          </a:p>
          <a:p>
            <a:pPr marL="0" indent="0" algn="l">
              <a:buNone/>
              <a:defRPr>
                <a:latin typeface="Aptos"/>
                <a:ea typeface="Aptos"/>
                <a:cs typeface="Aptos"/>
              </a:defRPr>
            </a:pPr>
            <a:r>
              <a:rPr dirty="0"/>
              <a:t>	During exercise hours</a:t>
            </a:r>
            <a:r>
              <a:rPr lang="it-IT" dirty="0"/>
              <a:t>:</a:t>
            </a:r>
            <a:endParaRPr lang="it-IT" sz="1800" dirty="0">
              <a:latin typeface="Aptos"/>
            </a:endParaRPr>
          </a:p>
          <a:p>
            <a:pPr lvl="3">
              <a:defRPr>
                <a:latin typeface="Aptos"/>
                <a:ea typeface="Aptos"/>
                <a:cs typeface="Aptos"/>
              </a:defRPr>
            </a:pPr>
            <a:r>
              <a:rPr sz="2600" dirty="0">
                <a:latin typeface="Aptos"/>
                <a:ea typeface="Aptos"/>
                <a:cs typeface="Aptos"/>
              </a:rPr>
              <a:t>07 October: Front-End (the 30th of October platform testing will be made)</a:t>
            </a:r>
            <a:endParaRPr lang="it-IT" sz="2600" dirty="0">
              <a:latin typeface="Aptos"/>
              <a:ea typeface="Aptos"/>
              <a:cs typeface="Aptos"/>
            </a:endParaRPr>
          </a:p>
          <a:p>
            <a:pPr lvl="3">
              <a:defRPr>
                <a:latin typeface="Aptos"/>
                <a:ea typeface="Aptos"/>
                <a:cs typeface="Aptos"/>
              </a:defRPr>
            </a:pPr>
            <a:r>
              <a:rPr sz="2600" dirty="0">
                <a:latin typeface="Aptos"/>
                <a:ea typeface="Aptos"/>
                <a:cs typeface="Aptos"/>
              </a:rPr>
              <a:t>11 November: Back-End</a:t>
            </a:r>
            <a:endParaRPr lang="it-IT" sz="2600" dirty="0">
              <a:latin typeface="Aptos"/>
              <a:ea typeface="Aptos"/>
              <a:cs typeface="Aptos"/>
            </a:endParaRPr>
          </a:p>
          <a:p>
            <a:pPr lvl="3">
              <a:defRPr>
                <a:latin typeface="Aptos"/>
                <a:ea typeface="Aptos"/>
                <a:cs typeface="Aptos"/>
              </a:defRPr>
            </a:pPr>
            <a:r>
              <a:rPr sz="2600" dirty="0">
                <a:latin typeface="Aptos"/>
                <a:ea typeface="Aptos"/>
                <a:cs typeface="Aptos"/>
              </a:rPr>
              <a:t>02 December: Security</a:t>
            </a:r>
          </a:p>
          <a:p>
            <a:pPr marL="0" indent="0">
              <a:buNone/>
              <a:defRPr>
                <a:latin typeface="Aptos"/>
                <a:ea typeface="Aptos"/>
                <a:cs typeface="Aptos"/>
              </a:defRPr>
            </a:pPr>
            <a:endParaRPr dirty="0"/>
          </a:p>
          <a:p>
            <a:pPr marL="0" indent="0" algn="l">
              <a:buNone/>
              <a:defRPr>
                <a:latin typeface="Aptos"/>
                <a:ea typeface="Aptos"/>
                <a:cs typeface="Aptos"/>
              </a:defRPr>
            </a:pPr>
            <a:r>
              <a:rPr dirty="0"/>
              <a:t>	Coding without AI</a:t>
            </a:r>
          </a:p>
        </p:txBody>
      </p:sp>
    </p:spTree>
    <p:extLst>
      <p:ext uri="{BB962C8B-B14F-4D97-AF65-F5344CB8AC3E}">
        <p14:creationId xmlns:p14="http://schemas.microsoft.com/office/powerpoint/2010/main" val="1270112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403D7-6883-5D07-C86F-513E5DCA8B56}"/>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Evaluation: Written Exam</a:t>
            </a:r>
          </a:p>
        </p:txBody>
      </p:sp>
      <p:sp>
        <p:nvSpPr>
          <p:cNvPr id="6" name="TextBox 5">
            <a:extLst>
              <a:ext uri="{FF2B5EF4-FFF2-40B4-BE49-F238E27FC236}">
                <a16:creationId xmlns:a16="http://schemas.microsoft.com/office/drawing/2014/main" id="{532A7145-6137-9486-1E35-4102C7EA8195}"/>
              </a:ext>
            </a:extLst>
          </p:cNvPr>
          <p:cNvSpPr>
            <a:spLocks noGrp="1"/>
          </p:cNvSpPr>
          <p:nvPr/>
        </p:nvSpPr>
        <p:spPr>
          <a:xfrm>
            <a:off x="838200" y="1919288"/>
            <a:ext cx="10924032" cy="2386609"/>
          </a:xfrm>
          <a:prstGeom prst="rect">
            <a:avLst/>
          </a:prstGeom>
          <a:noFill/>
        </p:spPr>
        <p:txBody>
          <a:bodyPr wrap="square">
            <a:spAutoFit/>
          </a:bodyPr>
          <a:lstStyle/>
          <a:p>
            <a:pPr marL="266700" indent="-152400" algn="l">
              <a:lnSpc>
                <a:spcPct val="108000"/>
              </a:lnSpc>
              <a:spcAft>
                <a:spcPts val="5"/>
              </a:spcAft>
              <a:buFont typeface="Wingdings"/>
              <a:buChar char="Ø"/>
              <a:defRPr>
                <a:latin typeface="Aptos"/>
                <a:ea typeface="Aptos"/>
                <a:cs typeface="Aptos"/>
              </a:defRPr>
            </a:pPr>
            <a:r>
              <a:rPr lang="it-IT" sz="3200" dirty="0">
                <a:latin typeface="Aptos"/>
                <a:ea typeface="Aptos"/>
                <a:cs typeface="Aptos"/>
              </a:rPr>
              <a:t> </a:t>
            </a:r>
            <a:r>
              <a:rPr sz="3200" dirty="0">
                <a:latin typeface="Aptos"/>
                <a:ea typeface="Aptos"/>
                <a:cs typeface="Aptos"/>
              </a:rPr>
              <a:t>2 hour written exam</a:t>
            </a:r>
            <a:endParaRPr sz="3200" dirty="0"/>
          </a:p>
          <a:p>
            <a:pPr lvl="2" algn="l">
              <a:buNone/>
              <a:defRPr>
                <a:latin typeface="Aptos"/>
                <a:ea typeface="Aptos"/>
                <a:cs typeface="Aptos"/>
              </a:defRPr>
            </a:pPr>
            <a:r>
              <a:rPr sz="2800" b="1" dirty="0">
                <a:latin typeface="Aptos"/>
                <a:ea typeface="Aptos"/>
                <a:cs typeface="Aptos"/>
              </a:rPr>
              <a:t>Part 1:</a:t>
            </a:r>
            <a:r>
              <a:rPr sz="2800" dirty="0">
                <a:latin typeface="Aptos"/>
                <a:ea typeface="Aptos"/>
                <a:cs typeface="Aptos"/>
              </a:rPr>
              <a:t> 30 min MCQ with multiple answers</a:t>
            </a:r>
            <a:endParaRPr sz="2800" dirty="0"/>
          </a:p>
          <a:p>
            <a:pPr lvl="2">
              <a:buNone/>
              <a:defRPr>
                <a:latin typeface="Aptos"/>
                <a:ea typeface="Aptos"/>
                <a:cs typeface="Aptos"/>
              </a:defRPr>
            </a:pPr>
            <a:endParaRPr sz="2800" dirty="0"/>
          </a:p>
          <a:p>
            <a:pPr lvl="2" algn="l">
              <a:buNone/>
              <a:defRPr>
                <a:latin typeface="Aptos"/>
                <a:ea typeface="Aptos"/>
                <a:cs typeface="Aptos"/>
              </a:defRPr>
            </a:pPr>
            <a:r>
              <a:rPr sz="2800" b="1" dirty="0">
                <a:latin typeface="Aptos"/>
                <a:ea typeface="Aptos"/>
                <a:cs typeface="Aptos"/>
              </a:rPr>
              <a:t>Part 2:</a:t>
            </a:r>
            <a:r>
              <a:rPr sz="2800" dirty="0">
                <a:latin typeface="Aptos"/>
                <a:ea typeface="Aptos"/>
                <a:cs typeface="Aptos"/>
              </a:rPr>
              <a:t> 1.5 hours open-ended questions</a:t>
            </a:r>
            <a:endParaRPr sz="2800" dirty="0"/>
          </a:p>
          <a:p>
            <a:pPr marL="1371600" lvl="2" indent="-457200">
              <a:buFont typeface="Wingdings"/>
              <a:buChar char="Ø"/>
              <a:defRPr>
                <a:latin typeface="Aptos"/>
                <a:ea typeface="Aptos"/>
                <a:cs typeface="Aptos"/>
              </a:defRPr>
            </a:pPr>
            <a:endParaRPr sz="3200" dirty="0"/>
          </a:p>
        </p:txBody>
      </p:sp>
    </p:spTree>
    <p:extLst>
      <p:ext uri="{BB962C8B-B14F-4D97-AF65-F5344CB8AC3E}">
        <p14:creationId xmlns:p14="http://schemas.microsoft.com/office/powerpoint/2010/main" val="668333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832A1-4E33-5B6A-3F54-120261638284}"/>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Evaluation: Written Exam</a:t>
            </a:r>
          </a:p>
        </p:txBody>
      </p:sp>
      <p:sp>
        <p:nvSpPr>
          <p:cNvPr id="6" name="TextBox 5">
            <a:extLst>
              <a:ext uri="{FF2B5EF4-FFF2-40B4-BE49-F238E27FC236}">
                <a16:creationId xmlns:a16="http://schemas.microsoft.com/office/drawing/2014/main" id="{DE4D8C52-7C3C-BD5B-1145-E88448D6DFB6}"/>
              </a:ext>
            </a:extLst>
          </p:cNvPr>
          <p:cNvSpPr>
            <a:spLocks noGrp="1"/>
          </p:cNvSpPr>
          <p:nvPr/>
        </p:nvSpPr>
        <p:spPr>
          <a:xfrm>
            <a:off x="0" y="1718064"/>
            <a:ext cx="10924032" cy="1692771"/>
          </a:xfrm>
          <a:prstGeom prst="rect">
            <a:avLst/>
          </a:prstGeom>
          <a:noFill/>
        </p:spPr>
        <p:txBody>
          <a:bodyPr wrap="square">
            <a:spAutoFit/>
          </a:bodyPr>
          <a:lstStyle/>
          <a:p>
            <a:pPr lvl="2" algn="l">
              <a:buNone/>
              <a:defRPr>
                <a:latin typeface="Aptos"/>
                <a:ea typeface="Aptos"/>
                <a:cs typeface="Aptos"/>
              </a:defRPr>
            </a:pPr>
            <a:r>
              <a:rPr sz="2600" b="1">
                <a:latin typeface="Aptos"/>
                <a:ea typeface="Aptos"/>
                <a:cs typeface="Aptos"/>
              </a:rPr>
              <a:t>Part 1:</a:t>
            </a:r>
            <a:r>
              <a:rPr sz="2600">
                <a:latin typeface="Aptos"/>
                <a:ea typeface="Aptos"/>
                <a:cs typeface="Aptos"/>
              </a:rPr>
              <a:t> MCQ with multiple answers</a:t>
            </a:r>
            <a:endParaRPr sz="2600"/>
          </a:p>
          <a:p>
            <a:pPr lvl="2">
              <a:buNone/>
              <a:defRPr>
                <a:latin typeface="Aptos"/>
                <a:ea typeface="Aptos"/>
                <a:cs typeface="Aptos"/>
              </a:defRPr>
            </a:pPr>
            <a:endParaRPr sz="2600"/>
          </a:p>
          <a:p>
            <a:pPr lvl="2" algn="l">
              <a:buNone/>
              <a:defRPr>
                <a:latin typeface="Aptos"/>
                <a:ea typeface="Aptos"/>
                <a:cs typeface="Aptos"/>
              </a:defRPr>
            </a:pPr>
            <a:r>
              <a:rPr sz="2600" b="1">
                <a:latin typeface="Aptos"/>
                <a:ea typeface="Aptos"/>
                <a:cs typeface="Aptos"/>
              </a:rPr>
              <a:t>No aids </a:t>
            </a:r>
          </a:p>
          <a:p>
            <a:pPr lvl="2" algn="l">
              <a:buNone/>
              <a:defRPr>
                <a:latin typeface="Aptos"/>
                <a:ea typeface="Aptos"/>
                <a:cs typeface="Aptos"/>
              </a:defRPr>
            </a:pPr>
            <a:r>
              <a:rPr sz="2600">
                <a:latin typeface="Aptos"/>
                <a:ea typeface="Aptos"/>
                <a:cs typeface="Aptos"/>
              </a:rPr>
              <a:t>Focus on course content: lectures and slides </a:t>
            </a:r>
          </a:p>
        </p:txBody>
      </p:sp>
    </p:spTree>
    <p:extLst>
      <p:ext uri="{BB962C8B-B14F-4D97-AF65-F5344CB8AC3E}">
        <p14:creationId xmlns:p14="http://schemas.microsoft.com/office/powerpoint/2010/main" val="2341250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DB592-ED45-D443-CA2F-5B82C38718D0}"/>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Evaluation: Written Exam</a:t>
            </a:r>
          </a:p>
        </p:txBody>
      </p:sp>
      <p:sp>
        <p:nvSpPr>
          <p:cNvPr id="6" name="TextBox 5">
            <a:extLst>
              <a:ext uri="{FF2B5EF4-FFF2-40B4-BE49-F238E27FC236}">
                <a16:creationId xmlns:a16="http://schemas.microsoft.com/office/drawing/2014/main" id="{0CD76835-655D-225B-D2AE-41582066AFD3}"/>
              </a:ext>
            </a:extLst>
          </p:cNvPr>
          <p:cNvSpPr>
            <a:spLocks noGrp="1"/>
          </p:cNvSpPr>
          <p:nvPr/>
        </p:nvSpPr>
        <p:spPr>
          <a:xfrm>
            <a:off x="0" y="1690687"/>
            <a:ext cx="12192000" cy="3693319"/>
          </a:xfrm>
          <a:prstGeom prst="rect">
            <a:avLst/>
          </a:prstGeom>
          <a:noFill/>
        </p:spPr>
        <p:txBody>
          <a:bodyPr wrap="square">
            <a:spAutoFit/>
          </a:bodyPr>
          <a:lstStyle/>
          <a:p>
            <a:pPr lvl="2" algn="l">
              <a:buNone/>
              <a:defRPr>
                <a:latin typeface="Aptos"/>
                <a:ea typeface="Aptos"/>
                <a:cs typeface="Aptos"/>
              </a:defRPr>
            </a:pPr>
            <a:r>
              <a:rPr sz="2600" b="1">
                <a:latin typeface="Aptos"/>
                <a:ea typeface="Aptos"/>
                <a:cs typeface="Aptos"/>
              </a:rPr>
              <a:t>Part 2:</a:t>
            </a:r>
            <a:r>
              <a:rPr sz="2600">
                <a:latin typeface="Aptos"/>
                <a:ea typeface="Aptos"/>
                <a:cs typeface="Aptos"/>
              </a:rPr>
              <a:t> Open-ended questions</a:t>
            </a:r>
            <a:endParaRPr sz="2600"/>
          </a:p>
          <a:p>
            <a:pPr lvl="2">
              <a:buNone/>
              <a:defRPr>
                <a:latin typeface="Aptos"/>
                <a:ea typeface="Aptos"/>
                <a:cs typeface="Aptos"/>
              </a:defRPr>
            </a:pPr>
            <a:endParaRPr sz="2600"/>
          </a:p>
          <a:p>
            <a:pPr lvl="2" algn="l">
              <a:buNone/>
              <a:defRPr>
                <a:latin typeface="Aptos"/>
                <a:ea typeface="Aptos"/>
                <a:cs typeface="Aptos"/>
              </a:defRPr>
            </a:pPr>
            <a:r>
              <a:rPr sz="2600">
                <a:latin typeface="Aptos"/>
                <a:ea typeface="Aptos"/>
                <a:cs typeface="Aptos"/>
              </a:rPr>
              <a:t>Aids: Everything but no online and no AI</a:t>
            </a:r>
          </a:p>
          <a:p>
            <a:pPr lvl="2" algn="l">
              <a:buNone/>
              <a:defRPr>
                <a:latin typeface="Aptos"/>
                <a:ea typeface="Aptos"/>
                <a:cs typeface="Aptos"/>
              </a:defRPr>
            </a:pPr>
            <a:r>
              <a:rPr sz="2600">
                <a:latin typeface="Aptos"/>
                <a:ea typeface="Aptos"/>
                <a:cs typeface="Aptos"/>
              </a:rPr>
              <a:t>Skills to build a Web Application</a:t>
            </a:r>
          </a:p>
          <a:p>
            <a:pPr lvl="2" algn="l">
              <a:buNone/>
              <a:defRPr>
                <a:latin typeface="Aptos"/>
                <a:ea typeface="Aptos"/>
                <a:cs typeface="Aptos"/>
              </a:defRPr>
            </a:pPr>
            <a:r>
              <a:rPr sz="2600">
                <a:latin typeface="Aptos"/>
                <a:ea typeface="Aptos"/>
                <a:cs typeface="Aptos"/>
              </a:rPr>
              <a:t>	Motivation/Requirements: e.g., why build one in the first place?</a:t>
            </a:r>
          </a:p>
          <a:p>
            <a:pPr lvl="2" algn="l">
              <a:buNone/>
              <a:defRPr>
                <a:latin typeface="Aptos"/>
                <a:ea typeface="Aptos"/>
                <a:cs typeface="Aptos"/>
              </a:defRPr>
            </a:pPr>
            <a:r>
              <a:rPr sz="2600">
                <a:latin typeface="Aptos"/>
                <a:ea typeface="Aptos"/>
                <a:cs typeface="Aptos"/>
              </a:rPr>
              <a:t>	Theory  &lt;==&gt; Code: e.g., why and how to secure passords?</a:t>
            </a:r>
          </a:p>
          <a:p>
            <a:pPr lvl="2" algn="l">
              <a:buNone/>
              <a:defRPr>
                <a:latin typeface="Aptos"/>
                <a:ea typeface="Aptos"/>
                <a:cs typeface="Aptos"/>
              </a:defRPr>
            </a:pPr>
            <a:r>
              <a:rPr sz="2600">
                <a:latin typeface="Aptos"/>
                <a:ea typeface="Aptos"/>
                <a:cs typeface="Aptos"/>
              </a:rPr>
              <a:t>	Non-functional requirements: e.g., how to measure performance?</a:t>
            </a:r>
          </a:p>
          <a:p>
            <a:pPr lvl="2">
              <a:buNone/>
              <a:defRPr>
                <a:latin typeface="Aptos"/>
                <a:ea typeface="Aptos"/>
                <a:cs typeface="Aptos"/>
              </a:defRPr>
            </a:pPr>
            <a:endParaRPr sz="2600"/>
          </a:p>
          <a:p>
            <a:pPr lvl="2">
              <a:buNone/>
              <a:defRPr>
                <a:latin typeface="Aptos"/>
                <a:ea typeface="Aptos"/>
                <a:cs typeface="Aptos"/>
              </a:defRPr>
            </a:pPr>
            <a:endParaRPr sz="2600"/>
          </a:p>
        </p:txBody>
      </p:sp>
    </p:spTree>
    <p:extLst>
      <p:ext uri="{BB962C8B-B14F-4D97-AF65-F5344CB8AC3E}">
        <p14:creationId xmlns:p14="http://schemas.microsoft.com/office/powerpoint/2010/main" val="3836416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73BAD-CE43-886A-503C-C8778E5E0DC6}"/>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Evaluation: Written Exam</a:t>
            </a:r>
          </a:p>
        </p:txBody>
      </p:sp>
      <p:sp>
        <p:nvSpPr>
          <p:cNvPr id="6" name="TextBox 5">
            <a:extLst>
              <a:ext uri="{FF2B5EF4-FFF2-40B4-BE49-F238E27FC236}">
                <a16:creationId xmlns:a16="http://schemas.microsoft.com/office/drawing/2014/main" id="{9206F76B-E690-B3D7-E5DE-A44CED6CFB91}"/>
              </a:ext>
            </a:extLst>
          </p:cNvPr>
          <p:cNvSpPr>
            <a:spLocks noGrp="1"/>
          </p:cNvSpPr>
          <p:nvPr/>
        </p:nvSpPr>
        <p:spPr>
          <a:xfrm>
            <a:off x="0" y="1690687"/>
            <a:ext cx="12192000" cy="4093428"/>
          </a:xfrm>
          <a:prstGeom prst="rect">
            <a:avLst/>
          </a:prstGeom>
          <a:noFill/>
        </p:spPr>
        <p:txBody>
          <a:bodyPr wrap="square">
            <a:spAutoFit/>
          </a:bodyPr>
          <a:lstStyle/>
          <a:p>
            <a:pPr lvl="2" algn="l">
              <a:buNone/>
              <a:defRPr>
                <a:latin typeface="Aptos"/>
                <a:ea typeface="Aptos"/>
                <a:cs typeface="Aptos"/>
              </a:defRPr>
            </a:pPr>
            <a:r>
              <a:rPr sz="2600" b="1">
                <a:latin typeface="Aptos"/>
                <a:ea typeface="Aptos"/>
                <a:cs typeface="Aptos"/>
              </a:rPr>
              <a:t>Part 2:</a:t>
            </a:r>
            <a:r>
              <a:rPr sz="2600">
                <a:latin typeface="Aptos"/>
                <a:ea typeface="Aptos"/>
                <a:cs typeface="Aptos"/>
              </a:rPr>
              <a:t> Open-ended questions</a:t>
            </a:r>
            <a:endParaRPr sz="2600"/>
          </a:p>
          <a:p>
            <a:pPr lvl="2">
              <a:buNone/>
              <a:defRPr>
                <a:latin typeface="Aptos"/>
                <a:ea typeface="Aptos"/>
                <a:cs typeface="Aptos"/>
              </a:defRPr>
            </a:pPr>
            <a:endParaRPr sz="2600"/>
          </a:p>
          <a:p>
            <a:pPr lvl="2" algn="l">
              <a:buNone/>
              <a:defRPr>
                <a:latin typeface="Aptos"/>
                <a:ea typeface="Aptos"/>
                <a:cs typeface="Aptos"/>
              </a:defRPr>
            </a:pPr>
            <a:r>
              <a:rPr sz="2600">
                <a:latin typeface="Aptos"/>
                <a:ea typeface="Aptos"/>
                <a:cs typeface="Aptos"/>
              </a:rPr>
              <a:t>Aids: Everything but no online and no AI</a:t>
            </a:r>
          </a:p>
          <a:p>
            <a:pPr lvl="2" algn="l">
              <a:buNone/>
              <a:defRPr>
                <a:latin typeface="Aptos"/>
                <a:ea typeface="Aptos"/>
                <a:cs typeface="Aptos"/>
              </a:defRPr>
            </a:pPr>
            <a:r>
              <a:rPr sz="2600">
                <a:latin typeface="Aptos"/>
                <a:ea typeface="Aptos"/>
                <a:cs typeface="Aptos"/>
              </a:rPr>
              <a:t>Skills to build a Web Application: Project Assignment</a:t>
            </a:r>
            <a:endParaRPr sz="2600"/>
          </a:p>
          <a:p>
            <a:pPr lvl="2" algn="l">
              <a:buNone/>
              <a:defRPr>
                <a:latin typeface="Aptos"/>
                <a:ea typeface="Aptos"/>
                <a:cs typeface="Aptos"/>
              </a:defRPr>
            </a:pPr>
            <a:r>
              <a:rPr sz="2600">
                <a:latin typeface="Aptos"/>
                <a:ea typeface="Aptos"/>
                <a:cs typeface="Aptos"/>
              </a:rPr>
              <a:t>	Design and Implement MVC Type of application (using Laravel)</a:t>
            </a:r>
          </a:p>
          <a:p>
            <a:pPr lvl="2" algn="l">
              <a:buNone/>
              <a:defRPr>
                <a:latin typeface="Aptos"/>
                <a:ea typeface="Aptos"/>
                <a:cs typeface="Aptos"/>
              </a:defRPr>
            </a:pPr>
            <a:r>
              <a:rPr sz="2600">
                <a:latin typeface="Aptos"/>
                <a:ea typeface="Aptos"/>
                <a:cs typeface="Aptos"/>
              </a:rPr>
              <a:t>	Topic: anything, but good for MVC</a:t>
            </a:r>
          </a:p>
          <a:p>
            <a:pPr lvl="2" algn="l">
              <a:buNone/>
              <a:defRPr>
                <a:latin typeface="Aptos"/>
                <a:ea typeface="Aptos"/>
                <a:cs typeface="Aptos"/>
              </a:defRPr>
            </a:pPr>
            <a:r>
              <a:rPr sz="2600">
                <a:latin typeface="Aptos"/>
                <a:ea typeface="Aptos"/>
                <a:cs typeface="Aptos"/>
              </a:rPr>
              <a:t>	 	Music library, Videogame library, restaurant system, …</a:t>
            </a:r>
          </a:p>
          <a:p>
            <a:pPr lvl="2" algn="l">
              <a:buNone/>
              <a:defRPr>
                <a:latin typeface="Aptos"/>
                <a:ea typeface="Aptos"/>
                <a:cs typeface="Aptos"/>
              </a:defRPr>
            </a:pPr>
            <a:r>
              <a:rPr sz="2600">
                <a:latin typeface="Aptos"/>
                <a:ea typeface="Aptos"/>
                <a:cs typeface="Aptos"/>
              </a:rPr>
              <a:t>		You can ask Rebecca and TAs for assistance choosing the topic</a:t>
            </a:r>
            <a:endParaRPr sz="2600"/>
          </a:p>
          <a:p>
            <a:pPr lvl="2" algn="l">
              <a:buNone/>
              <a:defRPr>
                <a:latin typeface="Aptos"/>
                <a:ea typeface="Aptos"/>
                <a:cs typeface="Aptos"/>
              </a:defRPr>
            </a:pPr>
            <a:r>
              <a:rPr sz="2600">
                <a:latin typeface="Aptos"/>
                <a:ea typeface="Aptos"/>
                <a:cs typeface="Aptos"/>
              </a:rPr>
              <a:t>	You can work by yourself or in pairs</a:t>
            </a:r>
          </a:p>
          <a:p>
            <a:pPr lvl="2" algn="l">
              <a:buNone/>
              <a:defRPr>
                <a:latin typeface="Aptos"/>
                <a:ea typeface="Aptos"/>
                <a:cs typeface="Aptos"/>
              </a:defRPr>
            </a:pPr>
            <a:r>
              <a:rPr sz="2600">
                <a:latin typeface="Aptos"/>
                <a:ea typeface="Aptos"/>
                <a:cs typeface="Aptos"/>
              </a:rPr>
              <a:t>	</a:t>
            </a:r>
            <a:endParaRPr sz="2600"/>
          </a:p>
        </p:txBody>
      </p:sp>
    </p:spTree>
    <p:extLst>
      <p:ext uri="{BB962C8B-B14F-4D97-AF65-F5344CB8AC3E}">
        <p14:creationId xmlns:p14="http://schemas.microsoft.com/office/powerpoint/2010/main" val="1832471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81112-E392-3579-C6AC-E7A504E2C463}"/>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Evaluation: Written Exam</a:t>
            </a:r>
          </a:p>
        </p:txBody>
      </p:sp>
      <p:sp>
        <p:nvSpPr>
          <p:cNvPr id="6" name="TextBox 5">
            <a:extLst>
              <a:ext uri="{FF2B5EF4-FFF2-40B4-BE49-F238E27FC236}">
                <a16:creationId xmlns:a16="http://schemas.microsoft.com/office/drawing/2014/main" id="{4477B0C8-606F-C581-9862-F5C0E5725E20}"/>
              </a:ext>
            </a:extLst>
          </p:cNvPr>
          <p:cNvSpPr>
            <a:spLocks noGrp="1"/>
          </p:cNvSpPr>
          <p:nvPr/>
        </p:nvSpPr>
        <p:spPr>
          <a:xfrm>
            <a:off x="0" y="1690687"/>
            <a:ext cx="12192000" cy="2092881"/>
          </a:xfrm>
          <a:prstGeom prst="rect">
            <a:avLst/>
          </a:prstGeom>
          <a:noFill/>
        </p:spPr>
        <p:txBody>
          <a:bodyPr wrap="square">
            <a:spAutoFit/>
          </a:bodyPr>
          <a:lstStyle/>
          <a:p>
            <a:pPr lvl="2" algn="l">
              <a:buNone/>
              <a:defRPr>
                <a:latin typeface="Aptos"/>
                <a:ea typeface="Aptos"/>
                <a:cs typeface="Aptos"/>
              </a:defRPr>
            </a:pPr>
            <a:r>
              <a:rPr sz="2600" b="1">
                <a:latin typeface="Aptos"/>
                <a:ea typeface="Aptos"/>
                <a:cs typeface="Aptos"/>
              </a:rPr>
              <a:t>Part 2:</a:t>
            </a:r>
            <a:r>
              <a:rPr sz="2600">
                <a:latin typeface="Aptos"/>
                <a:ea typeface="Aptos"/>
                <a:cs typeface="Aptos"/>
              </a:rPr>
              <a:t> Open-ended questions</a:t>
            </a:r>
            <a:endParaRPr sz="2600"/>
          </a:p>
          <a:p>
            <a:pPr lvl="2">
              <a:buNone/>
              <a:defRPr>
                <a:latin typeface="Aptos"/>
                <a:ea typeface="Aptos"/>
                <a:cs typeface="Aptos"/>
              </a:defRPr>
            </a:pPr>
            <a:endParaRPr sz="2600"/>
          </a:p>
          <a:p>
            <a:pPr lvl="2" algn="l">
              <a:buNone/>
              <a:defRPr>
                <a:latin typeface="Aptos"/>
                <a:ea typeface="Aptos"/>
                <a:cs typeface="Aptos"/>
              </a:defRPr>
            </a:pPr>
            <a:r>
              <a:rPr sz="2600">
                <a:latin typeface="Aptos"/>
                <a:ea typeface="Aptos"/>
                <a:cs typeface="Aptos"/>
              </a:rPr>
              <a:t>Aids: Everything but no online and no AI</a:t>
            </a:r>
          </a:p>
          <a:p>
            <a:pPr lvl="2" algn="l">
              <a:buNone/>
              <a:defRPr>
                <a:latin typeface="Aptos"/>
                <a:ea typeface="Aptos"/>
                <a:cs typeface="Aptos"/>
              </a:defRPr>
            </a:pPr>
            <a:r>
              <a:rPr sz="2600">
                <a:latin typeface="Aptos"/>
                <a:ea typeface="Aptos"/>
                <a:cs typeface="Aptos"/>
              </a:rPr>
              <a:t>Project</a:t>
            </a:r>
          </a:p>
          <a:p>
            <a:pPr lvl="2" algn="l">
              <a:buNone/>
              <a:defRPr>
                <a:latin typeface="Aptos"/>
                <a:ea typeface="Aptos"/>
                <a:cs typeface="Aptos"/>
              </a:defRPr>
            </a:pPr>
            <a:r>
              <a:rPr sz="2600">
                <a:latin typeface="Aptos"/>
                <a:ea typeface="Aptos"/>
                <a:cs typeface="Aptos"/>
              </a:rPr>
              <a:t>	Questions combine course topics and (your) web application</a:t>
            </a:r>
            <a:endParaRPr sz="2600"/>
          </a:p>
        </p:txBody>
      </p:sp>
    </p:spTree>
    <p:extLst>
      <p:ext uri="{BB962C8B-B14F-4D97-AF65-F5344CB8AC3E}">
        <p14:creationId xmlns:p14="http://schemas.microsoft.com/office/powerpoint/2010/main" val="3925904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F0E9A-4949-8F23-A029-6774F2594386}"/>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Evaluation</a:t>
            </a:r>
          </a:p>
        </p:txBody>
      </p:sp>
      <p:sp>
        <p:nvSpPr>
          <p:cNvPr id="6" name="TextBox 5">
            <a:extLst>
              <a:ext uri="{FF2B5EF4-FFF2-40B4-BE49-F238E27FC236}">
                <a16:creationId xmlns:a16="http://schemas.microsoft.com/office/drawing/2014/main" id="{946A9939-7391-9722-BCA4-0144835C41B6}"/>
              </a:ext>
            </a:extLst>
          </p:cNvPr>
          <p:cNvSpPr>
            <a:spLocks noGrp="1"/>
          </p:cNvSpPr>
          <p:nvPr/>
        </p:nvSpPr>
        <p:spPr>
          <a:xfrm>
            <a:off x="838200" y="1919288"/>
            <a:ext cx="10924032" cy="5304914"/>
          </a:xfrm>
          <a:prstGeom prst="rect">
            <a:avLst/>
          </a:prstGeom>
          <a:noFill/>
        </p:spPr>
        <p:txBody>
          <a:bodyPr wrap="square">
            <a:spAutoFit/>
          </a:bodyPr>
          <a:lstStyle/>
          <a:p>
            <a:pPr marL="266700" indent="-152400" algn="l">
              <a:lnSpc>
                <a:spcPct val="108000"/>
              </a:lnSpc>
              <a:spcAft>
                <a:spcPts val="5"/>
              </a:spcAft>
              <a:buFont typeface="Wingdings"/>
              <a:buChar char="Ø"/>
              <a:defRPr>
                <a:latin typeface="Aptos"/>
                <a:ea typeface="Aptos"/>
                <a:cs typeface="Aptos"/>
              </a:defRPr>
            </a:pPr>
            <a:r>
              <a:rPr lang="en-GB" sz="2800" dirty="0">
                <a:latin typeface="Aptos"/>
                <a:ea typeface="Aptos"/>
                <a:cs typeface="Aptos"/>
              </a:rPr>
              <a:t> Graded Assignments</a:t>
            </a:r>
            <a:endParaRPr sz="2800" dirty="0"/>
          </a:p>
          <a:p>
            <a:pPr algn="l">
              <a:buNone/>
              <a:defRPr>
                <a:latin typeface="Aptos"/>
                <a:ea typeface="Aptos"/>
                <a:cs typeface="Aptos"/>
              </a:defRPr>
            </a:pPr>
            <a:r>
              <a:rPr sz="2600" dirty="0">
                <a:latin typeface="Aptos"/>
                <a:ea typeface="Aptos"/>
                <a:cs typeface="Aptos"/>
              </a:rPr>
              <a:t>	Coding Skills</a:t>
            </a:r>
            <a:endParaRPr sz="2600" dirty="0"/>
          </a:p>
          <a:p>
            <a:pPr>
              <a:buNone/>
              <a:defRPr>
                <a:latin typeface="Aptos"/>
                <a:ea typeface="Aptos"/>
                <a:cs typeface="Aptos"/>
              </a:defRPr>
            </a:pPr>
            <a:endParaRPr sz="2800" dirty="0"/>
          </a:p>
          <a:p>
            <a:pPr marL="266700" indent="-152400" algn="l">
              <a:lnSpc>
                <a:spcPct val="108000"/>
              </a:lnSpc>
              <a:spcAft>
                <a:spcPts val="5"/>
              </a:spcAft>
              <a:buFont typeface="Wingdings"/>
              <a:buChar char="Ø"/>
              <a:defRPr>
                <a:latin typeface="Aptos"/>
                <a:ea typeface="Aptos"/>
                <a:cs typeface="Aptos"/>
              </a:defRPr>
            </a:pPr>
            <a:r>
              <a:rPr lang="it-IT" sz="2800" dirty="0">
                <a:latin typeface="Aptos"/>
                <a:ea typeface="Aptos"/>
                <a:cs typeface="Aptos"/>
              </a:rPr>
              <a:t> </a:t>
            </a:r>
            <a:r>
              <a:rPr sz="2800" dirty="0">
                <a:latin typeface="Aptos"/>
                <a:ea typeface="Aptos"/>
                <a:cs typeface="Aptos"/>
              </a:rPr>
              <a:t>Written Exam</a:t>
            </a:r>
            <a:endParaRPr sz="2800" dirty="0"/>
          </a:p>
          <a:p>
            <a:pPr algn="l">
              <a:buNone/>
              <a:defRPr>
                <a:latin typeface="Aptos"/>
                <a:ea typeface="Aptos"/>
                <a:cs typeface="Aptos"/>
              </a:defRPr>
            </a:pPr>
            <a:r>
              <a:rPr sz="2600" dirty="0">
                <a:latin typeface="Aptos"/>
                <a:ea typeface="Aptos"/>
                <a:cs typeface="Aptos"/>
              </a:rPr>
              <a:t>	Theory and Coding Knowledge</a:t>
            </a:r>
          </a:p>
          <a:p>
            <a:pPr marL="457200" indent="-457200">
              <a:buFont typeface="Wingdings"/>
              <a:buChar char="Ø"/>
              <a:defRPr>
                <a:latin typeface="Aptos"/>
                <a:ea typeface="Aptos"/>
                <a:cs typeface="Aptos"/>
              </a:defRPr>
            </a:pPr>
            <a:endParaRPr sz="2800" dirty="0"/>
          </a:p>
          <a:p>
            <a:pPr marL="266700" indent="-152400" algn="l">
              <a:lnSpc>
                <a:spcPct val="108000"/>
              </a:lnSpc>
              <a:spcAft>
                <a:spcPts val="5"/>
              </a:spcAft>
              <a:buFont typeface="Wingdings"/>
              <a:buChar char="Ø"/>
              <a:defRPr>
                <a:latin typeface="Aptos"/>
                <a:ea typeface="Aptos"/>
                <a:cs typeface="Aptos"/>
              </a:defRPr>
            </a:pPr>
            <a:r>
              <a:rPr lang="it-IT" sz="2800" dirty="0">
                <a:latin typeface="Aptos"/>
                <a:ea typeface="Aptos"/>
                <a:cs typeface="Aptos"/>
              </a:rPr>
              <a:t> </a:t>
            </a:r>
            <a:r>
              <a:rPr sz="2800" dirty="0">
                <a:latin typeface="Aptos"/>
                <a:ea typeface="Aptos"/>
                <a:cs typeface="Aptos"/>
              </a:rPr>
              <a:t>Final Grade: Overall Assessment</a:t>
            </a:r>
            <a:endParaRPr sz="2800" dirty="0"/>
          </a:p>
          <a:p>
            <a:pPr marL="457200" indent="-457200">
              <a:buFont typeface="Wingdings"/>
              <a:buChar char="Ø"/>
              <a:defRPr>
                <a:latin typeface="Aptos"/>
                <a:ea typeface="Aptos"/>
                <a:cs typeface="Aptos"/>
              </a:defRPr>
            </a:pPr>
            <a:endParaRPr sz="2800" dirty="0"/>
          </a:p>
          <a:p>
            <a:pPr lvl="1" algn="l">
              <a:buNone/>
              <a:defRPr>
                <a:latin typeface="Aptos"/>
                <a:ea typeface="Aptos"/>
                <a:cs typeface="Aptos"/>
              </a:defRPr>
            </a:pPr>
            <a:r>
              <a:rPr sz="2800" dirty="0">
                <a:latin typeface="Aptos"/>
                <a:ea typeface="Aptos"/>
                <a:cs typeface="Aptos"/>
              </a:rPr>
              <a:t>	</a:t>
            </a:r>
          </a:p>
          <a:p>
            <a:pPr lvl="1">
              <a:buNone/>
              <a:defRPr>
                <a:latin typeface="Aptos"/>
                <a:ea typeface="Aptos"/>
                <a:cs typeface="Aptos"/>
              </a:defRPr>
            </a:pPr>
            <a:endParaRPr sz="2800" dirty="0"/>
          </a:p>
          <a:p>
            <a:pPr lvl="1">
              <a:buNone/>
              <a:defRPr>
                <a:latin typeface="Aptos"/>
                <a:ea typeface="Aptos"/>
                <a:cs typeface="Aptos"/>
              </a:defRPr>
            </a:pPr>
            <a:endParaRPr sz="2800" dirty="0"/>
          </a:p>
          <a:p>
            <a:pPr lvl="2">
              <a:buNone/>
              <a:defRPr>
                <a:latin typeface="Aptos"/>
                <a:ea typeface="Aptos"/>
                <a:cs typeface="Aptos"/>
              </a:defRPr>
            </a:pPr>
            <a:endParaRPr sz="2800" dirty="0"/>
          </a:p>
        </p:txBody>
      </p:sp>
    </p:spTree>
    <p:extLst>
      <p:ext uri="{BB962C8B-B14F-4D97-AF65-F5344CB8AC3E}">
        <p14:creationId xmlns:p14="http://schemas.microsoft.com/office/powerpoint/2010/main" val="830692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B50B7-3373-6655-2307-1D79B879D9BA}"/>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35">
                <a:latin typeface="Aptos Display"/>
                <a:ea typeface="Aptos Display"/>
                <a:cs typeface="Aptos Display"/>
              </a:rPr>
              <a:t>Evaluation:</a:t>
            </a:r>
            <a:r>
              <a:rPr spc="-185">
                <a:latin typeface="Aptos Display"/>
                <a:ea typeface="Aptos Display"/>
                <a:cs typeface="Aptos Display"/>
              </a:rPr>
              <a:t> Web Development</a:t>
            </a:r>
            <a:endParaRPr/>
          </a:p>
        </p:txBody>
      </p:sp>
      <p:sp>
        <p:nvSpPr>
          <p:cNvPr id="4" name="object 2">
            <a:extLst>
              <a:ext uri="{FF2B5EF4-FFF2-40B4-BE49-F238E27FC236}">
                <a16:creationId xmlns:a16="http://schemas.microsoft.com/office/drawing/2014/main" id="{32A45C64-2C1D-E03B-D890-411297ED62F7}"/>
              </a:ext>
            </a:extLst>
          </p:cNvPr>
          <p:cNvSpPr>
            <a:spLocks noGrp="1"/>
          </p:cNvSpPr>
          <p:nvPr/>
        </p:nvSpPr>
        <p:spPr>
          <a:xfrm>
            <a:off x="917575" y="1198943"/>
            <a:ext cx="10458450" cy="2724079"/>
          </a:xfrm>
          <a:prstGeom prst="rect">
            <a:avLst/>
          </a:prstGeom>
        </p:spPr>
        <p:txBody>
          <a:bodyPr vert="horz" wrap="square" lIns="0" tIns="107950" rIns="0" bIns="0">
            <a:spAutoFit/>
          </a:bodyPr>
          <a:lstStyle/>
          <a:p>
            <a:pPr marL="12700" algn="l">
              <a:lnSpc>
                <a:spcPct val="100000"/>
              </a:lnSpc>
              <a:spcBef>
                <a:spcPts val="850"/>
              </a:spcBef>
              <a:buNone/>
              <a:defRPr>
                <a:latin typeface="Aptos"/>
                <a:ea typeface="Aptos"/>
                <a:cs typeface="Aptos"/>
              </a:defRPr>
            </a:pPr>
            <a:r>
              <a:rPr sz="2750" b="1" spc="-10" dirty="0">
                <a:latin typeface="Aptos"/>
                <a:ea typeface="Aptos"/>
                <a:cs typeface="Aptos"/>
              </a:rPr>
              <a:t>Grading</a:t>
            </a:r>
            <a:endParaRPr sz="2750" b="1" dirty="0">
              <a:latin typeface="Calibri"/>
              <a:ea typeface="Calibri"/>
              <a:cs typeface="Calibri"/>
            </a:endParaRPr>
          </a:p>
          <a:p>
            <a:pPr marL="266700" indent="-152400" algn="l">
              <a:lnSpc>
                <a:spcPct val="108000"/>
              </a:lnSpc>
              <a:spcBef>
                <a:spcPts val="755"/>
              </a:spcBef>
              <a:spcAft>
                <a:spcPts val="5"/>
              </a:spcAft>
              <a:buFont typeface="Wingdings"/>
              <a:buChar char="Ø"/>
              <a:defRPr>
                <a:latin typeface="Aptos"/>
                <a:ea typeface="Aptos"/>
                <a:cs typeface="Aptos"/>
              </a:defRPr>
            </a:pPr>
            <a:r>
              <a:rPr lang="it-IT" sz="2750" dirty="0">
                <a:latin typeface="Aptos"/>
                <a:ea typeface="Aptos"/>
                <a:cs typeface="Aptos"/>
              </a:rPr>
              <a:t> </a:t>
            </a:r>
            <a:r>
              <a:rPr sz="2750" dirty="0">
                <a:latin typeface="Aptos"/>
                <a:ea typeface="Aptos"/>
                <a:cs typeface="Aptos"/>
              </a:rPr>
              <a:t>Working</a:t>
            </a:r>
            <a:r>
              <a:rPr sz="2750" spc="85" dirty="0">
                <a:latin typeface="Aptos"/>
                <a:ea typeface="Aptos"/>
                <a:cs typeface="Aptos"/>
              </a:rPr>
              <a:t> </a:t>
            </a:r>
            <a:r>
              <a:rPr sz="2750" dirty="0">
                <a:latin typeface="Aptos"/>
                <a:ea typeface="Aptos"/>
                <a:cs typeface="Aptos"/>
              </a:rPr>
              <a:t>web</a:t>
            </a:r>
            <a:r>
              <a:rPr sz="2750" spc="25" dirty="0">
                <a:latin typeface="Aptos"/>
                <a:ea typeface="Aptos"/>
                <a:cs typeface="Aptos"/>
              </a:rPr>
              <a:t> </a:t>
            </a:r>
            <a:r>
              <a:rPr sz="2750" spc="-70" dirty="0">
                <a:latin typeface="Aptos"/>
                <a:ea typeface="Aptos"/>
                <a:cs typeface="Aptos"/>
              </a:rPr>
              <a:t>application</a:t>
            </a:r>
            <a:r>
              <a:rPr sz="2750" spc="45" dirty="0">
                <a:latin typeface="Aptos"/>
                <a:ea typeface="Aptos"/>
                <a:cs typeface="Aptos"/>
              </a:rPr>
              <a:t> </a:t>
            </a:r>
            <a:r>
              <a:rPr sz="2750" spc="65" dirty="0">
                <a:latin typeface="Aptos"/>
                <a:ea typeface="Aptos"/>
                <a:cs typeface="Aptos"/>
              </a:rPr>
              <a:t>+</a:t>
            </a:r>
            <a:r>
              <a:rPr sz="2750" spc="30" dirty="0">
                <a:latin typeface="Aptos"/>
                <a:ea typeface="Aptos"/>
                <a:cs typeface="Aptos"/>
              </a:rPr>
              <a:t> </a:t>
            </a:r>
            <a:r>
              <a:rPr sz="2750" spc="-10" dirty="0">
                <a:latin typeface="Aptos"/>
                <a:ea typeface="Aptos"/>
                <a:cs typeface="Aptos"/>
              </a:rPr>
              <a:t>Hands-in </a:t>
            </a:r>
            <a:r>
              <a:rPr sz="2750" spc="-10" dirty="0" err="1">
                <a:latin typeface="Aptos"/>
                <a:ea typeface="Aptos"/>
                <a:cs typeface="Aptos"/>
              </a:rPr>
              <a:t>Assigments</a:t>
            </a:r>
            <a:endParaRPr sz="2750" dirty="0">
              <a:latin typeface="Calibri"/>
              <a:ea typeface="Calibri"/>
              <a:cs typeface="Calibri"/>
            </a:endParaRPr>
          </a:p>
          <a:p>
            <a:pPr marL="266700" indent="-152400" algn="l">
              <a:lnSpc>
                <a:spcPct val="108000"/>
              </a:lnSpc>
              <a:spcBef>
                <a:spcPts val="755"/>
              </a:spcBef>
              <a:spcAft>
                <a:spcPts val="5"/>
              </a:spcAft>
              <a:buFont typeface="Wingdings"/>
              <a:buChar char="Ø"/>
              <a:defRPr>
                <a:latin typeface="Aptos"/>
                <a:ea typeface="Aptos"/>
                <a:cs typeface="Aptos"/>
              </a:defRPr>
            </a:pPr>
            <a:r>
              <a:rPr lang="it-IT" sz="2750" spc="-75" dirty="0">
                <a:latin typeface="Aptos"/>
                <a:ea typeface="Aptos"/>
                <a:cs typeface="Aptos"/>
              </a:rPr>
              <a:t> </a:t>
            </a:r>
            <a:r>
              <a:rPr sz="2750" spc="-75" dirty="0">
                <a:latin typeface="Aptos"/>
                <a:ea typeface="Aptos"/>
                <a:cs typeface="Aptos"/>
              </a:rPr>
              <a:t>Final</a:t>
            </a:r>
            <a:r>
              <a:rPr sz="2750" spc="65" dirty="0">
                <a:latin typeface="Aptos"/>
                <a:ea typeface="Aptos"/>
                <a:cs typeface="Aptos"/>
              </a:rPr>
              <a:t> </a:t>
            </a:r>
            <a:r>
              <a:rPr sz="2750" spc="-100" dirty="0">
                <a:latin typeface="Aptos"/>
                <a:ea typeface="Aptos"/>
                <a:cs typeface="Aptos"/>
              </a:rPr>
              <a:t>grade:</a:t>
            </a:r>
            <a:r>
              <a:rPr sz="2750" spc="175" dirty="0">
                <a:latin typeface="Aptos"/>
                <a:ea typeface="Aptos"/>
                <a:cs typeface="Aptos"/>
              </a:rPr>
              <a:t> 8</a:t>
            </a:r>
            <a:r>
              <a:rPr sz="2750" dirty="0">
                <a:latin typeface="Aptos"/>
                <a:ea typeface="Aptos"/>
                <a:cs typeface="Aptos"/>
              </a:rPr>
              <a:t>0%</a:t>
            </a:r>
            <a:r>
              <a:rPr sz="2750" spc="80" dirty="0">
                <a:latin typeface="Aptos"/>
                <a:ea typeface="Aptos"/>
                <a:cs typeface="Aptos"/>
              </a:rPr>
              <a:t> Final </a:t>
            </a:r>
            <a:r>
              <a:rPr sz="2750" dirty="0">
                <a:latin typeface="Aptos"/>
                <a:ea typeface="Aptos"/>
                <a:cs typeface="Aptos"/>
              </a:rPr>
              <a:t>Written Exam (20% MCQ + 60% of open </a:t>
            </a:r>
            <a:r>
              <a:rPr lang="it-IT" sz="2750" dirty="0">
                <a:latin typeface="Aptos"/>
                <a:ea typeface="Aptos"/>
                <a:cs typeface="Aptos"/>
              </a:rPr>
              <a:t> </a:t>
            </a:r>
            <a:r>
              <a:rPr sz="2750" dirty="0">
                <a:latin typeface="Aptos"/>
                <a:ea typeface="Aptos"/>
                <a:cs typeface="Aptos"/>
              </a:rPr>
              <a:t>questions) </a:t>
            </a:r>
            <a:r>
              <a:rPr sz="2750" spc="65" dirty="0">
                <a:latin typeface="Aptos"/>
                <a:ea typeface="Aptos"/>
                <a:cs typeface="Aptos"/>
              </a:rPr>
              <a:t>+</a:t>
            </a:r>
            <a:r>
              <a:rPr sz="2750" spc="105" dirty="0">
                <a:latin typeface="Aptos"/>
                <a:ea typeface="Aptos"/>
                <a:cs typeface="Aptos"/>
              </a:rPr>
              <a:t> 2</a:t>
            </a:r>
            <a:r>
              <a:rPr sz="2750" dirty="0">
                <a:latin typeface="Aptos"/>
                <a:ea typeface="Aptos"/>
                <a:cs typeface="Aptos"/>
              </a:rPr>
              <a:t>0% Assignments</a:t>
            </a:r>
            <a:endParaRPr sz="2750" dirty="0">
              <a:latin typeface="Calibri"/>
              <a:ea typeface="Calibri"/>
              <a:cs typeface="Calibri"/>
            </a:endParaRPr>
          </a:p>
          <a:p>
            <a:pPr>
              <a:lnSpc>
                <a:spcPct val="100000"/>
              </a:lnSpc>
              <a:spcBef>
                <a:spcPts val="1450"/>
              </a:spcBef>
              <a:buNone/>
              <a:defRPr>
                <a:latin typeface="Aptos"/>
                <a:ea typeface="Aptos"/>
                <a:cs typeface="Aptos"/>
              </a:defRPr>
            </a:pPr>
            <a:endParaRPr sz="2750" dirty="0">
              <a:latin typeface="Calibri"/>
              <a:ea typeface="Calibri"/>
              <a:cs typeface="Calibri"/>
            </a:endParaRPr>
          </a:p>
        </p:txBody>
      </p:sp>
    </p:spTree>
    <p:extLst>
      <p:ext uri="{BB962C8B-B14F-4D97-AF65-F5344CB8AC3E}">
        <p14:creationId xmlns:p14="http://schemas.microsoft.com/office/powerpoint/2010/main" val="19905018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0753-FC53-58F6-EB79-0B3F1E68F3DF}"/>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Exercise hours</a:t>
            </a:r>
          </a:p>
        </p:txBody>
      </p:sp>
      <p:sp>
        <p:nvSpPr>
          <p:cNvPr id="7" name="Content Placeholder 6">
            <a:extLst>
              <a:ext uri="{FF2B5EF4-FFF2-40B4-BE49-F238E27FC236}">
                <a16:creationId xmlns:a16="http://schemas.microsoft.com/office/drawing/2014/main" id="{1CFF3EB3-6450-C842-753F-D8D02A05A76F}"/>
              </a:ext>
            </a:extLst>
          </p:cNvPr>
          <p:cNvSpPr>
            <a:spLocks noGrp="1"/>
          </p:cNvSpPr>
          <p:nvPr>
            <p:ph idx="1"/>
          </p:nvPr>
        </p:nvSpPr>
        <p:spPr>
          <a:xfrm>
            <a:off x="838200" y="1855606"/>
            <a:ext cx="11123951" cy="4351338"/>
          </a:xfrm>
        </p:spPr>
        <p:txBody>
          <a:bodyPr>
            <a:normAutofit lnSpcReduction="10000"/>
          </a:bodyPr>
          <a:lstStyle/>
          <a:p>
            <a:pPr algn="l">
              <a:buNone/>
              <a:defRPr>
                <a:latin typeface="Aptos"/>
                <a:ea typeface="Aptos"/>
                <a:cs typeface="Aptos"/>
              </a:defRPr>
            </a:pPr>
            <a:r>
              <a:rPr sz="2600" dirty="0">
                <a:latin typeface="Aptos"/>
                <a:ea typeface="Aptos"/>
                <a:cs typeface="Aptos"/>
              </a:rPr>
              <a:t> We use the exercise hours to work in the project</a:t>
            </a:r>
            <a:endParaRPr sz="2600" dirty="0"/>
          </a:p>
          <a:p>
            <a:pPr marL="0" indent="0" algn="l">
              <a:buNone/>
              <a:defRPr>
                <a:latin typeface="Aptos"/>
                <a:ea typeface="Aptos"/>
                <a:cs typeface="Aptos"/>
              </a:defRPr>
            </a:pPr>
            <a:r>
              <a:rPr sz="2600" dirty="0">
                <a:latin typeface="Aptos"/>
                <a:ea typeface="Aptos"/>
                <a:cs typeface="Aptos"/>
              </a:rPr>
              <a:t>	Project focused on helping with the exam</a:t>
            </a:r>
            <a:endParaRPr sz="2600" dirty="0"/>
          </a:p>
          <a:p>
            <a:pPr marL="0" indent="0" algn="l">
              <a:buNone/>
              <a:defRPr>
                <a:latin typeface="Aptos"/>
                <a:ea typeface="Aptos"/>
                <a:cs typeface="Aptos"/>
              </a:defRPr>
            </a:pPr>
            <a:r>
              <a:rPr sz="2600" dirty="0">
                <a:latin typeface="Aptos"/>
                <a:ea typeface="Aptos"/>
                <a:cs typeface="Aptos"/>
              </a:rPr>
              <a:t>	Project focused on helping with the graded coding assignments</a:t>
            </a:r>
            <a:endParaRPr sz="2600" dirty="0"/>
          </a:p>
          <a:p>
            <a:pPr algn="l">
              <a:buNone/>
              <a:defRPr>
                <a:latin typeface="Aptos"/>
                <a:ea typeface="Aptos"/>
                <a:cs typeface="Aptos"/>
              </a:defRPr>
            </a:pPr>
            <a:r>
              <a:rPr sz="2600" dirty="0">
                <a:latin typeface="Aptos"/>
                <a:ea typeface="Aptos"/>
                <a:cs typeface="Aptos"/>
              </a:rPr>
              <a:t> </a:t>
            </a:r>
            <a:r>
              <a:rPr sz="2600" b="1" dirty="0">
                <a:latin typeface="Aptos"/>
                <a:ea typeface="Aptos"/>
                <a:cs typeface="Aptos"/>
              </a:rPr>
              <a:t>Week 5, 9 </a:t>
            </a:r>
            <a:r>
              <a:rPr sz="2600" dirty="0">
                <a:latin typeface="Aptos"/>
                <a:ea typeface="Aptos"/>
                <a:cs typeface="Aptos"/>
              </a:rPr>
              <a:t>and </a:t>
            </a:r>
            <a:r>
              <a:rPr sz="2600" b="1" dirty="0">
                <a:latin typeface="Aptos"/>
                <a:ea typeface="Aptos"/>
                <a:cs typeface="Aptos"/>
              </a:rPr>
              <a:t>13</a:t>
            </a:r>
            <a:r>
              <a:rPr sz="2600" dirty="0">
                <a:latin typeface="Aptos"/>
                <a:ea typeface="Aptos"/>
                <a:cs typeface="Aptos"/>
              </a:rPr>
              <a:t> for graded assignments</a:t>
            </a:r>
            <a:endParaRPr sz="2600" dirty="0"/>
          </a:p>
          <a:p>
            <a:pPr algn="l">
              <a:buNone/>
              <a:defRPr>
                <a:latin typeface="Aptos"/>
                <a:ea typeface="Aptos"/>
                <a:cs typeface="Aptos"/>
              </a:defRPr>
            </a:pPr>
            <a:r>
              <a:rPr sz="2600" dirty="0">
                <a:latin typeface="Aptos"/>
                <a:ea typeface="Aptos"/>
                <a:cs typeface="Aptos"/>
              </a:rPr>
              <a:t> Week 4, 8 and 11 to test coding setup for graded assignments</a:t>
            </a:r>
            <a:endParaRPr sz="2600" dirty="0"/>
          </a:p>
          <a:p>
            <a:pPr marL="0" indent="0">
              <a:buNone/>
              <a:defRPr>
                <a:latin typeface="Aptos"/>
                <a:ea typeface="Aptos"/>
                <a:cs typeface="Aptos"/>
              </a:defRPr>
            </a:pPr>
            <a:endParaRPr sz="2600" dirty="0"/>
          </a:p>
          <a:p>
            <a:pPr marL="0" indent="0" algn="l">
              <a:buNone/>
              <a:defRPr>
                <a:latin typeface="Aptos"/>
                <a:ea typeface="Aptos"/>
                <a:cs typeface="Aptos"/>
              </a:defRPr>
            </a:pPr>
            <a:r>
              <a:rPr sz="2600" dirty="0">
                <a:latin typeface="Aptos"/>
                <a:ea typeface="Aptos"/>
                <a:cs typeface="Aptos"/>
              </a:rPr>
              <a:t>TAs (and Rebecca) will be available to discuss technical and theoretical questions</a:t>
            </a:r>
            <a:endParaRPr sz="2600" dirty="0"/>
          </a:p>
          <a:p>
            <a:pPr marL="0" indent="0" algn="l">
              <a:buNone/>
              <a:defRPr>
                <a:latin typeface="Aptos"/>
                <a:ea typeface="Aptos"/>
                <a:cs typeface="Aptos"/>
              </a:defRPr>
            </a:pPr>
            <a:r>
              <a:rPr sz="2600" dirty="0">
                <a:latin typeface="Aptos"/>
                <a:ea typeface="Aptos"/>
                <a:cs typeface="Aptos"/>
              </a:rPr>
              <a:t>TAs (and Rebecca) will be available to discuss project work</a:t>
            </a:r>
            <a:endParaRPr sz="2600" dirty="0"/>
          </a:p>
          <a:p>
            <a:pPr marL="0" indent="0" algn="l">
              <a:buNone/>
              <a:defRPr>
                <a:latin typeface="Aptos"/>
                <a:ea typeface="Aptos"/>
                <a:cs typeface="Aptos"/>
              </a:defRPr>
            </a:pPr>
            <a:r>
              <a:rPr sz="2600" dirty="0">
                <a:latin typeface="Aptos"/>
                <a:ea typeface="Aptos"/>
                <a:cs typeface="Aptos"/>
              </a:rPr>
              <a:t>TAs are available during exercise hours</a:t>
            </a:r>
          </a:p>
        </p:txBody>
      </p:sp>
    </p:spTree>
    <p:extLst>
      <p:ext uri="{BB962C8B-B14F-4D97-AF65-F5344CB8AC3E}">
        <p14:creationId xmlns:p14="http://schemas.microsoft.com/office/powerpoint/2010/main" val="1471552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5DE81-AD85-5AE4-FF7C-F3529DD2A1E1}"/>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Week 1 - Exercise</a:t>
            </a:r>
          </a:p>
        </p:txBody>
      </p:sp>
      <p:sp>
        <p:nvSpPr>
          <p:cNvPr id="3" name="Content Placeholder 6">
            <a:extLst>
              <a:ext uri="{FF2B5EF4-FFF2-40B4-BE49-F238E27FC236}">
                <a16:creationId xmlns:a16="http://schemas.microsoft.com/office/drawing/2014/main" id="{8527BCD8-B676-BE32-075C-7732B998FE13}"/>
              </a:ext>
            </a:extLst>
          </p:cNvPr>
          <p:cNvSpPr>
            <a:spLocks noGrp="1"/>
          </p:cNvSpPr>
          <p:nvPr/>
        </p:nvSpPr>
        <p:spPr>
          <a:xfrm>
            <a:off x="838200" y="1717493"/>
            <a:ext cx="11123951" cy="4637269"/>
          </a:xfrm>
          <a:prstGeom prst="rect">
            <a:avLst/>
          </a:prstGeom>
        </p:spPr>
        <p:txBody>
          <a:bodyPr vert="horz" lIns="91440" tIns="45720" rIns="91440" bIns="45720">
            <a:normAutofit fontScale="97161"/>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algn="l">
              <a:buNone/>
              <a:defRPr>
                <a:latin typeface="Aptos"/>
                <a:ea typeface="Aptos"/>
                <a:cs typeface="Aptos"/>
              </a:defRPr>
            </a:pPr>
            <a:r>
              <a:rPr sz="2600">
                <a:latin typeface="Aptos"/>
                <a:ea typeface="Aptos"/>
                <a:cs typeface="Aptos"/>
              </a:rPr>
              <a:t>Prepare workstation</a:t>
            </a:r>
            <a:endParaRPr sz="2600"/>
          </a:p>
          <a:p>
            <a:pPr algn="l">
              <a:buNone/>
              <a:defRPr>
                <a:latin typeface="Aptos"/>
                <a:ea typeface="Aptos"/>
                <a:cs typeface="Aptos"/>
              </a:defRPr>
            </a:pPr>
            <a:r>
              <a:rPr sz="2600">
                <a:latin typeface="Aptos"/>
                <a:ea typeface="Aptos"/>
                <a:cs typeface="Aptos"/>
              </a:rPr>
              <a:t>Choose project:</a:t>
            </a:r>
          </a:p>
          <a:p>
            <a:pPr lvl="1" algn="l">
              <a:buNone/>
              <a:defRPr>
                <a:latin typeface="Aptos"/>
                <a:ea typeface="Aptos"/>
                <a:cs typeface="Aptos"/>
              </a:defRPr>
            </a:pPr>
            <a:r>
              <a:t>Why is it a good topic?</a:t>
            </a:r>
          </a:p>
          <a:p>
            <a:pPr lvl="1" algn="l">
              <a:buNone/>
              <a:defRPr>
                <a:latin typeface="Aptos"/>
                <a:ea typeface="Aptos"/>
                <a:cs typeface="Aptos"/>
              </a:defRPr>
            </a:pPr>
            <a:r>
              <a:t>Why is a web implementation a good solution for your topic?</a:t>
            </a:r>
          </a:p>
          <a:p>
            <a:pPr algn="l">
              <a:buNone/>
              <a:defRPr>
                <a:latin typeface="Aptos"/>
                <a:ea typeface="Aptos"/>
                <a:cs typeface="Aptos"/>
              </a:defRPr>
            </a:pPr>
            <a:r>
              <a:rPr sz="2600">
                <a:latin typeface="Aptos"/>
                <a:ea typeface="Aptos"/>
                <a:cs typeface="Aptos"/>
              </a:rPr>
              <a:t>Play around HTML</a:t>
            </a:r>
          </a:p>
          <a:p>
            <a:pPr marL="0" indent="0">
              <a:buNone/>
              <a:defRPr>
                <a:latin typeface="Aptos"/>
                <a:ea typeface="Aptos"/>
                <a:cs typeface="Aptos"/>
              </a:defRPr>
            </a:pPr>
            <a:endParaRPr sz="2600"/>
          </a:p>
          <a:p>
            <a:pPr algn="l">
              <a:buNone/>
              <a:defRPr>
                <a:latin typeface="Aptos"/>
                <a:ea typeface="Aptos"/>
                <a:cs typeface="Aptos"/>
              </a:defRPr>
            </a:pPr>
            <a:r>
              <a:rPr sz="2600">
                <a:latin typeface="Aptos"/>
                <a:ea typeface="Aptos"/>
                <a:cs typeface="Aptos"/>
              </a:rPr>
              <a:t>If you work with a partner:</a:t>
            </a:r>
          </a:p>
          <a:p>
            <a:pPr lvl="1" algn="l">
              <a:buNone/>
              <a:defRPr>
                <a:latin typeface="Aptos"/>
                <a:ea typeface="Aptos"/>
                <a:cs typeface="Aptos"/>
              </a:defRPr>
            </a:pPr>
            <a:r>
              <a:t>Coding assignments and written exam are individual</a:t>
            </a:r>
          </a:p>
          <a:p>
            <a:pPr lvl="1" algn="l">
              <a:buNone/>
              <a:defRPr>
                <a:latin typeface="Aptos"/>
                <a:ea typeface="Aptos"/>
                <a:cs typeface="Aptos"/>
              </a:defRPr>
            </a:pPr>
            <a:r>
              <a:t>Recommendation: discuss ideas but program your own code</a:t>
            </a:r>
          </a:p>
          <a:p>
            <a:pPr algn="l">
              <a:buNone/>
              <a:defRPr>
                <a:latin typeface="Aptos"/>
                <a:ea typeface="Aptos"/>
                <a:cs typeface="Aptos"/>
              </a:defRPr>
            </a:pPr>
            <a:r>
              <a:rPr sz="2600">
                <a:latin typeface="Aptos"/>
                <a:ea typeface="Aptos"/>
                <a:cs typeface="Aptos"/>
              </a:rPr>
              <a:t>Use weekly exercises to prepare for the graded assignments and the exam</a:t>
            </a:r>
            <a:endParaRPr sz="2600"/>
          </a:p>
        </p:txBody>
      </p:sp>
    </p:spTree>
    <p:extLst>
      <p:ext uri="{BB962C8B-B14F-4D97-AF65-F5344CB8AC3E}">
        <p14:creationId xmlns:p14="http://schemas.microsoft.com/office/powerpoint/2010/main" val="3023208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81234-57AC-3DE9-B17B-B1C1BCB8CB08}"/>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35">
                <a:latin typeface="Aptos Display"/>
                <a:ea typeface="Aptos Display"/>
                <a:cs typeface="Aptos Display"/>
              </a:rPr>
              <a:t>Academic Honesty</a:t>
            </a:r>
            <a:endParaRPr/>
          </a:p>
        </p:txBody>
      </p:sp>
      <p:sp>
        <p:nvSpPr>
          <p:cNvPr id="5" name="object 2">
            <a:extLst>
              <a:ext uri="{FF2B5EF4-FFF2-40B4-BE49-F238E27FC236}">
                <a16:creationId xmlns:a16="http://schemas.microsoft.com/office/drawing/2014/main" id="{8187264F-62D4-93EA-B363-BFA15664AAE9}"/>
              </a:ext>
            </a:extLst>
          </p:cNvPr>
          <p:cNvSpPr>
            <a:spLocks noGrp="1"/>
          </p:cNvSpPr>
          <p:nvPr/>
        </p:nvSpPr>
        <p:spPr>
          <a:xfrm>
            <a:off x="1015999" y="1208088"/>
            <a:ext cx="10515600" cy="5218112"/>
          </a:xfrm>
          <a:prstGeom prst="rect">
            <a:avLst/>
          </a:prstGeom>
        </p:spPr>
        <p:txBody>
          <a:bodyPr vert="horz" lIns="91440" tIns="45720" rIns="91440" bIns="45720" anchor="ctr">
            <a:noAutofit/>
          </a:bodyPr>
          <a:lstStyle/>
          <a:p>
            <a:pPr marL="266700" indent="-152400" algn="l">
              <a:lnSpc>
                <a:spcPct val="108000"/>
              </a:lnSpc>
              <a:spcBef>
                <a:spcPts val="125"/>
              </a:spcBef>
              <a:spcAft>
                <a:spcPts val="5"/>
              </a:spcAft>
              <a:buFont typeface="Arial"/>
              <a:buChar char="•"/>
              <a:defRPr>
                <a:latin typeface="Aptos"/>
                <a:ea typeface="Aptos"/>
                <a:cs typeface="Aptos"/>
              </a:defRPr>
            </a:pPr>
            <a:r>
              <a:rPr sz="2800" b="1" spc="180">
                <a:solidFill>
                  <a:schemeClr val="tx1"/>
                </a:solidFill>
                <a:latin typeface="Aptos"/>
                <a:ea typeface="Aptos"/>
                <a:cs typeface="Aptos"/>
              </a:rPr>
              <a:t>Do</a:t>
            </a:r>
            <a:r>
              <a:rPr sz="2800" b="1" spc="85">
                <a:solidFill>
                  <a:schemeClr val="tx1"/>
                </a:solidFill>
                <a:latin typeface="Aptos"/>
                <a:ea typeface="Aptos"/>
                <a:cs typeface="Aptos"/>
              </a:rPr>
              <a:t> </a:t>
            </a:r>
            <a:r>
              <a:rPr sz="2800" b="1">
                <a:solidFill>
                  <a:schemeClr val="tx1"/>
                </a:solidFill>
                <a:latin typeface="Aptos"/>
                <a:ea typeface="Aptos"/>
                <a:cs typeface="Aptos"/>
              </a:rPr>
              <a:t>not</a:t>
            </a:r>
            <a:r>
              <a:rPr sz="2800" b="1" spc="75">
                <a:solidFill>
                  <a:schemeClr val="tx1"/>
                </a:solidFill>
                <a:latin typeface="Aptos"/>
                <a:ea typeface="Aptos"/>
                <a:cs typeface="Aptos"/>
              </a:rPr>
              <a:t> </a:t>
            </a:r>
            <a:r>
              <a:rPr sz="2800" b="1" spc="-10">
                <a:solidFill>
                  <a:schemeClr val="tx1"/>
                </a:solidFill>
                <a:latin typeface="Aptos"/>
                <a:ea typeface="Aptos"/>
                <a:cs typeface="Aptos"/>
              </a:rPr>
              <a:t>cheat!</a:t>
            </a:r>
            <a:endParaRPr sz="2800" b="1" kern="1200">
              <a:solidFill>
                <a:schemeClr val="tx1"/>
              </a:solidFill>
              <a:latin typeface="+mn-lt"/>
              <a:ea typeface="+mn-lt"/>
              <a:cs typeface="+mn-lt"/>
            </a:endParaRPr>
          </a:p>
          <a:p>
            <a:pPr indent="-228600" algn="l">
              <a:lnSpc>
                <a:spcPct val="90000"/>
              </a:lnSpc>
              <a:spcBef>
                <a:spcPts val="775"/>
              </a:spcBef>
              <a:buFont typeface="Arial"/>
              <a:buChar char="•"/>
              <a:defRPr>
                <a:latin typeface="Aptos"/>
                <a:ea typeface="Aptos"/>
                <a:cs typeface="Aptos"/>
              </a:defRPr>
            </a:pPr>
            <a:endParaRPr sz="2800" kern="1200">
              <a:solidFill>
                <a:schemeClr val="tx1"/>
              </a:solidFill>
              <a:latin typeface="+mn-lt"/>
              <a:ea typeface="+mn-lt"/>
              <a:cs typeface="+mn-lt"/>
            </a:endParaRPr>
          </a:p>
          <a:p>
            <a:pPr marL="266700" marR="2668905" indent="-152400" algn="l">
              <a:lnSpc>
                <a:spcPct val="108000"/>
              </a:lnSpc>
              <a:spcAft>
                <a:spcPts val="5"/>
              </a:spcAft>
              <a:buFont typeface="Arial"/>
              <a:buChar char="•"/>
              <a:defRPr>
                <a:latin typeface="Aptos"/>
                <a:ea typeface="Aptos"/>
                <a:cs typeface="Aptos"/>
              </a:defRPr>
            </a:pPr>
            <a:r>
              <a:rPr sz="2800" i="1" spc="-20">
                <a:solidFill>
                  <a:schemeClr val="tx1"/>
                </a:solidFill>
                <a:latin typeface="Aptos"/>
                <a:ea typeface="Aptos"/>
                <a:cs typeface="Aptos"/>
              </a:rPr>
              <a:t>Collaboration</a:t>
            </a:r>
            <a:r>
              <a:rPr sz="2800" i="1" spc="20">
                <a:solidFill>
                  <a:schemeClr val="tx1"/>
                </a:solidFill>
                <a:latin typeface="Aptos"/>
                <a:ea typeface="Aptos"/>
                <a:cs typeface="Aptos"/>
              </a:rPr>
              <a:t> </a:t>
            </a:r>
            <a:r>
              <a:rPr sz="2800" i="1">
                <a:solidFill>
                  <a:schemeClr val="tx1"/>
                </a:solidFill>
                <a:latin typeface="Aptos"/>
                <a:ea typeface="Aptos"/>
                <a:cs typeface="Aptos"/>
              </a:rPr>
              <a:t>is</a:t>
            </a:r>
            <a:r>
              <a:rPr sz="2800" i="1" spc="-75">
                <a:solidFill>
                  <a:schemeClr val="tx1"/>
                </a:solidFill>
                <a:latin typeface="Aptos"/>
                <a:ea typeface="Aptos"/>
                <a:cs typeface="Aptos"/>
              </a:rPr>
              <a:t> </a:t>
            </a:r>
            <a:r>
              <a:rPr sz="2800" i="1" spc="-45">
                <a:solidFill>
                  <a:schemeClr val="tx1"/>
                </a:solidFill>
                <a:latin typeface="Aptos"/>
                <a:ea typeface="Aptos"/>
                <a:cs typeface="Aptos"/>
              </a:rPr>
              <a:t>important</a:t>
            </a:r>
            <a:r>
              <a:rPr sz="2800" i="1" spc="20">
                <a:solidFill>
                  <a:schemeClr val="tx1"/>
                </a:solidFill>
                <a:latin typeface="Aptos"/>
                <a:ea typeface="Aptos"/>
                <a:cs typeface="Aptos"/>
              </a:rPr>
              <a:t> </a:t>
            </a:r>
            <a:r>
              <a:rPr sz="2800" i="1">
                <a:solidFill>
                  <a:schemeClr val="tx1"/>
                </a:solidFill>
                <a:latin typeface="Aptos"/>
                <a:ea typeface="Aptos"/>
                <a:cs typeface="Aptos"/>
              </a:rPr>
              <a:t>in</a:t>
            </a:r>
            <a:r>
              <a:rPr sz="2800" i="1" spc="-30">
                <a:solidFill>
                  <a:schemeClr val="tx1"/>
                </a:solidFill>
                <a:latin typeface="Aptos"/>
                <a:ea typeface="Aptos"/>
                <a:cs typeface="Aptos"/>
              </a:rPr>
              <a:t> </a:t>
            </a:r>
            <a:r>
              <a:rPr sz="2800" i="1" spc="-50">
                <a:solidFill>
                  <a:schemeClr val="tx1"/>
                </a:solidFill>
                <a:latin typeface="Aptos"/>
                <a:ea typeface="Aptos"/>
                <a:cs typeface="Aptos"/>
              </a:rPr>
              <a:t>software</a:t>
            </a:r>
            <a:r>
              <a:rPr sz="2800" i="1" spc="40">
                <a:latin typeface="Aptos"/>
                <a:ea typeface="Aptos"/>
                <a:cs typeface="Aptos"/>
              </a:rPr>
              <a:t> </a:t>
            </a:r>
            <a:r>
              <a:rPr sz="2800" i="1" spc="-100">
                <a:solidFill>
                  <a:schemeClr val="tx1"/>
                </a:solidFill>
                <a:latin typeface="Aptos"/>
                <a:ea typeface="Aptos"/>
                <a:cs typeface="Aptos"/>
              </a:rPr>
              <a:t>engineering:</a:t>
            </a:r>
          </a:p>
          <a:p>
            <a:pPr marL="533400" marR="2668905" lvl="1" indent="-152400" algn="l">
              <a:lnSpc>
                <a:spcPct val="108000"/>
              </a:lnSpc>
              <a:spcAft>
                <a:spcPts val="3"/>
              </a:spcAft>
              <a:buFont typeface="Arial"/>
              <a:buChar char="•"/>
              <a:defRPr>
                <a:latin typeface="Aptos"/>
                <a:ea typeface="Aptos"/>
                <a:cs typeface="Aptos"/>
              </a:defRPr>
            </a:pPr>
            <a:r>
              <a:rPr sz="2800" i="1" spc="55">
                <a:solidFill>
                  <a:schemeClr val="tx1"/>
                </a:solidFill>
                <a:latin typeface="Aptos"/>
                <a:ea typeface="Aptos"/>
                <a:cs typeface="Aptos"/>
              </a:rPr>
              <a:t>Code</a:t>
            </a:r>
            <a:r>
              <a:rPr sz="2800" i="1">
                <a:solidFill>
                  <a:schemeClr val="tx1"/>
                </a:solidFill>
                <a:latin typeface="Aptos"/>
                <a:ea typeface="Aptos"/>
                <a:cs typeface="Aptos"/>
              </a:rPr>
              <a:t> </a:t>
            </a:r>
            <a:r>
              <a:rPr sz="2800" i="1" spc="-105">
                <a:solidFill>
                  <a:schemeClr val="tx1"/>
                </a:solidFill>
                <a:latin typeface="Aptos"/>
                <a:ea typeface="Aptos"/>
                <a:cs typeface="Aptos"/>
              </a:rPr>
              <a:t>sharing:</a:t>
            </a:r>
            <a:r>
              <a:rPr sz="2800" i="1" spc="200">
                <a:solidFill>
                  <a:schemeClr val="tx1"/>
                </a:solidFill>
                <a:latin typeface="Aptos"/>
                <a:ea typeface="Aptos"/>
                <a:cs typeface="Aptos"/>
              </a:rPr>
              <a:t> </a:t>
            </a:r>
            <a:r>
              <a:rPr sz="2800" i="1" spc="-10">
                <a:solidFill>
                  <a:schemeClr val="tx1"/>
                </a:solidFill>
                <a:latin typeface="Aptos"/>
                <a:ea typeface="Aptos"/>
                <a:cs typeface="Aptos"/>
              </a:rPr>
              <a:t>GitHub</a:t>
            </a:r>
          </a:p>
          <a:p>
            <a:pPr marL="533400" marR="2668905" lvl="1" indent="-152400" algn="l">
              <a:lnSpc>
                <a:spcPct val="108000"/>
              </a:lnSpc>
              <a:spcAft>
                <a:spcPts val="3"/>
              </a:spcAft>
              <a:buFont typeface="Arial"/>
              <a:buChar char="•"/>
              <a:defRPr>
                <a:latin typeface="Aptos"/>
                <a:ea typeface="Aptos"/>
                <a:cs typeface="Aptos"/>
              </a:defRPr>
            </a:pPr>
            <a:r>
              <a:rPr sz="2800" i="1">
                <a:solidFill>
                  <a:schemeClr val="tx1"/>
                </a:solidFill>
                <a:latin typeface="Aptos"/>
                <a:ea typeface="Aptos"/>
                <a:cs typeface="Aptos"/>
              </a:rPr>
              <a:t>Ask</a:t>
            </a:r>
            <a:r>
              <a:rPr sz="2800" i="1" spc="-5">
                <a:solidFill>
                  <a:schemeClr val="tx1"/>
                </a:solidFill>
                <a:latin typeface="Aptos"/>
                <a:ea typeface="Aptos"/>
                <a:cs typeface="Aptos"/>
              </a:rPr>
              <a:t> </a:t>
            </a:r>
            <a:r>
              <a:rPr sz="2800" i="1" spc="-10">
                <a:solidFill>
                  <a:schemeClr val="tx1"/>
                </a:solidFill>
                <a:latin typeface="Aptos"/>
                <a:ea typeface="Aptos"/>
                <a:cs typeface="Aptos"/>
              </a:rPr>
              <a:t>other</a:t>
            </a:r>
            <a:r>
              <a:rPr sz="2800" i="1" spc="10">
                <a:solidFill>
                  <a:schemeClr val="tx1"/>
                </a:solidFill>
                <a:latin typeface="Aptos"/>
                <a:ea typeface="Aptos"/>
                <a:cs typeface="Aptos"/>
              </a:rPr>
              <a:t> </a:t>
            </a:r>
            <a:r>
              <a:rPr sz="2800" i="1" spc="-70">
                <a:solidFill>
                  <a:schemeClr val="tx1"/>
                </a:solidFill>
                <a:latin typeface="Aptos"/>
                <a:ea typeface="Aptos"/>
                <a:cs typeface="Aptos"/>
              </a:rPr>
              <a:t>developers:</a:t>
            </a:r>
            <a:r>
              <a:rPr sz="2800" i="1" spc="70">
                <a:solidFill>
                  <a:schemeClr val="tx1"/>
                </a:solidFill>
                <a:latin typeface="Aptos"/>
                <a:ea typeface="Aptos"/>
                <a:cs typeface="Aptos"/>
              </a:rPr>
              <a:t> </a:t>
            </a:r>
            <a:r>
              <a:rPr sz="2800" i="1" spc="-25">
                <a:solidFill>
                  <a:schemeClr val="tx1"/>
                </a:solidFill>
                <a:latin typeface="Aptos"/>
                <a:ea typeface="Aptos"/>
                <a:cs typeface="Aptos"/>
              </a:rPr>
              <a:t>StackOverflow </a:t>
            </a:r>
            <a:r>
              <a:rPr sz="2800" i="1" spc="-10">
                <a:solidFill>
                  <a:schemeClr val="tx1"/>
                </a:solidFill>
                <a:latin typeface="Aptos"/>
                <a:ea typeface="Aptos"/>
                <a:cs typeface="Aptos"/>
              </a:rPr>
              <a:t>Tutorials</a:t>
            </a:r>
            <a:endParaRPr sz="2800" i="1" kern="1200">
              <a:solidFill>
                <a:schemeClr val="tx1"/>
              </a:solidFill>
              <a:latin typeface="+mn-lt"/>
              <a:ea typeface="+mn-lt"/>
              <a:cs typeface="+mn-lt"/>
            </a:endParaRPr>
          </a:p>
          <a:p>
            <a:pPr indent="-228600" algn="l">
              <a:lnSpc>
                <a:spcPct val="90000"/>
              </a:lnSpc>
              <a:spcBef>
                <a:spcPts val="1375"/>
              </a:spcBef>
              <a:buFont typeface="Arial"/>
              <a:buChar char="•"/>
              <a:defRPr>
                <a:latin typeface="Aptos"/>
                <a:ea typeface="Aptos"/>
                <a:cs typeface="Aptos"/>
              </a:defRPr>
            </a:pPr>
            <a:endParaRPr sz="2800" kern="1200">
              <a:solidFill>
                <a:schemeClr val="tx1"/>
              </a:solidFill>
              <a:latin typeface="+mn-lt"/>
              <a:ea typeface="+mn-lt"/>
              <a:cs typeface="+mn-lt"/>
            </a:endParaRPr>
          </a:p>
          <a:p>
            <a:pPr marL="266700" indent="-152400" algn="l">
              <a:lnSpc>
                <a:spcPct val="108000"/>
              </a:lnSpc>
              <a:spcAft>
                <a:spcPts val="5"/>
              </a:spcAft>
              <a:buFont typeface="Arial"/>
              <a:buChar char="•"/>
              <a:defRPr>
                <a:latin typeface="Aptos"/>
                <a:ea typeface="Aptos"/>
                <a:cs typeface="Aptos"/>
              </a:defRPr>
            </a:pPr>
            <a:r>
              <a:rPr sz="2800" b="1" spc="215">
                <a:solidFill>
                  <a:schemeClr val="tx1"/>
                </a:solidFill>
                <a:latin typeface="Aptos"/>
                <a:ea typeface="Aptos"/>
                <a:cs typeface="Aptos"/>
              </a:rPr>
              <a:t>Do</a:t>
            </a:r>
            <a:r>
              <a:rPr sz="2800" b="1" spc="60">
                <a:solidFill>
                  <a:schemeClr val="tx1"/>
                </a:solidFill>
                <a:latin typeface="Aptos"/>
                <a:ea typeface="Aptos"/>
                <a:cs typeface="Aptos"/>
              </a:rPr>
              <a:t> </a:t>
            </a:r>
            <a:r>
              <a:rPr sz="2800" b="1">
                <a:solidFill>
                  <a:schemeClr val="tx1"/>
                </a:solidFill>
                <a:latin typeface="Aptos"/>
                <a:ea typeface="Aptos"/>
                <a:cs typeface="Aptos"/>
              </a:rPr>
              <a:t>not</a:t>
            </a:r>
            <a:r>
              <a:rPr sz="2800" b="1" spc="-25">
                <a:solidFill>
                  <a:schemeClr val="tx1"/>
                </a:solidFill>
                <a:latin typeface="Aptos"/>
                <a:ea typeface="Aptos"/>
                <a:cs typeface="Aptos"/>
              </a:rPr>
              <a:t> </a:t>
            </a:r>
            <a:r>
              <a:rPr sz="2800" b="1">
                <a:solidFill>
                  <a:schemeClr val="tx1"/>
                </a:solidFill>
                <a:latin typeface="Aptos"/>
                <a:ea typeface="Aptos"/>
                <a:cs typeface="Aptos"/>
              </a:rPr>
              <a:t>copy</a:t>
            </a:r>
            <a:r>
              <a:rPr sz="2800" b="1" spc="-55">
                <a:solidFill>
                  <a:schemeClr val="tx1"/>
                </a:solidFill>
                <a:latin typeface="Aptos"/>
                <a:ea typeface="Aptos"/>
                <a:cs typeface="Aptos"/>
              </a:rPr>
              <a:t> the </a:t>
            </a:r>
            <a:r>
              <a:rPr sz="2800" b="1" spc="-60">
                <a:solidFill>
                  <a:schemeClr val="tx1"/>
                </a:solidFill>
                <a:latin typeface="Aptos"/>
                <a:ea typeface="Aptos"/>
                <a:cs typeface="Aptos"/>
              </a:rPr>
              <a:t>code!</a:t>
            </a:r>
            <a:r>
              <a:rPr sz="2800" b="1" spc="-95">
                <a:solidFill>
                  <a:schemeClr val="tx1"/>
                </a:solidFill>
                <a:latin typeface="Aptos"/>
                <a:ea typeface="Aptos"/>
                <a:cs typeface="Aptos"/>
              </a:rPr>
              <a:t> </a:t>
            </a:r>
            <a:r>
              <a:rPr sz="2800" b="1">
                <a:solidFill>
                  <a:schemeClr val="tx1"/>
                </a:solidFill>
                <a:latin typeface="Aptos"/>
                <a:ea typeface="Aptos"/>
                <a:cs typeface="Aptos"/>
              </a:rPr>
              <a:t>Write</a:t>
            </a:r>
            <a:r>
              <a:rPr sz="2800" b="1" spc="185">
                <a:solidFill>
                  <a:schemeClr val="tx1"/>
                </a:solidFill>
                <a:latin typeface="Aptos"/>
                <a:ea typeface="Aptos"/>
                <a:cs typeface="Aptos"/>
              </a:rPr>
              <a:t> </a:t>
            </a:r>
            <a:r>
              <a:rPr sz="2800" b="1">
                <a:solidFill>
                  <a:schemeClr val="tx1"/>
                </a:solidFill>
                <a:latin typeface="Aptos"/>
                <a:ea typeface="Aptos"/>
                <a:cs typeface="Aptos"/>
              </a:rPr>
              <a:t>your</a:t>
            </a:r>
            <a:r>
              <a:rPr sz="2800" b="1" spc="35">
                <a:solidFill>
                  <a:schemeClr val="tx1"/>
                </a:solidFill>
                <a:latin typeface="Aptos"/>
                <a:ea typeface="Aptos"/>
                <a:cs typeface="Aptos"/>
              </a:rPr>
              <a:t> </a:t>
            </a:r>
            <a:r>
              <a:rPr sz="2800" b="1">
                <a:solidFill>
                  <a:schemeClr val="tx1"/>
                </a:solidFill>
                <a:latin typeface="Aptos"/>
                <a:ea typeface="Aptos"/>
                <a:cs typeface="Aptos"/>
              </a:rPr>
              <a:t>code</a:t>
            </a:r>
            <a:r>
              <a:rPr sz="2800" b="1" spc="114">
                <a:solidFill>
                  <a:schemeClr val="tx1"/>
                </a:solidFill>
                <a:latin typeface="Aptos"/>
                <a:ea typeface="Aptos"/>
                <a:cs typeface="Aptos"/>
              </a:rPr>
              <a:t> </a:t>
            </a:r>
            <a:r>
              <a:rPr sz="2800" b="1" spc="-40">
                <a:solidFill>
                  <a:schemeClr val="tx1"/>
                </a:solidFill>
                <a:latin typeface="Aptos"/>
                <a:ea typeface="Aptos"/>
                <a:cs typeface="Aptos"/>
              </a:rPr>
              <a:t>and</a:t>
            </a:r>
            <a:r>
              <a:rPr sz="2800" b="1" spc="85">
                <a:solidFill>
                  <a:schemeClr val="tx1"/>
                </a:solidFill>
                <a:latin typeface="Aptos"/>
                <a:ea typeface="Aptos"/>
                <a:cs typeface="Aptos"/>
              </a:rPr>
              <a:t> </a:t>
            </a:r>
            <a:r>
              <a:rPr sz="2800" b="1" spc="-10">
                <a:solidFill>
                  <a:schemeClr val="tx1"/>
                </a:solidFill>
                <a:latin typeface="Aptos"/>
                <a:ea typeface="Aptos"/>
                <a:cs typeface="Aptos"/>
              </a:rPr>
              <a:t>solutions</a:t>
            </a:r>
            <a:endParaRPr sz="2800" b="1" kern="1200">
              <a:solidFill>
                <a:schemeClr val="tx1"/>
              </a:solidFill>
              <a:latin typeface="+mn-lt"/>
              <a:ea typeface="+mn-lt"/>
              <a:cs typeface="+mn-lt"/>
            </a:endParaRPr>
          </a:p>
          <a:p>
            <a:pPr marL="266700" indent="-152400" algn="l">
              <a:lnSpc>
                <a:spcPct val="108000"/>
              </a:lnSpc>
              <a:spcBef>
                <a:spcPts val="680"/>
              </a:spcBef>
              <a:spcAft>
                <a:spcPts val="5"/>
              </a:spcAft>
              <a:buFont typeface="Arial"/>
              <a:buChar char="•"/>
              <a:defRPr>
                <a:latin typeface="Aptos"/>
                <a:ea typeface="Aptos"/>
                <a:cs typeface="Aptos"/>
              </a:defRPr>
            </a:pPr>
            <a:r>
              <a:rPr sz="2800" b="1" spc="-60">
                <a:solidFill>
                  <a:schemeClr val="tx1"/>
                </a:solidFill>
                <a:latin typeface="Aptos"/>
                <a:ea typeface="Aptos"/>
                <a:cs typeface="Aptos"/>
              </a:rPr>
              <a:t>Tip:</a:t>
            </a:r>
            <a:r>
              <a:rPr sz="2800" b="1" spc="-110">
                <a:solidFill>
                  <a:schemeClr val="tx1"/>
                </a:solidFill>
                <a:latin typeface="Aptos"/>
                <a:ea typeface="Aptos"/>
                <a:cs typeface="Aptos"/>
              </a:rPr>
              <a:t> </a:t>
            </a:r>
            <a:r>
              <a:rPr sz="2800" b="1" spc="-85">
                <a:solidFill>
                  <a:schemeClr val="tx1"/>
                </a:solidFill>
                <a:latin typeface="Aptos"/>
                <a:ea typeface="Aptos"/>
                <a:cs typeface="Aptos"/>
              </a:rPr>
              <a:t>changing</a:t>
            </a:r>
            <a:r>
              <a:rPr sz="2800" b="1" spc="55">
                <a:solidFill>
                  <a:schemeClr val="tx1"/>
                </a:solidFill>
                <a:latin typeface="Aptos"/>
                <a:ea typeface="Aptos"/>
                <a:cs typeface="Aptos"/>
              </a:rPr>
              <a:t> </a:t>
            </a:r>
            <a:r>
              <a:rPr sz="2800" b="1" spc="-10">
                <a:solidFill>
                  <a:schemeClr val="tx1"/>
                </a:solidFill>
                <a:latin typeface="Aptos"/>
                <a:ea typeface="Aptos"/>
                <a:cs typeface="Aptos"/>
              </a:rPr>
              <a:t>the</a:t>
            </a:r>
            <a:r>
              <a:rPr sz="2800" b="1" spc="-30">
                <a:solidFill>
                  <a:schemeClr val="tx1"/>
                </a:solidFill>
                <a:latin typeface="Aptos"/>
                <a:ea typeface="Aptos"/>
                <a:cs typeface="Aptos"/>
              </a:rPr>
              <a:t> </a:t>
            </a:r>
            <a:r>
              <a:rPr sz="2800" b="1" spc="-60">
                <a:solidFill>
                  <a:schemeClr val="tx1"/>
                </a:solidFill>
                <a:latin typeface="Aptos"/>
                <a:ea typeface="Aptos"/>
                <a:cs typeface="Aptos"/>
              </a:rPr>
              <a:t>name</a:t>
            </a:r>
            <a:r>
              <a:rPr sz="2800" b="1" spc="-30">
                <a:solidFill>
                  <a:schemeClr val="tx1"/>
                </a:solidFill>
                <a:latin typeface="Aptos"/>
                <a:ea typeface="Aptos"/>
                <a:cs typeface="Aptos"/>
              </a:rPr>
              <a:t> </a:t>
            </a:r>
            <a:r>
              <a:rPr sz="2800" b="1">
                <a:solidFill>
                  <a:schemeClr val="tx1"/>
                </a:solidFill>
                <a:latin typeface="Aptos"/>
                <a:ea typeface="Aptos"/>
                <a:cs typeface="Aptos"/>
              </a:rPr>
              <a:t>of</a:t>
            </a:r>
            <a:r>
              <a:rPr sz="2800" b="1" spc="5">
                <a:solidFill>
                  <a:schemeClr val="tx1"/>
                </a:solidFill>
                <a:latin typeface="Aptos"/>
                <a:ea typeface="Aptos"/>
                <a:cs typeface="Aptos"/>
              </a:rPr>
              <a:t> </a:t>
            </a:r>
            <a:r>
              <a:rPr sz="2800" b="1" spc="-40">
                <a:solidFill>
                  <a:schemeClr val="tx1"/>
                </a:solidFill>
                <a:latin typeface="Aptos"/>
                <a:ea typeface="Aptos"/>
                <a:cs typeface="Aptos"/>
              </a:rPr>
              <a:t>vars</a:t>
            </a:r>
            <a:r>
              <a:rPr sz="2800" b="1" spc="-30">
                <a:solidFill>
                  <a:schemeClr val="tx1"/>
                </a:solidFill>
                <a:latin typeface="Aptos"/>
                <a:ea typeface="Aptos"/>
                <a:cs typeface="Aptos"/>
              </a:rPr>
              <a:t> </a:t>
            </a:r>
            <a:r>
              <a:rPr sz="2800" b="1">
                <a:solidFill>
                  <a:schemeClr val="tx1"/>
                </a:solidFill>
                <a:latin typeface="Aptos"/>
                <a:ea typeface="Aptos"/>
                <a:cs typeface="Aptos"/>
              </a:rPr>
              <a:t>does</a:t>
            </a:r>
            <a:r>
              <a:rPr sz="2800" b="1" spc="15">
                <a:solidFill>
                  <a:schemeClr val="tx1"/>
                </a:solidFill>
                <a:latin typeface="Aptos"/>
                <a:ea typeface="Aptos"/>
                <a:cs typeface="Aptos"/>
              </a:rPr>
              <a:t> </a:t>
            </a:r>
            <a:r>
              <a:rPr sz="2800" b="1">
                <a:solidFill>
                  <a:schemeClr val="tx1"/>
                </a:solidFill>
                <a:latin typeface="Aptos"/>
                <a:ea typeface="Aptos"/>
                <a:cs typeface="Aptos"/>
              </a:rPr>
              <a:t>not</a:t>
            </a:r>
            <a:r>
              <a:rPr sz="2800" b="1" spc="-145">
                <a:solidFill>
                  <a:schemeClr val="tx1"/>
                </a:solidFill>
                <a:latin typeface="Aptos"/>
                <a:ea typeface="Aptos"/>
                <a:cs typeface="Aptos"/>
              </a:rPr>
              <a:t> </a:t>
            </a:r>
            <a:r>
              <a:rPr sz="2800" b="1" spc="-10">
                <a:solidFill>
                  <a:schemeClr val="tx1"/>
                </a:solidFill>
                <a:latin typeface="Aptos"/>
                <a:ea typeface="Aptos"/>
                <a:cs typeface="Aptos"/>
              </a:rPr>
              <a:t>count</a:t>
            </a:r>
            <a:r>
              <a:rPr sz="2800" b="1" spc="-40">
                <a:solidFill>
                  <a:schemeClr val="tx1"/>
                </a:solidFill>
                <a:latin typeface="Aptos"/>
                <a:ea typeface="Aptos"/>
                <a:cs typeface="Aptos"/>
              </a:rPr>
              <a:t> </a:t>
            </a:r>
            <a:r>
              <a:rPr sz="2800" b="1" spc="-10">
                <a:solidFill>
                  <a:schemeClr val="tx1"/>
                </a:solidFill>
                <a:latin typeface="Aptos"/>
                <a:ea typeface="Aptos"/>
                <a:cs typeface="Aptos"/>
              </a:rPr>
              <a:t>as</a:t>
            </a:r>
            <a:r>
              <a:rPr sz="2800" b="1" spc="-20">
                <a:solidFill>
                  <a:schemeClr val="tx1"/>
                </a:solidFill>
                <a:latin typeface="Aptos"/>
                <a:ea typeface="Aptos"/>
                <a:cs typeface="Aptos"/>
              </a:rPr>
              <a:t> </a:t>
            </a:r>
            <a:r>
              <a:rPr sz="2800" b="1" i="1" spc="-175">
                <a:solidFill>
                  <a:schemeClr val="tx1"/>
                </a:solidFill>
                <a:latin typeface="Aptos"/>
                <a:ea typeface="Aptos"/>
                <a:cs typeface="Aptos"/>
              </a:rPr>
              <a:t>writing</a:t>
            </a:r>
            <a:r>
              <a:rPr sz="2800" b="1" i="1" spc="75">
                <a:solidFill>
                  <a:schemeClr val="tx1"/>
                </a:solidFill>
                <a:latin typeface="Aptos"/>
                <a:ea typeface="Aptos"/>
                <a:cs typeface="Aptos"/>
              </a:rPr>
              <a:t> </a:t>
            </a:r>
            <a:r>
              <a:rPr sz="2800" b="1" i="1" spc="-160">
                <a:solidFill>
                  <a:schemeClr val="tx1"/>
                </a:solidFill>
                <a:latin typeface="Aptos"/>
                <a:ea typeface="Aptos"/>
                <a:cs typeface="Aptos"/>
              </a:rPr>
              <a:t>your</a:t>
            </a:r>
            <a:r>
              <a:rPr sz="2800" b="1" i="1" spc="5">
                <a:solidFill>
                  <a:schemeClr val="tx1"/>
                </a:solidFill>
                <a:latin typeface="Aptos"/>
                <a:ea typeface="Aptos"/>
                <a:cs typeface="Aptos"/>
              </a:rPr>
              <a:t> </a:t>
            </a:r>
            <a:r>
              <a:rPr sz="2800" b="1" i="1" spc="-35">
                <a:solidFill>
                  <a:schemeClr val="tx1"/>
                </a:solidFill>
                <a:latin typeface="Aptos"/>
                <a:ea typeface="Aptos"/>
                <a:cs typeface="Aptos"/>
              </a:rPr>
              <a:t>code</a:t>
            </a:r>
            <a:endParaRPr sz="2800" b="1" kern="1200">
              <a:solidFill>
                <a:schemeClr val="tx1"/>
              </a:solidFill>
              <a:latin typeface="+mn-lt"/>
              <a:ea typeface="+mn-lt"/>
              <a:cs typeface="+mn-lt"/>
            </a:endParaRPr>
          </a:p>
        </p:txBody>
      </p:sp>
    </p:spTree>
    <p:extLst>
      <p:ext uri="{BB962C8B-B14F-4D97-AF65-F5344CB8AC3E}">
        <p14:creationId xmlns:p14="http://schemas.microsoft.com/office/powerpoint/2010/main" val="952178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90258-5FBE-7378-5CD8-6766E30B6E06}"/>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Academic honesty: AI</a:t>
            </a:r>
          </a:p>
        </p:txBody>
      </p:sp>
      <p:sp>
        <p:nvSpPr>
          <p:cNvPr id="4" name="object 2">
            <a:extLst>
              <a:ext uri="{FF2B5EF4-FFF2-40B4-BE49-F238E27FC236}">
                <a16:creationId xmlns:a16="http://schemas.microsoft.com/office/drawing/2014/main" id="{5E9E54C9-3079-4B70-0637-DD6D4710C4DB}"/>
              </a:ext>
            </a:extLst>
          </p:cNvPr>
          <p:cNvSpPr>
            <a:spLocks noGrp="1"/>
          </p:cNvSpPr>
          <p:nvPr/>
        </p:nvSpPr>
        <p:spPr>
          <a:xfrm>
            <a:off x="1187449" y="1455738"/>
            <a:ext cx="9724031" cy="3683358"/>
          </a:xfrm>
          <a:prstGeom prst="rect">
            <a:avLst/>
          </a:prstGeom>
        </p:spPr>
        <p:txBody>
          <a:bodyPr vert="horz" lIns="91440" tIns="45720" rIns="91440" bIns="45720" anchor="ctr">
            <a:normAutofit fontScale="91473" lnSpcReduction="10000"/>
          </a:bodyPr>
          <a:lstStyle/>
          <a:p>
            <a:pPr marL="266700" indent="-152400" algn="l">
              <a:lnSpc>
                <a:spcPct val="108000"/>
              </a:lnSpc>
              <a:spcBef>
                <a:spcPts val="850"/>
              </a:spcBef>
              <a:spcAft>
                <a:spcPts val="5"/>
              </a:spcAft>
              <a:buFont typeface="Arial"/>
              <a:buChar char="•"/>
              <a:defRPr>
                <a:latin typeface="Aptos"/>
                <a:ea typeface="Aptos"/>
                <a:cs typeface="Aptos"/>
              </a:defRPr>
            </a:pPr>
            <a:r>
              <a:rPr sz="2800" b="1" spc="215">
                <a:solidFill>
                  <a:schemeClr val="tx1"/>
                </a:solidFill>
                <a:latin typeface="Aptos"/>
                <a:ea typeface="Aptos"/>
                <a:cs typeface="Aptos"/>
              </a:rPr>
              <a:t>Do</a:t>
            </a:r>
            <a:r>
              <a:rPr sz="2800" b="1" spc="45">
                <a:solidFill>
                  <a:schemeClr val="tx1"/>
                </a:solidFill>
                <a:latin typeface="Aptos"/>
                <a:ea typeface="Aptos"/>
                <a:cs typeface="Aptos"/>
              </a:rPr>
              <a:t> </a:t>
            </a:r>
            <a:r>
              <a:rPr sz="2800" b="1">
                <a:solidFill>
                  <a:schemeClr val="tx1"/>
                </a:solidFill>
                <a:latin typeface="Aptos"/>
                <a:ea typeface="Aptos"/>
                <a:cs typeface="Aptos"/>
              </a:rPr>
              <a:t>not</a:t>
            </a:r>
            <a:r>
              <a:rPr sz="2800" b="1" spc="-35">
                <a:solidFill>
                  <a:schemeClr val="tx1"/>
                </a:solidFill>
                <a:latin typeface="Aptos"/>
                <a:ea typeface="Aptos"/>
                <a:cs typeface="Aptos"/>
              </a:rPr>
              <a:t> </a:t>
            </a:r>
            <a:r>
              <a:rPr sz="2800" b="1">
                <a:solidFill>
                  <a:schemeClr val="tx1"/>
                </a:solidFill>
                <a:latin typeface="Aptos"/>
                <a:ea typeface="Aptos"/>
                <a:cs typeface="Aptos"/>
              </a:rPr>
              <a:t>use</a:t>
            </a:r>
            <a:r>
              <a:rPr sz="2800" b="1" spc="-25">
                <a:solidFill>
                  <a:schemeClr val="tx1"/>
                </a:solidFill>
                <a:latin typeface="Aptos"/>
                <a:ea typeface="Aptos"/>
                <a:cs typeface="Aptos"/>
              </a:rPr>
              <a:t> </a:t>
            </a:r>
            <a:r>
              <a:rPr sz="2800" b="1">
                <a:solidFill>
                  <a:schemeClr val="tx1"/>
                </a:solidFill>
                <a:latin typeface="Aptos"/>
                <a:ea typeface="Aptos"/>
                <a:cs typeface="Aptos"/>
              </a:rPr>
              <a:t>AI*:</a:t>
            </a:r>
            <a:r>
              <a:rPr sz="2800" b="1" spc="-30">
                <a:solidFill>
                  <a:schemeClr val="tx1"/>
                </a:solidFill>
                <a:latin typeface="Aptos"/>
                <a:ea typeface="Aptos"/>
                <a:cs typeface="Aptos"/>
              </a:rPr>
              <a:t> </a:t>
            </a:r>
            <a:r>
              <a:rPr sz="2800">
                <a:solidFill>
                  <a:schemeClr val="tx1"/>
                </a:solidFill>
                <a:latin typeface="Aptos"/>
                <a:ea typeface="Aptos"/>
                <a:cs typeface="Aptos"/>
              </a:rPr>
              <a:t>ChatGPT,</a:t>
            </a:r>
            <a:r>
              <a:rPr sz="2800" spc="95">
                <a:solidFill>
                  <a:schemeClr val="tx1"/>
                </a:solidFill>
                <a:latin typeface="Aptos"/>
                <a:ea typeface="Aptos"/>
                <a:cs typeface="Aptos"/>
              </a:rPr>
              <a:t> </a:t>
            </a:r>
            <a:r>
              <a:rPr sz="2800">
                <a:solidFill>
                  <a:schemeClr val="tx1"/>
                </a:solidFill>
                <a:latin typeface="Aptos"/>
                <a:ea typeface="Aptos"/>
                <a:cs typeface="Aptos"/>
              </a:rPr>
              <a:t>Copilot,</a:t>
            </a:r>
            <a:r>
              <a:rPr sz="2800" spc="110">
                <a:solidFill>
                  <a:schemeClr val="tx1"/>
                </a:solidFill>
                <a:latin typeface="Aptos"/>
                <a:ea typeface="Aptos"/>
                <a:cs typeface="Aptos"/>
              </a:rPr>
              <a:t> </a:t>
            </a:r>
            <a:r>
              <a:rPr sz="2800" spc="-25">
                <a:solidFill>
                  <a:schemeClr val="tx1"/>
                </a:solidFill>
                <a:latin typeface="Aptos"/>
                <a:ea typeface="Aptos"/>
                <a:cs typeface="Aptos"/>
              </a:rPr>
              <a:t>etc</a:t>
            </a:r>
            <a:endParaRPr sz="2800" kern="1200">
              <a:solidFill>
                <a:schemeClr val="tx1"/>
              </a:solidFill>
              <a:latin typeface="+mn-lt"/>
              <a:ea typeface="+mn-lt"/>
              <a:cs typeface="+mn-lt"/>
            </a:endParaRPr>
          </a:p>
          <a:p>
            <a:pPr marL="266700" marR="5080" indent="-152400" algn="l">
              <a:lnSpc>
                <a:spcPct val="108000"/>
              </a:lnSpc>
              <a:spcAft>
                <a:spcPts val="3"/>
              </a:spcAft>
              <a:buFont typeface="Arial"/>
              <a:buChar char="•"/>
              <a:tabLst>
                <a:tab pos="3167380" algn="l"/>
              </a:tabLst>
              <a:defRPr>
                <a:latin typeface="Aptos"/>
                <a:ea typeface="Aptos"/>
                <a:cs typeface="Aptos"/>
              </a:defRPr>
            </a:pPr>
            <a:r>
              <a:rPr sz="2800" spc="-90">
                <a:solidFill>
                  <a:schemeClr val="tx1"/>
                </a:solidFill>
                <a:latin typeface="Aptos"/>
                <a:ea typeface="Aptos"/>
                <a:cs typeface="Aptos"/>
              </a:rPr>
              <a:t>To</a:t>
            </a:r>
            <a:r>
              <a:rPr sz="2800" spc="15">
                <a:solidFill>
                  <a:schemeClr val="tx1"/>
                </a:solidFill>
                <a:latin typeface="Aptos"/>
                <a:ea typeface="Aptos"/>
                <a:cs typeface="Aptos"/>
              </a:rPr>
              <a:t> </a:t>
            </a:r>
            <a:r>
              <a:rPr sz="2800">
                <a:solidFill>
                  <a:schemeClr val="tx1"/>
                </a:solidFill>
                <a:latin typeface="Aptos"/>
                <a:ea typeface="Aptos"/>
                <a:cs typeface="Aptos"/>
              </a:rPr>
              <a:t>look</a:t>
            </a:r>
            <a:r>
              <a:rPr sz="2800" spc="45">
                <a:solidFill>
                  <a:schemeClr val="tx1"/>
                </a:solidFill>
                <a:latin typeface="Aptos"/>
                <a:ea typeface="Aptos"/>
                <a:cs typeface="Aptos"/>
              </a:rPr>
              <a:t> </a:t>
            </a:r>
            <a:r>
              <a:rPr sz="2800">
                <a:solidFill>
                  <a:schemeClr val="tx1"/>
                </a:solidFill>
                <a:latin typeface="Aptos"/>
                <a:ea typeface="Aptos"/>
                <a:cs typeface="Aptos"/>
              </a:rPr>
              <a:t>up</a:t>
            </a:r>
            <a:r>
              <a:rPr sz="2800" spc="10">
                <a:solidFill>
                  <a:schemeClr val="tx1"/>
                </a:solidFill>
                <a:latin typeface="Aptos"/>
                <a:ea typeface="Aptos"/>
                <a:cs typeface="Aptos"/>
              </a:rPr>
              <a:t> the </a:t>
            </a:r>
            <a:r>
              <a:rPr sz="2800" spc="-45">
                <a:solidFill>
                  <a:schemeClr val="tx1"/>
                </a:solidFill>
                <a:latin typeface="Aptos"/>
                <a:ea typeface="Aptos"/>
                <a:cs typeface="Aptos"/>
              </a:rPr>
              <a:t>solution/source</a:t>
            </a:r>
            <a:r>
              <a:rPr sz="2800" spc="60">
                <a:solidFill>
                  <a:schemeClr val="tx1"/>
                </a:solidFill>
                <a:latin typeface="Aptos"/>
                <a:ea typeface="Aptos"/>
                <a:cs typeface="Aptos"/>
              </a:rPr>
              <a:t> </a:t>
            </a:r>
            <a:r>
              <a:rPr sz="2800" spc="-20">
                <a:solidFill>
                  <a:schemeClr val="tx1"/>
                </a:solidFill>
                <a:latin typeface="Aptos"/>
                <a:ea typeface="Aptos"/>
                <a:cs typeface="Aptos"/>
              </a:rPr>
              <a:t>code</a:t>
            </a:r>
          </a:p>
          <a:p>
            <a:pPr marL="784225" marR="5080" indent="-228600" algn="l">
              <a:lnSpc>
                <a:spcPct val="90000"/>
              </a:lnSpc>
              <a:buFont typeface="Arial"/>
              <a:buChar char="•"/>
              <a:tabLst>
                <a:tab pos="3167380" algn="l"/>
              </a:tabLst>
              <a:defRPr>
                <a:latin typeface="Aptos"/>
                <a:ea typeface="Aptos"/>
                <a:cs typeface="Aptos"/>
              </a:defRPr>
            </a:pPr>
            <a:endParaRPr sz="2800" kern="1200">
              <a:solidFill>
                <a:schemeClr val="tx1"/>
              </a:solidFill>
              <a:latin typeface="+mn-lt"/>
              <a:ea typeface="+mn-lt"/>
              <a:cs typeface="+mn-lt"/>
            </a:endParaRPr>
          </a:p>
          <a:p>
            <a:pPr marL="266700" marR="5080" indent="-152400" algn="l">
              <a:lnSpc>
                <a:spcPct val="108000"/>
              </a:lnSpc>
              <a:spcAft>
                <a:spcPts val="5"/>
              </a:spcAft>
              <a:buFont typeface="Arial"/>
              <a:buChar char="•"/>
              <a:tabLst>
                <a:tab pos="3167380" algn="l"/>
              </a:tabLst>
              <a:defRPr>
                <a:latin typeface="Aptos"/>
                <a:ea typeface="Aptos"/>
                <a:cs typeface="Aptos"/>
              </a:defRPr>
            </a:pPr>
            <a:r>
              <a:rPr sz="2800" b="1" spc="-85">
                <a:solidFill>
                  <a:schemeClr val="tx1"/>
                </a:solidFill>
                <a:latin typeface="Aptos"/>
                <a:ea typeface="Aptos"/>
                <a:cs typeface="Aptos"/>
              </a:rPr>
              <a:t>Stack-</a:t>
            </a:r>
            <a:r>
              <a:rPr sz="2800" b="1">
                <a:solidFill>
                  <a:schemeClr val="tx1"/>
                </a:solidFill>
                <a:latin typeface="Aptos"/>
                <a:ea typeface="Aptos"/>
                <a:cs typeface="Aptos"/>
              </a:rPr>
              <a:t>overflow</a:t>
            </a:r>
            <a:r>
              <a:rPr sz="2800" b="1" spc="60">
                <a:solidFill>
                  <a:schemeClr val="tx1"/>
                </a:solidFill>
                <a:latin typeface="Aptos"/>
                <a:ea typeface="Aptos"/>
                <a:cs typeface="Aptos"/>
              </a:rPr>
              <a:t> </a:t>
            </a:r>
            <a:r>
              <a:rPr sz="2800" b="1" spc="-75">
                <a:solidFill>
                  <a:schemeClr val="tx1"/>
                </a:solidFill>
                <a:latin typeface="Aptos"/>
                <a:ea typeface="Aptos"/>
                <a:cs typeface="Aptos"/>
              </a:rPr>
              <a:t>driven-</a:t>
            </a:r>
            <a:r>
              <a:rPr sz="2800" b="1" spc="-85">
                <a:solidFill>
                  <a:schemeClr val="tx1"/>
                </a:solidFill>
                <a:latin typeface="Aptos"/>
                <a:ea typeface="Aptos"/>
                <a:cs typeface="Aptos"/>
              </a:rPr>
              <a:t>development:</a:t>
            </a:r>
            <a:r>
              <a:rPr sz="2800" b="1" spc="100">
                <a:solidFill>
                  <a:schemeClr val="tx1"/>
                </a:solidFill>
                <a:latin typeface="Aptos"/>
                <a:ea typeface="Aptos"/>
                <a:cs typeface="Aptos"/>
              </a:rPr>
              <a:t> </a:t>
            </a:r>
            <a:r>
              <a:rPr sz="2800" spc="-25">
                <a:solidFill>
                  <a:schemeClr val="tx1"/>
                </a:solidFill>
                <a:latin typeface="Aptos"/>
                <a:ea typeface="Aptos"/>
                <a:cs typeface="Aptos"/>
              </a:rPr>
              <a:t>Bad</a:t>
            </a:r>
          </a:p>
          <a:p>
            <a:pPr marR="5080" indent="-228600" algn="l">
              <a:lnSpc>
                <a:spcPct val="90000"/>
              </a:lnSpc>
              <a:buFont typeface="Arial"/>
              <a:buChar char="•"/>
              <a:tabLst>
                <a:tab pos="3167380" algn="l"/>
              </a:tabLst>
              <a:defRPr>
                <a:latin typeface="Aptos"/>
                <a:ea typeface="Aptos"/>
                <a:cs typeface="Aptos"/>
              </a:defRPr>
            </a:pPr>
            <a:endParaRPr sz="2800" kern="1200">
              <a:solidFill>
                <a:schemeClr val="tx1"/>
              </a:solidFill>
              <a:latin typeface="+mn-lt"/>
              <a:ea typeface="+mn-lt"/>
              <a:cs typeface="+mn-lt"/>
            </a:endParaRPr>
          </a:p>
          <a:p>
            <a:pPr marL="266700" marR="5080" indent="-152400" algn="l">
              <a:lnSpc>
                <a:spcPct val="108000"/>
              </a:lnSpc>
              <a:spcAft>
                <a:spcPts val="5"/>
              </a:spcAft>
              <a:buFont typeface="Arial"/>
              <a:buChar char="•"/>
              <a:tabLst>
                <a:tab pos="3167380" algn="l"/>
              </a:tabLst>
              <a:defRPr>
                <a:latin typeface="Aptos"/>
                <a:ea typeface="Aptos"/>
                <a:cs typeface="Aptos"/>
              </a:defRPr>
            </a:pPr>
            <a:r>
              <a:rPr sz="2800" b="1" spc="65">
                <a:solidFill>
                  <a:schemeClr val="tx1"/>
                </a:solidFill>
                <a:latin typeface="Aptos"/>
                <a:ea typeface="Aptos"/>
                <a:cs typeface="Aptos"/>
              </a:rPr>
              <a:t>ChatGPT-driven development</a:t>
            </a:r>
            <a:r>
              <a:rPr sz="2800" b="1" spc="-85">
                <a:solidFill>
                  <a:schemeClr val="tx1"/>
                </a:solidFill>
                <a:latin typeface="Aptos"/>
                <a:ea typeface="Aptos"/>
                <a:cs typeface="Aptos"/>
              </a:rPr>
              <a:t>:</a:t>
            </a:r>
            <a:r>
              <a:rPr sz="2800" b="1" spc="145">
                <a:solidFill>
                  <a:schemeClr val="tx1"/>
                </a:solidFill>
                <a:latin typeface="Aptos"/>
                <a:ea typeface="Aptos"/>
                <a:cs typeface="Aptos"/>
              </a:rPr>
              <a:t> </a:t>
            </a:r>
            <a:r>
              <a:rPr sz="2800">
                <a:solidFill>
                  <a:schemeClr val="tx1"/>
                </a:solidFill>
                <a:latin typeface="Aptos"/>
                <a:ea typeface="Aptos"/>
                <a:cs typeface="Aptos"/>
              </a:rPr>
              <a:t>You</a:t>
            </a:r>
            <a:r>
              <a:rPr sz="2800" spc="30">
                <a:solidFill>
                  <a:schemeClr val="tx1"/>
                </a:solidFill>
                <a:latin typeface="Aptos"/>
                <a:ea typeface="Aptos"/>
                <a:cs typeface="Aptos"/>
              </a:rPr>
              <a:t> </a:t>
            </a:r>
            <a:r>
              <a:rPr sz="2800" spc="-40">
                <a:solidFill>
                  <a:schemeClr val="tx1"/>
                </a:solidFill>
                <a:latin typeface="Aptos"/>
                <a:ea typeface="Aptos"/>
                <a:cs typeface="Aptos"/>
              </a:rPr>
              <a:t>may</a:t>
            </a:r>
            <a:r>
              <a:rPr sz="2800" spc="65">
                <a:solidFill>
                  <a:schemeClr val="tx1"/>
                </a:solidFill>
                <a:latin typeface="Aptos"/>
                <a:ea typeface="Aptos"/>
                <a:cs typeface="Aptos"/>
              </a:rPr>
              <a:t> </a:t>
            </a:r>
            <a:r>
              <a:rPr sz="2800" spc="-80">
                <a:solidFill>
                  <a:schemeClr val="tx1"/>
                </a:solidFill>
                <a:latin typeface="Aptos"/>
                <a:ea typeface="Aptos"/>
                <a:cs typeface="Aptos"/>
              </a:rPr>
              <a:t>fail</a:t>
            </a:r>
            <a:r>
              <a:rPr sz="2800" spc="-10">
                <a:solidFill>
                  <a:schemeClr val="tx1"/>
                </a:solidFill>
                <a:latin typeface="Aptos"/>
                <a:ea typeface="Aptos"/>
                <a:cs typeface="Aptos"/>
              </a:rPr>
              <a:t> the</a:t>
            </a:r>
            <a:r>
              <a:rPr sz="2800" spc="30">
                <a:solidFill>
                  <a:schemeClr val="tx1"/>
                </a:solidFill>
                <a:latin typeface="Aptos"/>
                <a:ea typeface="Aptos"/>
                <a:cs typeface="Aptos"/>
              </a:rPr>
              <a:t> </a:t>
            </a:r>
            <a:r>
              <a:rPr sz="2800" spc="-10">
                <a:solidFill>
                  <a:schemeClr val="tx1"/>
                </a:solidFill>
                <a:latin typeface="Aptos"/>
                <a:ea typeface="Aptos"/>
                <a:cs typeface="Aptos"/>
              </a:rPr>
              <a:t>course </a:t>
            </a:r>
          </a:p>
          <a:p>
            <a:pPr marR="5080" indent="-228600" algn="l">
              <a:lnSpc>
                <a:spcPct val="90000"/>
              </a:lnSpc>
              <a:buFont typeface="Arial"/>
              <a:buChar char="•"/>
              <a:tabLst>
                <a:tab pos="3167380" algn="l"/>
              </a:tabLst>
              <a:defRPr>
                <a:latin typeface="Aptos"/>
                <a:ea typeface="Aptos"/>
                <a:cs typeface="Aptos"/>
              </a:defRPr>
            </a:pPr>
            <a:endParaRPr sz="2800" kern="1200" spc="-10">
              <a:solidFill>
                <a:schemeClr val="tx1"/>
              </a:solidFill>
              <a:latin typeface="+mn-lt"/>
              <a:ea typeface="+mn-lt"/>
              <a:cs typeface="+mn-lt"/>
            </a:endParaRPr>
          </a:p>
          <a:p>
            <a:pPr marL="266700" marR="5080" indent="-152400" algn="l">
              <a:lnSpc>
                <a:spcPct val="108000"/>
              </a:lnSpc>
              <a:spcAft>
                <a:spcPts val="5"/>
              </a:spcAft>
              <a:buFont typeface="Arial"/>
              <a:buChar char="•"/>
              <a:tabLst>
                <a:tab pos="3167380" algn="l"/>
              </a:tabLst>
              <a:defRPr>
                <a:latin typeface="Aptos"/>
                <a:ea typeface="Aptos"/>
                <a:cs typeface="Aptos"/>
              </a:defRPr>
            </a:pPr>
            <a:r>
              <a:rPr sz="2800" b="1">
                <a:solidFill>
                  <a:schemeClr val="tx1"/>
                </a:solidFill>
                <a:latin typeface="Aptos"/>
                <a:ea typeface="Aptos"/>
                <a:cs typeface="Aptos"/>
              </a:rPr>
              <a:t>Careful when </a:t>
            </a:r>
            <a:r>
              <a:rPr sz="2800" b="1" spc="-85">
                <a:solidFill>
                  <a:schemeClr val="tx1"/>
                </a:solidFill>
                <a:latin typeface="Aptos"/>
                <a:ea typeface="Aptos"/>
                <a:cs typeface="Aptos"/>
              </a:rPr>
              <a:t>using it for </a:t>
            </a:r>
            <a:r>
              <a:rPr sz="2800" b="1" spc="-45">
                <a:solidFill>
                  <a:schemeClr val="tx1"/>
                </a:solidFill>
                <a:latin typeface="Aptos"/>
                <a:ea typeface="Aptos"/>
                <a:cs typeface="Aptos"/>
              </a:rPr>
              <a:t>writing</a:t>
            </a:r>
            <a:r>
              <a:rPr sz="2800" b="1" spc="-20">
                <a:solidFill>
                  <a:schemeClr val="tx1"/>
                </a:solidFill>
                <a:latin typeface="Aptos"/>
                <a:ea typeface="Aptos"/>
                <a:cs typeface="Aptos"/>
              </a:rPr>
              <a:t> </a:t>
            </a:r>
            <a:r>
              <a:rPr sz="2800" b="1" spc="-10">
                <a:solidFill>
                  <a:schemeClr val="tx1"/>
                </a:solidFill>
                <a:latin typeface="Aptos"/>
                <a:ea typeface="Aptos"/>
                <a:cs typeface="Aptos"/>
              </a:rPr>
              <a:t>the</a:t>
            </a:r>
            <a:r>
              <a:rPr sz="2800" b="1" spc="5">
                <a:solidFill>
                  <a:schemeClr val="tx1"/>
                </a:solidFill>
                <a:latin typeface="Aptos"/>
                <a:ea typeface="Aptos"/>
                <a:cs typeface="Aptos"/>
              </a:rPr>
              <a:t> </a:t>
            </a:r>
            <a:r>
              <a:rPr sz="2800" b="1" spc="-10">
                <a:solidFill>
                  <a:schemeClr val="tx1"/>
                </a:solidFill>
                <a:latin typeface="Aptos"/>
                <a:ea typeface="Aptos"/>
                <a:cs typeface="Aptos"/>
              </a:rPr>
              <a:t>report</a:t>
            </a:r>
            <a:endParaRPr sz="2800" b="1" kern="1200">
              <a:solidFill>
                <a:schemeClr val="tx1"/>
              </a:solidFill>
              <a:latin typeface="+mn-lt"/>
              <a:ea typeface="+mn-lt"/>
              <a:cs typeface="+mn-lt"/>
            </a:endParaRPr>
          </a:p>
          <a:p>
            <a:pPr marL="266700" marR="289560" indent="-152400" algn="l">
              <a:lnSpc>
                <a:spcPct val="108000"/>
              </a:lnSpc>
              <a:spcBef>
                <a:spcPts val="45"/>
              </a:spcBef>
              <a:spcAft>
                <a:spcPts val="3"/>
              </a:spcAft>
              <a:buFont typeface="Arial"/>
              <a:buChar char="•"/>
              <a:tabLst>
                <a:tab pos="2955925" algn="l"/>
              </a:tabLst>
              <a:defRPr>
                <a:latin typeface="Aptos"/>
                <a:ea typeface="Aptos"/>
                <a:cs typeface="Aptos"/>
              </a:defRPr>
            </a:pPr>
            <a:r>
              <a:rPr sz="2800">
                <a:solidFill>
                  <a:schemeClr val="tx1"/>
                </a:solidFill>
                <a:latin typeface="Aptos"/>
                <a:ea typeface="Aptos"/>
                <a:cs typeface="Aptos"/>
              </a:rPr>
              <a:t>It</a:t>
            </a:r>
            <a:r>
              <a:rPr sz="2800" spc="-114">
                <a:solidFill>
                  <a:schemeClr val="tx1"/>
                </a:solidFill>
                <a:latin typeface="Aptos"/>
                <a:ea typeface="Aptos"/>
                <a:cs typeface="Aptos"/>
              </a:rPr>
              <a:t> </a:t>
            </a:r>
            <a:r>
              <a:rPr sz="2800" spc="-25">
                <a:solidFill>
                  <a:schemeClr val="tx1"/>
                </a:solidFill>
                <a:latin typeface="Aptos"/>
                <a:ea typeface="Aptos"/>
                <a:cs typeface="Aptos"/>
              </a:rPr>
              <a:t>can</a:t>
            </a:r>
            <a:r>
              <a:rPr sz="2800" spc="-65">
                <a:solidFill>
                  <a:schemeClr val="tx1"/>
                </a:solidFill>
                <a:latin typeface="Aptos"/>
                <a:ea typeface="Aptos"/>
                <a:cs typeface="Aptos"/>
              </a:rPr>
              <a:t> </a:t>
            </a:r>
            <a:r>
              <a:rPr sz="2800">
                <a:solidFill>
                  <a:schemeClr val="tx1"/>
                </a:solidFill>
                <a:latin typeface="Aptos"/>
                <a:ea typeface="Aptos"/>
                <a:cs typeface="Aptos"/>
              </a:rPr>
              <a:t>be</a:t>
            </a:r>
            <a:r>
              <a:rPr sz="2800" spc="20">
                <a:solidFill>
                  <a:schemeClr val="tx1"/>
                </a:solidFill>
                <a:latin typeface="Aptos"/>
                <a:ea typeface="Aptos"/>
                <a:cs typeface="Aptos"/>
              </a:rPr>
              <a:t> </a:t>
            </a:r>
            <a:r>
              <a:rPr sz="2800" spc="-75">
                <a:solidFill>
                  <a:schemeClr val="tx1"/>
                </a:solidFill>
                <a:latin typeface="Aptos"/>
                <a:ea typeface="Aptos"/>
                <a:cs typeface="Aptos"/>
              </a:rPr>
              <a:t>used,</a:t>
            </a:r>
            <a:r>
              <a:rPr sz="2800" spc="55">
                <a:solidFill>
                  <a:schemeClr val="tx1"/>
                </a:solidFill>
                <a:latin typeface="Aptos"/>
                <a:ea typeface="Aptos"/>
                <a:cs typeface="Aptos"/>
              </a:rPr>
              <a:t> </a:t>
            </a:r>
            <a:r>
              <a:rPr sz="2800" spc="-10">
                <a:solidFill>
                  <a:schemeClr val="tx1"/>
                </a:solidFill>
                <a:latin typeface="Aptos"/>
                <a:ea typeface="Aptos"/>
                <a:cs typeface="Aptos"/>
              </a:rPr>
              <a:t>but</a:t>
            </a:r>
            <a:r>
              <a:rPr sz="2800" spc="-5">
                <a:solidFill>
                  <a:schemeClr val="tx1"/>
                </a:solidFill>
                <a:latin typeface="Aptos"/>
                <a:ea typeface="Aptos"/>
                <a:cs typeface="Aptos"/>
              </a:rPr>
              <a:t> </a:t>
            </a:r>
            <a:r>
              <a:rPr sz="2800">
                <a:solidFill>
                  <a:schemeClr val="tx1"/>
                </a:solidFill>
                <a:latin typeface="Aptos"/>
                <a:ea typeface="Aptos"/>
                <a:cs typeface="Aptos"/>
              </a:rPr>
              <a:t>be</a:t>
            </a:r>
            <a:r>
              <a:rPr sz="2800" spc="20">
                <a:solidFill>
                  <a:schemeClr val="tx1"/>
                </a:solidFill>
                <a:latin typeface="Aptos"/>
                <a:ea typeface="Aptos"/>
                <a:cs typeface="Aptos"/>
              </a:rPr>
              <a:t> </a:t>
            </a:r>
            <a:r>
              <a:rPr sz="2800" spc="-95">
                <a:solidFill>
                  <a:schemeClr val="tx1"/>
                </a:solidFill>
                <a:latin typeface="Aptos"/>
                <a:ea typeface="Aptos"/>
                <a:cs typeface="Aptos"/>
              </a:rPr>
              <a:t>careful</a:t>
            </a:r>
            <a:endParaRPr sz="2800" kern="1200">
              <a:solidFill>
                <a:schemeClr val="tx1"/>
              </a:solidFill>
              <a:latin typeface="+mn-lt"/>
              <a:ea typeface="+mn-lt"/>
              <a:cs typeface="+mn-lt"/>
            </a:endParaRPr>
          </a:p>
        </p:txBody>
      </p:sp>
    </p:spTree>
    <p:extLst>
      <p:ext uri="{BB962C8B-B14F-4D97-AF65-F5344CB8AC3E}">
        <p14:creationId xmlns:p14="http://schemas.microsoft.com/office/powerpoint/2010/main" val="3206602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 name="Rectangle 226">
            <a:extLst>
              <a:ext uri="{FF2B5EF4-FFF2-40B4-BE49-F238E27FC236}">
                <a16:creationId xmlns:a16="http://schemas.microsoft.com/office/drawing/2014/main" id="{F7699747-0321-7B1B-7719-14CC91BDAB78}"/>
              </a:ext>
            </a:extLst>
          </p:cNvPr>
          <p:cNvSpPr>
            <a:spLocks noGrp="1"/>
          </p:cNvSpPr>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2" name="Title 1">
            <a:extLst>
              <a:ext uri="{FF2B5EF4-FFF2-40B4-BE49-F238E27FC236}">
                <a16:creationId xmlns:a16="http://schemas.microsoft.com/office/drawing/2014/main" id="{84058A9A-8265-8A01-BFC1-A93A0A937CD7}"/>
              </a:ext>
            </a:extLst>
          </p:cNvPr>
          <p:cNvSpPr>
            <a:spLocks noGrp="1"/>
          </p:cNvSpPr>
          <p:nvPr>
            <p:ph type="title"/>
          </p:nvPr>
        </p:nvSpPr>
        <p:spPr>
          <a:xfrm>
            <a:off x="1215865" y="2432109"/>
            <a:ext cx="9302496" cy="2193482"/>
          </a:xfrm>
        </p:spPr>
        <p:txBody>
          <a:bodyPr vert="horz" lIns="91440" tIns="45720" rIns="91440" bIns="45720" anchor="ctr">
            <a:normAutofit/>
          </a:bodyPr>
          <a:lstStyle/>
          <a:p>
            <a:pPr algn="ctr">
              <a:buNone/>
              <a:defRPr>
                <a:latin typeface="Aptos Display"/>
                <a:ea typeface="Aptos Display"/>
                <a:cs typeface="Aptos Display"/>
              </a:defRPr>
            </a:pPr>
            <a:r>
              <a:rPr sz="8800">
                <a:solidFill>
                  <a:schemeClr val="bg1"/>
                </a:solidFill>
                <a:latin typeface="Aptos Display"/>
                <a:ea typeface="Aptos Display"/>
                <a:cs typeface="Aptos Display"/>
              </a:rPr>
              <a:t>Let's start</a:t>
            </a:r>
          </a:p>
        </p:txBody>
      </p:sp>
      <p:sp>
        <p:nvSpPr>
          <p:cNvPr id="228" name="Rectangle 227">
            <a:extLst>
              <a:ext uri="{FF2B5EF4-FFF2-40B4-BE49-F238E27FC236}">
                <a16:creationId xmlns:a16="http://schemas.microsoft.com/office/drawing/2014/main" id="{A1C5D131-9849-A7CA-4473-918D8363DA98}"/>
              </a:ext>
            </a:extLst>
          </p:cNvPr>
          <p:cNvSpPr>
            <a:spLocks noGrp="1"/>
          </p:cNvSpPr>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9" name="Straight Connector 228">
            <a:extLst>
              <a:ext uri="{FF2B5EF4-FFF2-40B4-BE49-F238E27FC236}">
                <a16:creationId xmlns:a16="http://schemas.microsoft.com/office/drawing/2014/main" id="{721FF44B-8AA2-4EEF-9ACA-21A44E884E03}"/>
              </a:ext>
            </a:extLst>
          </p:cNvPr>
          <p:cNvSpPr>
            <a:spLocks noGrp="1"/>
          </p:cNvSpPr>
          <p:nvPr/>
        </p:nv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
        <p:nvSpPr>
          <p:cNvPr id="230" name="Straight Connector 229">
            <a:extLst>
              <a:ext uri="{FF2B5EF4-FFF2-40B4-BE49-F238E27FC236}">
                <a16:creationId xmlns:a16="http://schemas.microsoft.com/office/drawing/2014/main" id="{9B9DBD91-78F3-47C2-8499-76E321BF7F4A}"/>
              </a:ext>
            </a:extLst>
          </p:cNvPr>
          <p:cNvSpPr>
            <a:spLocks noGrp="1"/>
          </p:cNvSpPr>
          <p:nvPr/>
        </p:nv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Tree>
    <p:extLst>
      <p:ext uri="{BB962C8B-B14F-4D97-AF65-F5344CB8AC3E}">
        <p14:creationId xmlns:p14="http://schemas.microsoft.com/office/powerpoint/2010/main" val="39208504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33C51-71BE-6BDF-80C0-2C9CD4FBE30F}"/>
              </a:ext>
            </a:extLst>
          </p:cNvPr>
          <p:cNvSpPr>
            <a:spLocks noGrp="1"/>
          </p:cNvSpPr>
          <p:nvPr>
            <p:ph type="title"/>
          </p:nvPr>
        </p:nvSpPr>
        <p:spPr>
          <a:xfrm>
            <a:off x="330200" y="130175"/>
            <a:ext cx="12039600" cy="1325563"/>
          </a:xfrm>
        </p:spPr>
        <p:txBody>
          <a:bodyPr/>
          <a:lstStyle/>
          <a:p>
            <a:pPr>
              <a:buNone/>
              <a:defRPr>
                <a:latin typeface="Aptos Display"/>
                <a:ea typeface="Aptos Display"/>
                <a:cs typeface="Aptos Display"/>
              </a:defRPr>
            </a:pPr>
            <a:r>
              <a:t>Web Development</a:t>
            </a:r>
            <a:br/>
            <a:r>
              <a:t>Motivation, </a:t>
            </a:r>
            <a:r>
              <a:rPr spc="250">
                <a:latin typeface="Aptos Display"/>
                <a:ea typeface="Aptos Display"/>
                <a:cs typeface="Aptos Display"/>
              </a:rPr>
              <a:t>HTML,</a:t>
            </a:r>
            <a:r>
              <a:t> &amp; HTTP</a:t>
            </a:r>
          </a:p>
        </p:txBody>
      </p:sp>
      <p:sp>
        <p:nvSpPr>
          <p:cNvPr id="6" name="object 4">
            <a:extLst>
              <a:ext uri="{FF2B5EF4-FFF2-40B4-BE49-F238E27FC236}">
                <a16:creationId xmlns:a16="http://schemas.microsoft.com/office/drawing/2014/main" id="{6CD6A3BA-FA42-E722-F7F1-85A22AF735F8}"/>
              </a:ext>
            </a:extLst>
          </p:cNvPr>
          <p:cNvSpPr>
            <a:spLocks noGrp="1"/>
          </p:cNvSpPr>
          <p:nvPr/>
        </p:nvSpPr>
        <p:spPr>
          <a:xfrm>
            <a:off x="1132205" y="3798189"/>
            <a:ext cx="3674110" cy="1727835"/>
          </a:xfrm>
          <a:prstGeom prst="rect">
            <a:avLst/>
          </a:prstGeom>
        </p:spPr>
        <p:txBody>
          <a:bodyPr vert="horz" wrap="square" lIns="0" tIns="16510" rIns="0" bIns="0">
            <a:spAutoFit/>
          </a:bodyPr>
          <a:lstStyle/>
          <a:p>
            <a:pPr marL="12700">
              <a:lnSpc>
                <a:spcPct val="100000"/>
              </a:lnSpc>
              <a:spcBef>
                <a:spcPts val="130"/>
              </a:spcBef>
              <a:buNone/>
              <a:defRPr>
                <a:latin typeface="Aptos"/>
                <a:ea typeface="Aptos"/>
                <a:cs typeface="Aptos"/>
              </a:defRPr>
            </a:pPr>
            <a:r>
              <a:rPr sz="2750" spc="-110">
                <a:latin typeface="Aptos"/>
                <a:ea typeface="Aptos"/>
                <a:cs typeface="Aptos"/>
              </a:rPr>
              <a:t>Esmot Ara Tuli</a:t>
            </a:r>
            <a:endParaRPr sz="2750">
              <a:latin typeface="Calibri"/>
              <a:ea typeface="Calibri"/>
              <a:cs typeface="Calibri"/>
            </a:endParaRPr>
          </a:p>
          <a:p>
            <a:pPr>
              <a:lnSpc>
                <a:spcPct val="100000"/>
              </a:lnSpc>
              <a:buNone/>
              <a:defRPr>
                <a:latin typeface="Aptos"/>
                <a:ea typeface="Aptos"/>
                <a:cs typeface="Aptos"/>
              </a:defRPr>
            </a:pPr>
            <a:endParaRPr sz="2750">
              <a:latin typeface="Calibri"/>
              <a:ea typeface="Calibri"/>
              <a:cs typeface="Calibri"/>
            </a:endParaRPr>
          </a:p>
          <a:p>
            <a:pPr>
              <a:lnSpc>
                <a:spcPct val="100000"/>
              </a:lnSpc>
              <a:spcBef>
                <a:spcPts val="50"/>
              </a:spcBef>
              <a:buNone/>
              <a:defRPr>
                <a:latin typeface="Aptos"/>
                <a:ea typeface="Aptos"/>
                <a:cs typeface="Aptos"/>
              </a:defRPr>
            </a:pPr>
            <a:endParaRPr sz="2750">
              <a:latin typeface="Calibri"/>
              <a:ea typeface="Calibri"/>
              <a:cs typeface="Calibri"/>
            </a:endParaRPr>
          </a:p>
          <a:p>
            <a:pPr marL="12700">
              <a:lnSpc>
                <a:spcPct val="100000"/>
              </a:lnSpc>
              <a:buNone/>
              <a:defRPr>
                <a:latin typeface="Aptos"/>
                <a:ea typeface="Aptos"/>
                <a:cs typeface="Aptos"/>
              </a:defRPr>
            </a:pPr>
            <a:r>
              <a:rPr sz="2750" spc="140">
                <a:latin typeface="Aptos"/>
                <a:ea typeface="Aptos"/>
                <a:cs typeface="Aptos"/>
              </a:rPr>
              <a:t>SDU</a:t>
            </a:r>
            <a:r>
              <a:rPr sz="2750" spc="65">
                <a:latin typeface="Aptos"/>
                <a:ea typeface="Aptos"/>
                <a:cs typeface="Aptos"/>
              </a:rPr>
              <a:t> </a:t>
            </a:r>
            <a:r>
              <a:rPr sz="2750" spc="-40">
                <a:latin typeface="Aptos"/>
                <a:ea typeface="Aptos"/>
                <a:cs typeface="Aptos"/>
              </a:rPr>
              <a:t>Software</a:t>
            </a:r>
            <a:r>
              <a:rPr sz="2750" spc="200">
                <a:latin typeface="Aptos"/>
                <a:ea typeface="Aptos"/>
                <a:cs typeface="Aptos"/>
              </a:rPr>
              <a:t> </a:t>
            </a:r>
            <a:r>
              <a:rPr sz="2750" spc="-85">
                <a:latin typeface="Aptos"/>
                <a:ea typeface="Aptos"/>
                <a:cs typeface="Aptos"/>
              </a:rPr>
              <a:t>Engineering</a:t>
            </a:r>
            <a:endParaRPr sz="2750">
              <a:latin typeface="Calibri"/>
              <a:ea typeface="Calibri"/>
              <a:cs typeface="Calibri"/>
            </a:endParaRPr>
          </a:p>
        </p:txBody>
      </p:sp>
      <p:pic>
        <p:nvPicPr>
          <p:cNvPr id="11" name="object 3"/>
          <p:cNvPicPr>
            <a:picLocks noChangeAspect="1"/>
          </p:cNvPicPr>
          <p:nvPr/>
        </p:nvPicPr>
        <p:blipFill>
          <a:blip r:embed="rId3"/>
          <a:stretch>
            <a:fillRect/>
          </a:stretch>
        </p:blipFill>
        <p:spPr>
          <a:xfrm>
            <a:off x="7553325" y="2962275"/>
            <a:ext cx="2743200" cy="733425"/>
          </a:xfrm>
          <a:prstGeom prst="rect">
            <a:avLst/>
          </a:prstGeom>
        </p:spPr>
      </p:pic>
    </p:spTree>
    <p:extLst>
      <p:ext uri="{BB962C8B-B14F-4D97-AF65-F5344CB8AC3E}">
        <p14:creationId xmlns:p14="http://schemas.microsoft.com/office/powerpoint/2010/main" val="3037406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 name="Rectangle 226">
            <a:extLst>
              <a:ext uri="{FF2B5EF4-FFF2-40B4-BE49-F238E27FC236}">
                <a16:creationId xmlns:a16="http://schemas.microsoft.com/office/drawing/2014/main" id="{3CBCD306-2672-4617-D95C-BE47A9E03AFA}"/>
              </a:ext>
            </a:extLst>
          </p:cNvPr>
          <p:cNvSpPr>
            <a:spLocks noGrp="1"/>
          </p:cNvSpPr>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2" name="Title 1">
            <a:extLst>
              <a:ext uri="{FF2B5EF4-FFF2-40B4-BE49-F238E27FC236}">
                <a16:creationId xmlns:a16="http://schemas.microsoft.com/office/drawing/2014/main" id="{C27EAD6D-E083-D7B2-268D-66CFD7C50560}"/>
              </a:ext>
            </a:extLst>
          </p:cNvPr>
          <p:cNvSpPr>
            <a:spLocks noGrp="1"/>
          </p:cNvSpPr>
          <p:nvPr>
            <p:ph type="title"/>
          </p:nvPr>
        </p:nvSpPr>
        <p:spPr>
          <a:xfrm>
            <a:off x="1215865" y="2432109"/>
            <a:ext cx="9302496" cy="2193482"/>
          </a:xfrm>
        </p:spPr>
        <p:txBody>
          <a:bodyPr vert="horz" lIns="91440" tIns="45720" rIns="91440" bIns="45720" anchor="ctr">
            <a:normAutofit/>
          </a:bodyPr>
          <a:lstStyle/>
          <a:p>
            <a:pPr algn="ctr">
              <a:buNone/>
              <a:defRPr>
                <a:latin typeface="Aptos Display"/>
                <a:ea typeface="Aptos Display"/>
                <a:cs typeface="Aptos Display"/>
              </a:defRPr>
            </a:pPr>
            <a:r>
              <a:rPr sz="8800">
                <a:solidFill>
                  <a:schemeClr val="bg1"/>
                </a:solidFill>
                <a:latin typeface="Aptos Display"/>
                <a:ea typeface="Aptos Display"/>
                <a:cs typeface="Aptos Display"/>
              </a:rPr>
              <a:t>Motivation</a:t>
            </a:r>
          </a:p>
        </p:txBody>
      </p:sp>
      <p:sp>
        <p:nvSpPr>
          <p:cNvPr id="228" name="Rectangle 227">
            <a:extLst>
              <a:ext uri="{FF2B5EF4-FFF2-40B4-BE49-F238E27FC236}">
                <a16:creationId xmlns:a16="http://schemas.microsoft.com/office/drawing/2014/main" id="{1304EAD2-A13C-26FE-59CB-8A78620CDF4C}"/>
              </a:ext>
            </a:extLst>
          </p:cNvPr>
          <p:cNvSpPr>
            <a:spLocks noGrp="1"/>
          </p:cNvSpPr>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9" name="Straight Connector 228">
            <a:extLst>
              <a:ext uri="{FF2B5EF4-FFF2-40B4-BE49-F238E27FC236}">
                <a16:creationId xmlns:a16="http://schemas.microsoft.com/office/drawing/2014/main" id="{F14BFCDB-D98C-4B5E-8C34-BEBFCA8B8476}"/>
              </a:ext>
            </a:extLst>
          </p:cNvPr>
          <p:cNvSpPr>
            <a:spLocks noGrp="1"/>
          </p:cNvSpPr>
          <p:nvPr/>
        </p:nv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
        <p:nvSpPr>
          <p:cNvPr id="230" name="Straight Connector 229">
            <a:extLst>
              <a:ext uri="{FF2B5EF4-FFF2-40B4-BE49-F238E27FC236}">
                <a16:creationId xmlns:a16="http://schemas.microsoft.com/office/drawing/2014/main" id="{D568E344-7142-409A-B747-775FDDD0F130}"/>
              </a:ext>
            </a:extLst>
          </p:cNvPr>
          <p:cNvSpPr>
            <a:spLocks noGrp="1"/>
          </p:cNvSpPr>
          <p:nvPr/>
        </p:nv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Tree>
    <p:extLst>
      <p:ext uri="{BB962C8B-B14F-4D97-AF65-F5344CB8AC3E}">
        <p14:creationId xmlns:p14="http://schemas.microsoft.com/office/powerpoint/2010/main" val="33852433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65655-1268-2A97-E773-441EEAE8A3AB}"/>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Motivation: web app/tech</a:t>
            </a:r>
          </a:p>
        </p:txBody>
      </p:sp>
      <p:sp>
        <p:nvSpPr>
          <p:cNvPr id="4" name="object 2">
            <a:extLst>
              <a:ext uri="{FF2B5EF4-FFF2-40B4-BE49-F238E27FC236}">
                <a16:creationId xmlns:a16="http://schemas.microsoft.com/office/drawing/2014/main" id="{EEC2583D-ABBA-C66C-10BF-55EB7DFEA959}"/>
              </a:ext>
            </a:extLst>
          </p:cNvPr>
          <p:cNvSpPr>
            <a:spLocks noGrp="1"/>
          </p:cNvSpPr>
          <p:nvPr/>
        </p:nvSpPr>
        <p:spPr>
          <a:xfrm>
            <a:off x="1187449" y="1455738"/>
            <a:ext cx="9724031" cy="3683358"/>
          </a:xfrm>
          <a:prstGeom prst="rect">
            <a:avLst/>
          </a:prstGeom>
        </p:spPr>
        <p:txBody>
          <a:bodyPr vert="horz" lIns="91440" tIns="45720" rIns="91440" bIns="45720" anchor="ctr">
            <a:normAutofit/>
          </a:bodyPr>
          <a:lstStyle/>
          <a:p>
            <a:pPr marL="266700" indent="-152400" algn="l">
              <a:lnSpc>
                <a:spcPct val="108000"/>
              </a:lnSpc>
              <a:spcBef>
                <a:spcPts val="850"/>
              </a:spcBef>
              <a:spcAft>
                <a:spcPts val="5"/>
              </a:spcAft>
              <a:buFont typeface="Wingdings"/>
              <a:buChar char="Ø"/>
              <a:defRPr>
                <a:latin typeface="Aptos"/>
                <a:ea typeface="Aptos"/>
                <a:cs typeface="Aptos"/>
              </a:defRPr>
            </a:pPr>
            <a:r>
              <a:rPr sz="2800">
                <a:latin typeface="Aptos"/>
                <a:ea typeface="Aptos"/>
                <a:cs typeface="Aptos"/>
              </a:rPr>
              <a:t>Why do we build web applications? </a:t>
            </a:r>
          </a:p>
          <a:p>
            <a:pPr>
              <a:lnSpc>
                <a:spcPct val="90000"/>
              </a:lnSpc>
              <a:spcBef>
                <a:spcPts val="850"/>
              </a:spcBef>
              <a:buNone/>
              <a:defRPr>
                <a:latin typeface="Aptos"/>
                <a:ea typeface="Aptos"/>
                <a:cs typeface="Aptos"/>
              </a:defRPr>
            </a:pPr>
            <a:endParaRPr sz="2800"/>
          </a:p>
          <a:p>
            <a:pPr marL="266700" indent="-152400" algn="l">
              <a:lnSpc>
                <a:spcPct val="108000"/>
              </a:lnSpc>
              <a:spcBef>
                <a:spcPts val="850"/>
              </a:spcBef>
              <a:spcAft>
                <a:spcPts val="5"/>
              </a:spcAft>
              <a:buFont typeface="Wingdings"/>
              <a:buChar char="Ø"/>
              <a:defRPr>
                <a:latin typeface="Aptos"/>
                <a:ea typeface="Aptos"/>
                <a:cs typeface="Aptos"/>
              </a:defRPr>
            </a:pPr>
            <a:r>
              <a:rPr sz="2800">
                <a:latin typeface="Aptos"/>
                <a:ea typeface="Aptos"/>
                <a:cs typeface="Aptos"/>
              </a:rPr>
              <a:t>Why don’t we stay only with native or mobile apps?</a:t>
            </a:r>
            <a:endParaRPr sz="2800" kern="1200">
              <a:solidFill>
                <a:schemeClr val="tx1"/>
              </a:solidFill>
              <a:latin typeface="+mn-lt"/>
              <a:ea typeface="+mn-lt"/>
              <a:cs typeface="+mn-lt"/>
            </a:endParaRPr>
          </a:p>
        </p:txBody>
      </p:sp>
    </p:spTree>
    <p:extLst>
      <p:ext uri="{BB962C8B-B14F-4D97-AF65-F5344CB8AC3E}">
        <p14:creationId xmlns:p14="http://schemas.microsoft.com/office/powerpoint/2010/main" val="1294235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036DB-5FB2-6707-5FD5-A7A418330427}"/>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Motivation: web app/tech</a:t>
            </a:r>
          </a:p>
        </p:txBody>
      </p:sp>
      <p:sp>
        <p:nvSpPr>
          <p:cNvPr id="4" name="object 2">
            <a:extLst>
              <a:ext uri="{FF2B5EF4-FFF2-40B4-BE49-F238E27FC236}">
                <a16:creationId xmlns:a16="http://schemas.microsoft.com/office/drawing/2014/main" id="{A7C2D675-6AEC-27B5-93EA-FD59F308B14D}"/>
              </a:ext>
            </a:extLst>
          </p:cNvPr>
          <p:cNvSpPr>
            <a:spLocks noGrp="1"/>
          </p:cNvSpPr>
          <p:nvPr/>
        </p:nvSpPr>
        <p:spPr>
          <a:xfrm>
            <a:off x="1187449" y="1455738"/>
            <a:ext cx="9724031" cy="3683358"/>
          </a:xfrm>
          <a:prstGeom prst="rect">
            <a:avLst/>
          </a:prstGeom>
        </p:spPr>
        <p:txBody>
          <a:bodyPr vert="horz" lIns="91440" tIns="45720" rIns="91440" bIns="45720" anchor="ctr">
            <a:normAutofit/>
          </a:bodyPr>
          <a:lstStyle/>
          <a:p>
            <a:pPr marL="266700" indent="-152400" algn="l">
              <a:lnSpc>
                <a:spcPct val="108000"/>
              </a:lnSpc>
              <a:spcBef>
                <a:spcPts val="850"/>
              </a:spcBef>
              <a:spcAft>
                <a:spcPts val="5"/>
              </a:spcAft>
              <a:buFont typeface="Wingdings"/>
              <a:buChar char="Ø"/>
              <a:defRPr>
                <a:latin typeface="Aptos"/>
                <a:ea typeface="Aptos"/>
                <a:cs typeface="Aptos"/>
              </a:defRPr>
            </a:pPr>
            <a:r>
              <a:rPr sz="2800">
                <a:latin typeface="Aptos"/>
                <a:ea typeface="Aptos"/>
                <a:cs typeface="Aptos"/>
              </a:rPr>
              <a:t>When not to build a web application? </a:t>
            </a:r>
          </a:p>
          <a:p>
            <a:pPr>
              <a:lnSpc>
                <a:spcPct val="90000"/>
              </a:lnSpc>
              <a:spcBef>
                <a:spcPts val="850"/>
              </a:spcBef>
              <a:buNone/>
              <a:defRPr>
                <a:latin typeface="Aptos"/>
                <a:ea typeface="Aptos"/>
                <a:cs typeface="Aptos"/>
              </a:defRPr>
            </a:pPr>
            <a:endParaRPr sz="2800"/>
          </a:p>
          <a:p>
            <a:pPr marL="266700" indent="-152400" algn="l">
              <a:lnSpc>
                <a:spcPct val="108000"/>
              </a:lnSpc>
              <a:spcBef>
                <a:spcPts val="850"/>
              </a:spcBef>
              <a:spcAft>
                <a:spcPts val="5"/>
              </a:spcAft>
              <a:buFont typeface="Wingdings"/>
              <a:buChar char="Ø"/>
              <a:defRPr>
                <a:latin typeface="Aptos"/>
                <a:ea typeface="Aptos"/>
                <a:cs typeface="Aptos"/>
              </a:defRPr>
            </a:pPr>
            <a:r>
              <a:rPr sz="2800">
                <a:latin typeface="Aptos"/>
                <a:ea typeface="Aptos"/>
                <a:cs typeface="Aptos"/>
              </a:rPr>
              <a:t>What kind of applications would you develop without using web tech??</a:t>
            </a:r>
            <a:endParaRPr sz="2800" kern="1200">
              <a:solidFill>
                <a:schemeClr val="tx1"/>
              </a:solidFill>
              <a:latin typeface="+mn-lt"/>
              <a:ea typeface="+mn-lt"/>
              <a:cs typeface="+mn-lt"/>
            </a:endParaRPr>
          </a:p>
        </p:txBody>
      </p:sp>
    </p:spTree>
    <p:extLst>
      <p:ext uri="{BB962C8B-B14F-4D97-AF65-F5344CB8AC3E}">
        <p14:creationId xmlns:p14="http://schemas.microsoft.com/office/powerpoint/2010/main" val="33992223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C47A7-A542-BCC2-F982-835344BE9264}"/>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What are web apps?</a:t>
            </a:r>
          </a:p>
        </p:txBody>
      </p:sp>
      <p:sp>
        <p:nvSpPr>
          <p:cNvPr id="4" name="object 2">
            <a:extLst>
              <a:ext uri="{FF2B5EF4-FFF2-40B4-BE49-F238E27FC236}">
                <a16:creationId xmlns:a16="http://schemas.microsoft.com/office/drawing/2014/main" id="{E5192256-ED29-4C36-4D9B-8BE67F7E2ECF}"/>
              </a:ext>
            </a:extLst>
          </p:cNvPr>
          <p:cNvSpPr>
            <a:spLocks noGrp="1"/>
          </p:cNvSpPr>
          <p:nvPr/>
        </p:nvSpPr>
        <p:spPr>
          <a:xfrm>
            <a:off x="819149" y="1092200"/>
            <a:ext cx="9724031" cy="2287946"/>
          </a:xfrm>
          <a:prstGeom prst="rect">
            <a:avLst/>
          </a:prstGeom>
        </p:spPr>
        <p:txBody>
          <a:bodyPr vert="horz" lIns="91440" tIns="45720" rIns="91440" bIns="45720" anchor="ctr">
            <a:normAutofit/>
          </a:bodyPr>
          <a:lstStyle/>
          <a:p>
            <a:pPr marL="266700" indent="-152400" algn="l">
              <a:lnSpc>
                <a:spcPct val="108000"/>
              </a:lnSpc>
              <a:spcBef>
                <a:spcPts val="850"/>
              </a:spcBef>
              <a:spcAft>
                <a:spcPts val="5"/>
              </a:spcAft>
              <a:buFont typeface="Wingdings"/>
              <a:buChar char="Ø"/>
              <a:defRPr>
                <a:latin typeface="Aptos"/>
                <a:ea typeface="Aptos"/>
                <a:cs typeface="Aptos"/>
              </a:defRPr>
            </a:pPr>
            <a:r>
              <a:rPr sz="2800">
                <a:latin typeface="Aptos"/>
                <a:ea typeface="Aptos"/>
                <a:cs typeface="Aptos"/>
              </a:rPr>
              <a:t>Web app: applications developed using web technologies</a:t>
            </a:r>
            <a:endParaRPr sz="2800"/>
          </a:p>
          <a:p>
            <a:pPr marL="266700" indent="-152400" algn="l">
              <a:lnSpc>
                <a:spcPct val="108000"/>
              </a:lnSpc>
              <a:spcBef>
                <a:spcPts val="850"/>
              </a:spcBef>
              <a:spcAft>
                <a:spcPts val="5"/>
              </a:spcAft>
              <a:buFont typeface="Wingdings"/>
              <a:buChar char="Ø"/>
              <a:defRPr>
                <a:latin typeface="Aptos"/>
                <a:ea typeface="Aptos"/>
                <a:cs typeface="Aptos"/>
              </a:defRPr>
            </a:pPr>
            <a:r>
              <a:rPr sz="2800">
                <a:latin typeface="Aptos"/>
                <a:ea typeface="Aptos"/>
                <a:cs typeface="Aptos"/>
              </a:rPr>
              <a:t>Web technologies: basically, the internet</a:t>
            </a:r>
          </a:p>
          <a:p>
            <a:pPr marL="266700" indent="-152400" algn="l">
              <a:lnSpc>
                <a:spcPct val="108000"/>
              </a:lnSpc>
              <a:spcBef>
                <a:spcPts val="850"/>
              </a:spcBef>
              <a:spcAft>
                <a:spcPts val="5"/>
              </a:spcAft>
              <a:buFont typeface="Wingdings"/>
              <a:buChar char="Ø"/>
              <a:defRPr>
                <a:latin typeface="Aptos"/>
                <a:ea typeface="Aptos"/>
                <a:cs typeface="Aptos"/>
              </a:defRPr>
            </a:pPr>
            <a:r>
              <a:rPr sz="2800">
                <a:latin typeface="Aptos"/>
                <a:ea typeface="Aptos"/>
                <a:cs typeface="Aptos"/>
              </a:rPr>
              <a:t>Software that runs on a remote server that is being accessed via a browser </a:t>
            </a:r>
            <a:endParaRPr sz="2800" kern="1200">
              <a:solidFill>
                <a:schemeClr val="tx1"/>
              </a:solidFill>
              <a:latin typeface="+mn-lt"/>
              <a:ea typeface="+mn-lt"/>
              <a:cs typeface="+mn-lt"/>
            </a:endParaRPr>
          </a:p>
        </p:txBody>
      </p:sp>
      <p:pic>
        <p:nvPicPr>
          <p:cNvPr id="11" name="Picture 4"/>
          <p:cNvPicPr>
            <a:picLocks noChangeAspect="1"/>
          </p:cNvPicPr>
          <p:nvPr/>
        </p:nvPicPr>
        <p:blipFill>
          <a:blip r:embed="rId3"/>
          <a:stretch>
            <a:fillRect/>
          </a:stretch>
        </p:blipFill>
        <p:spPr>
          <a:xfrm>
            <a:off x="3114675" y="3213365"/>
            <a:ext cx="8693150" cy="3514460"/>
          </a:xfrm>
          <a:prstGeom prst="rect">
            <a:avLst/>
          </a:prstGeom>
        </p:spPr>
      </p:pic>
    </p:spTree>
    <p:extLst>
      <p:ext uri="{BB962C8B-B14F-4D97-AF65-F5344CB8AC3E}">
        <p14:creationId xmlns:p14="http://schemas.microsoft.com/office/powerpoint/2010/main" val="1220260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CA5FE-E31E-BCAD-E81C-96C6A3898066}"/>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What are web apps?</a:t>
            </a:r>
          </a:p>
        </p:txBody>
      </p:sp>
      <p:sp>
        <p:nvSpPr>
          <p:cNvPr id="4" name="object 2">
            <a:extLst>
              <a:ext uri="{FF2B5EF4-FFF2-40B4-BE49-F238E27FC236}">
                <a16:creationId xmlns:a16="http://schemas.microsoft.com/office/drawing/2014/main" id="{12B4BD6F-A52B-CE83-C79E-51C3927E3DF6}"/>
              </a:ext>
            </a:extLst>
          </p:cNvPr>
          <p:cNvSpPr>
            <a:spLocks noGrp="1"/>
          </p:cNvSpPr>
          <p:nvPr/>
        </p:nvSpPr>
        <p:spPr>
          <a:xfrm>
            <a:off x="730250" y="2508250"/>
            <a:ext cx="11258550" cy="2622550"/>
          </a:xfrm>
          <a:prstGeom prst="rect">
            <a:avLst/>
          </a:prstGeom>
        </p:spPr>
        <p:txBody>
          <a:bodyPr vert="horz" lIns="91440" tIns="45720" rIns="91440" bIns="45720" anchor="ctr">
            <a:noAutofit/>
          </a:bodyPr>
          <a:lstStyle/>
          <a:p>
            <a:pPr marL="266700" indent="-152400" algn="l">
              <a:lnSpc>
                <a:spcPct val="108000"/>
              </a:lnSpc>
              <a:spcBef>
                <a:spcPts val="850"/>
              </a:spcBef>
              <a:spcAft>
                <a:spcPts val="5"/>
              </a:spcAft>
              <a:buFont typeface="Wingdings"/>
              <a:buChar char="Ø"/>
              <a:defRPr>
                <a:latin typeface="Aptos"/>
                <a:ea typeface="Aptos"/>
                <a:cs typeface="Aptos"/>
              </a:defRPr>
            </a:pPr>
            <a:r>
              <a:rPr sz="2800">
                <a:latin typeface="Aptos"/>
                <a:ea typeface="Aptos"/>
                <a:cs typeface="Aptos"/>
              </a:rPr>
              <a:t>Web app: applications developed using web technologies</a:t>
            </a:r>
            <a:endParaRPr sz="2800"/>
          </a:p>
          <a:p>
            <a:pPr marL="266700" indent="-152400" algn="l">
              <a:lnSpc>
                <a:spcPct val="108000"/>
              </a:lnSpc>
              <a:spcBef>
                <a:spcPts val="850"/>
              </a:spcBef>
              <a:spcAft>
                <a:spcPts val="5"/>
              </a:spcAft>
              <a:buFont typeface="Wingdings"/>
              <a:buChar char="Ø"/>
              <a:defRPr>
                <a:latin typeface="Aptos"/>
                <a:ea typeface="Aptos"/>
                <a:cs typeface="Aptos"/>
              </a:defRPr>
            </a:pPr>
            <a:r>
              <a:rPr sz="2800">
                <a:latin typeface="Aptos"/>
                <a:ea typeface="Aptos"/>
                <a:cs typeface="Aptos"/>
              </a:rPr>
              <a:t>Web technologies: basically, the internet</a:t>
            </a:r>
          </a:p>
          <a:p>
            <a:pPr marL="457200" indent="-457200">
              <a:lnSpc>
                <a:spcPct val="90000"/>
              </a:lnSpc>
              <a:spcBef>
                <a:spcPts val="850"/>
              </a:spcBef>
              <a:buFont typeface="Wingdings"/>
              <a:buChar char="Ø"/>
              <a:defRPr>
                <a:latin typeface="Aptos"/>
                <a:ea typeface="Aptos"/>
                <a:cs typeface="Aptos"/>
              </a:defRPr>
            </a:pPr>
            <a:endParaRPr sz="2800"/>
          </a:p>
          <a:p>
            <a:pPr marL="457200" indent="-457200">
              <a:lnSpc>
                <a:spcPct val="90000"/>
              </a:lnSpc>
              <a:spcBef>
                <a:spcPts val="850"/>
              </a:spcBef>
              <a:buFont typeface="Wingdings"/>
              <a:buChar char="Ø"/>
              <a:defRPr>
                <a:latin typeface="Aptos"/>
                <a:ea typeface="Aptos"/>
                <a:cs typeface="Aptos"/>
              </a:defRPr>
            </a:pPr>
            <a:endParaRPr sz="2800"/>
          </a:p>
          <a:p>
            <a:pPr marL="266700" indent="-152400" algn="l">
              <a:lnSpc>
                <a:spcPct val="108000"/>
              </a:lnSpc>
              <a:spcBef>
                <a:spcPts val="850"/>
              </a:spcBef>
              <a:spcAft>
                <a:spcPts val="5"/>
              </a:spcAft>
              <a:buFont typeface="Wingdings"/>
              <a:buChar char="Ø"/>
              <a:defRPr>
                <a:latin typeface="Aptos"/>
                <a:ea typeface="Aptos"/>
                <a:cs typeface="Aptos"/>
              </a:defRPr>
            </a:pPr>
            <a:r>
              <a:rPr sz="2800">
                <a:latin typeface="Aptos"/>
                <a:ea typeface="Aptos"/>
                <a:cs typeface="Aptos"/>
              </a:rPr>
              <a:t>Why building web apps? </a:t>
            </a:r>
          </a:p>
          <a:p>
            <a:pPr marL="800100" lvl="2" indent="-152400" algn="l">
              <a:lnSpc>
                <a:spcPct val="108000"/>
              </a:lnSpc>
              <a:spcBef>
                <a:spcPts val="850"/>
              </a:spcBef>
              <a:spcAft>
                <a:spcPts val="3"/>
              </a:spcAft>
              <a:buFont typeface="Wingdings"/>
              <a:buChar char="Ø"/>
              <a:defRPr>
                <a:latin typeface="Aptos"/>
                <a:ea typeface="Aptos"/>
                <a:cs typeface="Aptos"/>
              </a:defRPr>
            </a:pPr>
            <a:r>
              <a:rPr sz="2800">
                <a:latin typeface="Aptos"/>
                <a:ea typeface="Aptos"/>
                <a:cs typeface="Aptos"/>
              </a:rPr>
              <a:t>Accessible anytime, anywhere (with internet connection)</a:t>
            </a:r>
          </a:p>
          <a:p>
            <a:pPr marL="800100" lvl="2" indent="-152400" algn="l">
              <a:lnSpc>
                <a:spcPct val="108000"/>
              </a:lnSpc>
              <a:spcBef>
                <a:spcPts val="850"/>
              </a:spcBef>
              <a:spcAft>
                <a:spcPts val="3"/>
              </a:spcAft>
              <a:buFont typeface="Wingdings"/>
              <a:buChar char="Ø"/>
              <a:defRPr>
                <a:latin typeface="Aptos"/>
                <a:ea typeface="Aptos"/>
                <a:cs typeface="Aptos"/>
              </a:defRPr>
            </a:pPr>
            <a:r>
              <a:rPr sz="2800">
                <a:latin typeface="Aptos"/>
                <a:ea typeface="Aptos"/>
                <a:cs typeface="Aptos"/>
              </a:rPr>
              <a:t>Easier to maintain and update </a:t>
            </a:r>
          </a:p>
          <a:p>
            <a:pPr marL="800100" lvl="2" indent="-152400" algn="l">
              <a:lnSpc>
                <a:spcPct val="108000"/>
              </a:lnSpc>
              <a:spcBef>
                <a:spcPts val="850"/>
              </a:spcBef>
              <a:spcAft>
                <a:spcPts val="3"/>
              </a:spcAft>
              <a:buFont typeface="Wingdings"/>
              <a:buChar char="Ø"/>
              <a:defRPr>
                <a:latin typeface="Aptos"/>
                <a:ea typeface="Aptos"/>
                <a:cs typeface="Aptos"/>
              </a:defRPr>
            </a:pPr>
            <a:r>
              <a:rPr sz="2800">
                <a:latin typeface="Aptos"/>
                <a:ea typeface="Aptos"/>
                <a:cs typeface="Aptos"/>
              </a:rPr>
              <a:t>Platform independent (due to modern browsers) </a:t>
            </a:r>
          </a:p>
          <a:p>
            <a:pPr marL="800100" lvl="2" indent="-152400" algn="l">
              <a:lnSpc>
                <a:spcPct val="108000"/>
              </a:lnSpc>
              <a:spcBef>
                <a:spcPts val="850"/>
              </a:spcBef>
              <a:spcAft>
                <a:spcPts val="3"/>
              </a:spcAft>
              <a:buFont typeface="Wingdings"/>
              <a:buChar char="Ø"/>
              <a:defRPr>
                <a:latin typeface="Aptos"/>
                <a:ea typeface="Aptos"/>
                <a:cs typeface="Aptos"/>
              </a:defRPr>
            </a:pPr>
            <a:r>
              <a:rPr sz="2800">
                <a:latin typeface="Aptos"/>
                <a:ea typeface="Aptos"/>
                <a:cs typeface="Aptos"/>
              </a:rPr>
              <a:t>No installations (due to modern browsers) </a:t>
            </a:r>
          </a:p>
        </p:txBody>
      </p:sp>
    </p:spTree>
    <p:extLst>
      <p:ext uri="{BB962C8B-B14F-4D97-AF65-F5344CB8AC3E}">
        <p14:creationId xmlns:p14="http://schemas.microsoft.com/office/powerpoint/2010/main" val="28068206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9FC0-F935-3156-18FC-81706CC193D0}"/>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Web apps have their own difficulties</a:t>
            </a:r>
          </a:p>
        </p:txBody>
      </p:sp>
      <p:sp>
        <p:nvSpPr>
          <p:cNvPr id="4" name="object 2">
            <a:extLst>
              <a:ext uri="{FF2B5EF4-FFF2-40B4-BE49-F238E27FC236}">
                <a16:creationId xmlns:a16="http://schemas.microsoft.com/office/drawing/2014/main" id="{293F4F89-19FC-8A11-4776-5750E798A5EF}"/>
              </a:ext>
            </a:extLst>
          </p:cNvPr>
          <p:cNvSpPr>
            <a:spLocks noGrp="1"/>
          </p:cNvSpPr>
          <p:nvPr/>
        </p:nvSpPr>
        <p:spPr>
          <a:xfrm>
            <a:off x="730250" y="2508250"/>
            <a:ext cx="11258550" cy="2622550"/>
          </a:xfrm>
          <a:prstGeom prst="rect">
            <a:avLst/>
          </a:prstGeom>
        </p:spPr>
        <p:txBody>
          <a:bodyPr vert="horz" lIns="91440" tIns="45720" rIns="91440" bIns="45720" anchor="ctr">
            <a:noAutofit/>
          </a:bodyPr>
          <a:lstStyle/>
          <a:p>
            <a:pPr marL="266700" indent="-152400" algn="l">
              <a:lnSpc>
                <a:spcPct val="108000"/>
              </a:lnSpc>
              <a:spcBef>
                <a:spcPts val="850"/>
              </a:spcBef>
              <a:spcAft>
                <a:spcPts val="5"/>
              </a:spcAft>
              <a:buFont typeface="Wingdings"/>
              <a:buChar char="Ø"/>
              <a:defRPr>
                <a:latin typeface="Aptos"/>
                <a:ea typeface="Aptos"/>
                <a:cs typeface="Aptos"/>
              </a:defRPr>
            </a:pPr>
            <a:r>
              <a:rPr sz="2800">
                <a:latin typeface="Aptos"/>
                <a:ea typeface="Aptos"/>
                <a:cs typeface="Aptos"/>
              </a:rPr>
              <a:t>Web app: applications developed using web technologies</a:t>
            </a:r>
            <a:endParaRPr sz="2800"/>
          </a:p>
          <a:p>
            <a:pPr marL="266700" indent="-152400" algn="l">
              <a:lnSpc>
                <a:spcPct val="108000"/>
              </a:lnSpc>
              <a:spcBef>
                <a:spcPts val="850"/>
              </a:spcBef>
              <a:spcAft>
                <a:spcPts val="5"/>
              </a:spcAft>
              <a:buFont typeface="Wingdings"/>
              <a:buChar char="Ø"/>
              <a:defRPr>
                <a:latin typeface="Aptos"/>
                <a:ea typeface="Aptos"/>
                <a:cs typeface="Aptos"/>
              </a:defRPr>
            </a:pPr>
            <a:r>
              <a:rPr sz="2800">
                <a:latin typeface="Aptos"/>
                <a:ea typeface="Aptos"/>
                <a:cs typeface="Aptos"/>
              </a:rPr>
              <a:t>Web technologies: basically, the internet</a:t>
            </a:r>
          </a:p>
          <a:p>
            <a:pPr marL="457200" indent="-457200">
              <a:lnSpc>
                <a:spcPct val="90000"/>
              </a:lnSpc>
              <a:spcBef>
                <a:spcPts val="850"/>
              </a:spcBef>
              <a:buFont typeface="Wingdings"/>
              <a:buChar char="Ø"/>
              <a:defRPr>
                <a:latin typeface="Aptos"/>
                <a:ea typeface="Aptos"/>
                <a:cs typeface="Aptos"/>
              </a:defRPr>
            </a:pPr>
            <a:endParaRPr sz="2800"/>
          </a:p>
          <a:p>
            <a:pPr marL="457200" indent="-457200">
              <a:lnSpc>
                <a:spcPct val="90000"/>
              </a:lnSpc>
              <a:spcBef>
                <a:spcPts val="850"/>
              </a:spcBef>
              <a:buFont typeface="Wingdings"/>
              <a:buChar char="Ø"/>
              <a:defRPr>
                <a:latin typeface="Aptos"/>
                <a:ea typeface="Aptos"/>
                <a:cs typeface="Aptos"/>
              </a:defRPr>
            </a:pPr>
            <a:endParaRPr sz="2800"/>
          </a:p>
          <a:p>
            <a:pPr marL="533400" lvl="1" indent="-152400" algn="l">
              <a:lnSpc>
                <a:spcPct val="108000"/>
              </a:lnSpc>
              <a:spcBef>
                <a:spcPts val="850"/>
              </a:spcBef>
              <a:spcAft>
                <a:spcPts val="3"/>
              </a:spcAft>
              <a:buFont typeface="Wingdings"/>
              <a:buChar char="Ø"/>
              <a:defRPr>
                <a:latin typeface="Aptos"/>
                <a:ea typeface="Aptos"/>
                <a:cs typeface="Aptos"/>
              </a:defRPr>
            </a:pPr>
            <a:r>
              <a:rPr sz="2800">
                <a:latin typeface="Aptos"/>
                <a:ea typeface="Aptos"/>
                <a:cs typeface="Aptos"/>
              </a:rPr>
              <a:t>Performance: data transmission + server execution </a:t>
            </a:r>
          </a:p>
          <a:p>
            <a:pPr marL="533400" lvl="1" indent="-152400" algn="l">
              <a:lnSpc>
                <a:spcPct val="108000"/>
              </a:lnSpc>
              <a:spcBef>
                <a:spcPts val="850"/>
              </a:spcBef>
              <a:spcAft>
                <a:spcPts val="3"/>
              </a:spcAft>
              <a:buFont typeface="Wingdings"/>
              <a:buChar char="Ø"/>
              <a:defRPr>
                <a:latin typeface="Aptos"/>
                <a:ea typeface="Aptos"/>
                <a:cs typeface="Aptos"/>
              </a:defRPr>
            </a:pPr>
            <a:r>
              <a:rPr sz="2800">
                <a:latin typeface="Aptos"/>
                <a:ea typeface="Aptos"/>
                <a:cs typeface="Aptos"/>
              </a:rPr>
              <a:t>Scalability: Multiple users at the same time </a:t>
            </a:r>
          </a:p>
          <a:p>
            <a:pPr marL="533400" lvl="1" indent="-152400" algn="l">
              <a:lnSpc>
                <a:spcPct val="108000"/>
              </a:lnSpc>
              <a:spcBef>
                <a:spcPts val="850"/>
              </a:spcBef>
              <a:spcAft>
                <a:spcPts val="3"/>
              </a:spcAft>
              <a:buFont typeface="Wingdings"/>
              <a:buChar char="Ø"/>
              <a:defRPr>
                <a:latin typeface="Aptos"/>
                <a:ea typeface="Aptos"/>
                <a:cs typeface="Aptos"/>
              </a:defRPr>
            </a:pPr>
            <a:r>
              <a:rPr sz="2800">
                <a:latin typeface="Aptos"/>
                <a:ea typeface="Aptos"/>
                <a:cs typeface="Aptos"/>
              </a:rPr>
              <a:t>Security: data over the internet </a:t>
            </a:r>
          </a:p>
          <a:p>
            <a:pPr marL="533400" lvl="1" indent="-152400" algn="l">
              <a:lnSpc>
                <a:spcPct val="108000"/>
              </a:lnSpc>
              <a:spcBef>
                <a:spcPts val="850"/>
              </a:spcBef>
              <a:spcAft>
                <a:spcPts val="3"/>
              </a:spcAft>
              <a:buFont typeface="Wingdings"/>
              <a:buChar char="Ø"/>
              <a:defRPr>
                <a:latin typeface="Aptos"/>
                <a:ea typeface="Aptos"/>
                <a:cs typeface="Aptos"/>
              </a:defRPr>
            </a:pPr>
            <a:r>
              <a:rPr sz="2800">
                <a:latin typeface="Aptos"/>
                <a:ea typeface="Aptos"/>
                <a:cs typeface="Aptos"/>
              </a:rPr>
              <a:t>Personalization and authentication: different users using the same servers</a:t>
            </a:r>
          </a:p>
        </p:txBody>
      </p:sp>
    </p:spTree>
    <p:extLst>
      <p:ext uri="{BB962C8B-B14F-4D97-AF65-F5344CB8AC3E}">
        <p14:creationId xmlns:p14="http://schemas.microsoft.com/office/powerpoint/2010/main" val="17686787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 name="Rectangle 226">
            <a:extLst>
              <a:ext uri="{FF2B5EF4-FFF2-40B4-BE49-F238E27FC236}">
                <a16:creationId xmlns:a16="http://schemas.microsoft.com/office/drawing/2014/main" id="{4F69562C-A9DA-852D-48F4-62A23CF3E5FE}"/>
              </a:ext>
            </a:extLst>
          </p:cNvPr>
          <p:cNvSpPr>
            <a:spLocks noGrp="1"/>
          </p:cNvSpPr>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2" name="Title 1">
            <a:extLst>
              <a:ext uri="{FF2B5EF4-FFF2-40B4-BE49-F238E27FC236}">
                <a16:creationId xmlns:a16="http://schemas.microsoft.com/office/drawing/2014/main" id="{5FF24C8A-E711-D006-BB9E-A9D3982B70E6}"/>
              </a:ext>
            </a:extLst>
          </p:cNvPr>
          <p:cNvSpPr>
            <a:spLocks noGrp="1"/>
          </p:cNvSpPr>
          <p:nvPr>
            <p:ph type="title"/>
          </p:nvPr>
        </p:nvSpPr>
        <p:spPr>
          <a:xfrm>
            <a:off x="1215865" y="2432109"/>
            <a:ext cx="9302496" cy="2193482"/>
          </a:xfrm>
        </p:spPr>
        <p:txBody>
          <a:bodyPr vert="horz" lIns="91440" tIns="45720" rIns="91440" bIns="45720" anchor="ctr">
            <a:normAutofit/>
          </a:bodyPr>
          <a:lstStyle/>
          <a:p>
            <a:pPr algn="ctr">
              <a:buNone/>
              <a:defRPr>
                <a:latin typeface="Aptos Display"/>
                <a:ea typeface="Aptos Display"/>
                <a:cs typeface="Aptos Display"/>
              </a:defRPr>
            </a:pPr>
            <a:r>
              <a:rPr sz="8800">
                <a:solidFill>
                  <a:schemeClr val="bg1"/>
                </a:solidFill>
                <a:latin typeface="Aptos Display"/>
                <a:ea typeface="Aptos Display"/>
                <a:cs typeface="Aptos Display"/>
              </a:rPr>
              <a:t>The Web</a:t>
            </a:r>
          </a:p>
        </p:txBody>
      </p:sp>
      <p:sp>
        <p:nvSpPr>
          <p:cNvPr id="228" name="Rectangle 227">
            <a:extLst>
              <a:ext uri="{FF2B5EF4-FFF2-40B4-BE49-F238E27FC236}">
                <a16:creationId xmlns:a16="http://schemas.microsoft.com/office/drawing/2014/main" id="{743B8060-7911-9C81-7B74-68CAFDD90912}"/>
              </a:ext>
            </a:extLst>
          </p:cNvPr>
          <p:cNvSpPr>
            <a:spLocks noGrp="1"/>
          </p:cNvSpPr>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9" name="Straight Connector 228">
            <a:extLst>
              <a:ext uri="{FF2B5EF4-FFF2-40B4-BE49-F238E27FC236}">
                <a16:creationId xmlns:a16="http://schemas.microsoft.com/office/drawing/2014/main" id="{5CD92E95-B6ED-48B4-95CA-AABCC09FA193}"/>
              </a:ext>
            </a:extLst>
          </p:cNvPr>
          <p:cNvSpPr>
            <a:spLocks noGrp="1"/>
          </p:cNvSpPr>
          <p:nvPr/>
        </p:nv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
        <p:nvSpPr>
          <p:cNvPr id="230" name="Straight Connector 229">
            <a:extLst>
              <a:ext uri="{FF2B5EF4-FFF2-40B4-BE49-F238E27FC236}">
                <a16:creationId xmlns:a16="http://schemas.microsoft.com/office/drawing/2014/main" id="{E3E0B8BF-7B39-4B47-8F0B-AA9E03E85296}"/>
              </a:ext>
            </a:extLst>
          </p:cNvPr>
          <p:cNvSpPr>
            <a:spLocks noGrp="1"/>
          </p:cNvSpPr>
          <p:nvPr/>
        </p:nv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Tree>
    <p:extLst>
      <p:ext uri="{BB962C8B-B14F-4D97-AF65-F5344CB8AC3E}">
        <p14:creationId xmlns:p14="http://schemas.microsoft.com/office/powerpoint/2010/main" val="6297947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1D201-A0EF-0D14-87ED-718E1565FD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2C0EA-5A92-9860-8A77-C049F7F14D07}"/>
              </a:ext>
            </a:extLst>
          </p:cNvPr>
          <p:cNvSpPr>
            <a:spLocks noGrp="1"/>
          </p:cNvSpPr>
          <p:nvPr>
            <p:ph type="title"/>
          </p:nvPr>
        </p:nvSpPr>
        <p:spPr>
          <a:xfrm>
            <a:off x="330200" y="130175"/>
            <a:ext cx="12039600" cy="1325563"/>
          </a:xfrm>
        </p:spPr>
        <p:txBody>
          <a:bodyPr/>
          <a:lstStyle/>
          <a:p>
            <a:r>
              <a:rPr lang="da-DK" dirty="0"/>
              <a:t>The Web</a:t>
            </a:r>
          </a:p>
        </p:txBody>
      </p:sp>
      <p:sp>
        <p:nvSpPr>
          <p:cNvPr id="7" name="Content Placeholder 6">
            <a:extLst>
              <a:ext uri="{FF2B5EF4-FFF2-40B4-BE49-F238E27FC236}">
                <a16:creationId xmlns:a16="http://schemas.microsoft.com/office/drawing/2014/main" id="{61DA68BA-9ADB-ADC9-125E-746EF4CC0108}"/>
              </a:ext>
            </a:extLst>
          </p:cNvPr>
          <p:cNvSpPr>
            <a:spLocks noGrp="1"/>
          </p:cNvSpPr>
          <p:nvPr>
            <p:ph idx="1"/>
          </p:nvPr>
        </p:nvSpPr>
        <p:spPr>
          <a:xfrm>
            <a:off x="730250" y="1455738"/>
            <a:ext cx="10515600" cy="1993901"/>
          </a:xfrm>
        </p:spPr>
        <p:txBody>
          <a:bodyPr/>
          <a:lstStyle/>
          <a:p>
            <a:pPr marL="0" indent="0">
              <a:buNone/>
            </a:pPr>
            <a:r>
              <a:rPr lang="da-DK" dirty="0"/>
              <a:t>  </a:t>
            </a:r>
          </a:p>
        </p:txBody>
      </p:sp>
      <p:sp>
        <p:nvSpPr>
          <p:cNvPr id="3" name="object 3">
            <a:extLst>
              <a:ext uri="{FF2B5EF4-FFF2-40B4-BE49-F238E27FC236}">
                <a16:creationId xmlns:a16="http://schemas.microsoft.com/office/drawing/2014/main" id="{AD8B266F-69A8-DD80-812F-B0B31859702C}"/>
              </a:ext>
            </a:extLst>
          </p:cNvPr>
          <p:cNvSpPr txBox="1">
            <a:spLocks/>
          </p:cNvSpPr>
          <p:nvPr/>
        </p:nvSpPr>
        <p:spPr>
          <a:xfrm>
            <a:off x="488950" y="1455738"/>
            <a:ext cx="3418659" cy="55831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sz="5400" spc="130" dirty="0"/>
              <a:t>The</a:t>
            </a:r>
            <a:r>
              <a:rPr lang="en-US" sz="5400" spc="114" dirty="0"/>
              <a:t> </a:t>
            </a:r>
            <a:r>
              <a:rPr lang="en-US" sz="5400" spc="-55" dirty="0"/>
              <a:t>web</a:t>
            </a:r>
          </a:p>
        </p:txBody>
      </p:sp>
      <p:graphicFrame>
        <p:nvGraphicFramePr>
          <p:cNvPr id="5" name="object 2">
            <a:extLst>
              <a:ext uri="{FF2B5EF4-FFF2-40B4-BE49-F238E27FC236}">
                <a16:creationId xmlns:a16="http://schemas.microsoft.com/office/drawing/2014/main" id="{490F32EB-2E82-20B5-4BA7-D9FC31C94C04}"/>
              </a:ext>
            </a:extLst>
          </p:cNvPr>
          <p:cNvGraphicFramePr/>
          <p:nvPr/>
        </p:nvGraphicFramePr>
        <p:xfrm>
          <a:off x="4501968" y="1455737"/>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8" name="Straight Connector 7">
            <a:extLst>
              <a:ext uri="{FF2B5EF4-FFF2-40B4-BE49-F238E27FC236}">
                <a16:creationId xmlns:a16="http://schemas.microsoft.com/office/drawing/2014/main" id="{BC1A876B-94A5-9A3C-75B6-119F29A6B261}"/>
              </a:ext>
            </a:extLst>
          </p:cNvPr>
          <p:cNvCxnSpPr/>
          <p:nvPr/>
        </p:nvCxnSpPr>
        <p:spPr>
          <a:xfrm>
            <a:off x="4171950" y="1195388"/>
            <a:ext cx="0" cy="5436000"/>
          </a:xfrm>
          <a:prstGeom prst="line">
            <a:avLst/>
          </a:prstGeom>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3714528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A2CA0-57D7-B6AA-7A4F-F405A3CFFAAF}"/>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The Web</a:t>
            </a:r>
          </a:p>
        </p:txBody>
      </p:sp>
      <p:sp>
        <p:nvSpPr>
          <p:cNvPr id="6" name="object 2">
            <a:extLst>
              <a:ext uri="{FF2B5EF4-FFF2-40B4-BE49-F238E27FC236}">
                <a16:creationId xmlns:a16="http://schemas.microsoft.com/office/drawing/2014/main" id="{5340C001-2162-7366-C8EF-51CF2C16CFEE}"/>
              </a:ext>
            </a:extLst>
          </p:cNvPr>
          <p:cNvSpPr>
            <a:spLocks noGrp="1"/>
          </p:cNvSpPr>
          <p:nvPr/>
        </p:nvSpPr>
        <p:spPr>
          <a:xfrm>
            <a:off x="1057274" y="1868487"/>
            <a:ext cx="3057525" cy="446917"/>
          </a:xfrm>
          <a:prstGeom prst="rect">
            <a:avLst/>
          </a:prstGeom>
        </p:spPr>
        <p:txBody>
          <a:bodyPr vert="horz" wrap="square" lIns="0" tIns="15875" rIns="0" bIns="0">
            <a:spAutoFit/>
          </a:bodyPr>
          <a:lstStyle/>
          <a:p>
            <a:pPr marL="12700">
              <a:lnSpc>
                <a:spcPct val="100000"/>
              </a:lnSpc>
              <a:spcBef>
                <a:spcPts val="125"/>
              </a:spcBef>
              <a:buNone/>
              <a:defRPr>
                <a:latin typeface="Aptos"/>
                <a:ea typeface="Aptos"/>
                <a:cs typeface="Aptos"/>
              </a:defRPr>
            </a:pPr>
            <a:r>
              <a:rPr sz="2800">
                <a:latin typeface="Aptos"/>
                <a:ea typeface="Aptos"/>
                <a:cs typeface="Aptos"/>
              </a:rPr>
              <a:t>1994:</a:t>
            </a:r>
            <a:r>
              <a:rPr sz="2800" spc="-160">
                <a:latin typeface="Aptos"/>
                <a:ea typeface="Aptos"/>
                <a:cs typeface="Aptos"/>
              </a:rPr>
              <a:t> </a:t>
            </a:r>
            <a:r>
              <a:rPr sz="2800" spc="-40">
                <a:latin typeface="Aptos"/>
                <a:ea typeface="Aptos"/>
                <a:cs typeface="Aptos"/>
              </a:rPr>
              <a:t>Geocities</a:t>
            </a:r>
            <a:endParaRPr sz="2800">
              <a:latin typeface="Aptos (Body)"/>
              <a:ea typeface="Aptos (Body)"/>
              <a:cs typeface="Aptos (Body)"/>
            </a:endParaRPr>
          </a:p>
        </p:txBody>
      </p:sp>
      <p:pic>
        <p:nvPicPr>
          <p:cNvPr id="23" name="object 4"/>
          <p:cNvPicPr>
            <a:picLocks noChangeAspect="1"/>
          </p:cNvPicPr>
          <p:nvPr/>
        </p:nvPicPr>
        <p:blipFill>
          <a:blip r:embed="rId3"/>
          <a:stretch>
            <a:fillRect/>
          </a:stretch>
        </p:blipFill>
        <p:spPr>
          <a:xfrm>
            <a:off x="6477000" y="1290637"/>
            <a:ext cx="1104900" cy="915554"/>
          </a:xfrm>
          <a:prstGeom prst="rect">
            <a:avLst/>
          </a:prstGeom>
        </p:spPr>
      </p:pic>
      <p:pic>
        <p:nvPicPr>
          <p:cNvPr id="24" name="object 5"/>
          <p:cNvPicPr>
            <a:picLocks noChangeAspect="1"/>
          </p:cNvPicPr>
          <p:nvPr/>
        </p:nvPicPr>
        <p:blipFill>
          <a:blip r:embed="rId4"/>
          <a:stretch>
            <a:fillRect/>
          </a:stretch>
        </p:blipFill>
        <p:spPr>
          <a:xfrm>
            <a:off x="5800788" y="2777698"/>
            <a:ext cx="2133600" cy="1323975"/>
          </a:xfrm>
          <a:prstGeom prst="rect">
            <a:avLst/>
          </a:prstGeom>
        </p:spPr>
      </p:pic>
      <p:sp>
        <p:nvSpPr>
          <p:cNvPr id="14" name="object 6">
            <a:extLst>
              <a:ext uri="{FF2B5EF4-FFF2-40B4-BE49-F238E27FC236}">
                <a16:creationId xmlns:a16="http://schemas.microsoft.com/office/drawing/2014/main" id="{AC9F1388-8C19-E37F-E66A-79FE747A6A0F}"/>
              </a:ext>
            </a:extLst>
          </p:cNvPr>
          <p:cNvSpPr>
            <a:spLocks noGrp="1"/>
          </p:cNvSpPr>
          <p:nvPr/>
        </p:nvSpPr>
        <p:spPr>
          <a:xfrm>
            <a:off x="4984242" y="2324100"/>
            <a:ext cx="368300" cy="2209800"/>
          </a:xfrm>
          <a:custGeom>
            <a:avLst/>
            <a:gdLst/>
            <a:ahLst/>
            <a:cxnLst/>
            <a:rect l="l" t="t" r="r" b="b"/>
            <a:pathLst>
              <a:path w="368300" h="2209800">
                <a:moveTo>
                  <a:pt x="368173" y="2209736"/>
                </a:moveTo>
                <a:lnTo>
                  <a:pt x="319254" y="2203158"/>
                </a:lnTo>
                <a:lnTo>
                  <a:pt x="275274" y="2184594"/>
                </a:lnTo>
                <a:lnTo>
                  <a:pt x="237998" y="2155801"/>
                </a:lnTo>
                <a:lnTo>
                  <a:pt x="209187" y="2118533"/>
                </a:lnTo>
                <a:lnTo>
                  <a:pt x="190608" y="2074547"/>
                </a:lnTo>
                <a:lnTo>
                  <a:pt x="184023" y="2025599"/>
                </a:lnTo>
                <a:lnTo>
                  <a:pt x="184023" y="1288923"/>
                </a:lnTo>
                <a:lnTo>
                  <a:pt x="177447" y="1240013"/>
                </a:lnTo>
                <a:lnTo>
                  <a:pt x="158891" y="1196057"/>
                </a:lnTo>
                <a:lnTo>
                  <a:pt x="130111" y="1158811"/>
                </a:lnTo>
                <a:lnTo>
                  <a:pt x="92865" y="1130031"/>
                </a:lnTo>
                <a:lnTo>
                  <a:pt x="48909" y="1111475"/>
                </a:lnTo>
                <a:lnTo>
                  <a:pt x="0" y="1104900"/>
                </a:lnTo>
                <a:lnTo>
                  <a:pt x="48909" y="1098314"/>
                </a:lnTo>
                <a:lnTo>
                  <a:pt x="92865" y="1079735"/>
                </a:lnTo>
                <a:lnTo>
                  <a:pt x="130111" y="1050925"/>
                </a:lnTo>
                <a:lnTo>
                  <a:pt x="158891" y="1013648"/>
                </a:lnTo>
                <a:lnTo>
                  <a:pt x="177447" y="969668"/>
                </a:lnTo>
                <a:lnTo>
                  <a:pt x="184023" y="920750"/>
                </a:lnTo>
                <a:lnTo>
                  <a:pt x="184023" y="184023"/>
                </a:lnTo>
                <a:lnTo>
                  <a:pt x="190608" y="135113"/>
                </a:lnTo>
                <a:lnTo>
                  <a:pt x="209187" y="91157"/>
                </a:lnTo>
                <a:lnTo>
                  <a:pt x="237998" y="53911"/>
                </a:lnTo>
                <a:lnTo>
                  <a:pt x="275274" y="25131"/>
                </a:lnTo>
                <a:lnTo>
                  <a:pt x="319254" y="6575"/>
                </a:lnTo>
                <a:lnTo>
                  <a:pt x="368173" y="0"/>
                </a:lnTo>
              </a:path>
            </a:pathLst>
          </a:custGeom>
          <a:ln w="6350">
            <a:solidFill>
              <a:srgbClr val="000000"/>
            </a:solidFill>
          </a:ln>
        </p:spPr>
        <p:txBody>
          <a:bodyPr wrap="square" lIns="0" tIns="0" rIns="0" bIns="0"/>
          <a:lstStyle/>
          <a:p>
            <a:endParaRPr/>
          </a:p>
        </p:txBody>
      </p:sp>
      <p:sp>
        <p:nvSpPr>
          <p:cNvPr id="16" name="object 7">
            <a:extLst>
              <a:ext uri="{FF2B5EF4-FFF2-40B4-BE49-F238E27FC236}">
                <a16:creationId xmlns:a16="http://schemas.microsoft.com/office/drawing/2014/main" id="{0BE02D32-C371-1E7B-75A5-0D3EB665E3F8}"/>
              </a:ext>
            </a:extLst>
          </p:cNvPr>
          <p:cNvSpPr>
            <a:spLocks noGrp="1"/>
          </p:cNvSpPr>
          <p:nvPr/>
        </p:nvSpPr>
        <p:spPr>
          <a:xfrm>
            <a:off x="8382635" y="2324100"/>
            <a:ext cx="368300" cy="2209800"/>
          </a:xfrm>
          <a:custGeom>
            <a:avLst/>
            <a:gdLst/>
            <a:ahLst/>
            <a:cxnLst/>
            <a:rect l="l" t="t" r="r" b="b"/>
            <a:pathLst>
              <a:path w="368300" h="2209800">
                <a:moveTo>
                  <a:pt x="0" y="0"/>
                </a:moveTo>
                <a:lnTo>
                  <a:pt x="48918" y="6575"/>
                </a:lnTo>
                <a:lnTo>
                  <a:pt x="92898" y="25131"/>
                </a:lnTo>
                <a:lnTo>
                  <a:pt x="130175" y="53911"/>
                </a:lnTo>
                <a:lnTo>
                  <a:pt x="158985" y="91157"/>
                </a:lnTo>
                <a:lnTo>
                  <a:pt x="177564" y="135113"/>
                </a:lnTo>
                <a:lnTo>
                  <a:pt x="184150" y="184023"/>
                </a:lnTo>
                <a:lnTo>
                  <a:pt x="184150" y="920750"/>
                </a:lnTo>
                <a:lnTo>
                  <a:pt x="190726" y="969668"/>
                </a:lnTo>
                <a:lnTo>
                  <a:pt x="209286" y="1013648"/>
                </a:lnTo>
                <a:lnTo>
                  <a:pt x="238077" y="1050925"/>
                </a:lnTo>
                <a:lnTo>
                  <a:pt x="275345" y="1079735"/>
                </a:lnTo>
                <a:lnTo>
                  <a:pt x="319337" y="1098314"/>
                </a:lnTo>
                <a:lnTo>
                  <a:pt x="368300" y="1104900"/>
                </a:lnTo>
                <a:lnTo>
                  <a:pt x="319337" y="1111475"/>
                </a:lnTo>
                <a:lnTo>
                  <a:pt x="275345" y="1130031"/>
                </a:lnTo>
                <a:lnTo>
                  <a:pt x="238077" y="1158811"/>
                </a:lnTo>
                <a:lnTo>
                  <a:pt x="209286" y="1196057"/>
                </a:lnTo>
                <a:lnTo>
                  <a:pt x="190726" y="1240013"/>
                </a:lnTo>
                <a:lnTo>
                  <a:pt x="184150" y="1288923"/>
                </a:lnTo>
                <a:lnTo>
                  <a:pt x="184150" y="2025599"/>
                </a:lnTo>
                <a:lnTo>
                  <a:pt x="177564" y="2074547"/>
                </a:lnTo>
                <a:lnTo>
                  <a:pt x="158985" y="2118533"/>
                </a:lnTo>
                <a:lnTo>
                  <a:pt x="130175" y="2155801"/>
                </a:lnTo>
                <a:lnTo>
                  <a:pt x="92898" y="2184594"/>
                </a:lnTo>
                <a:lnTo>
                  <a:pt x="48918" y="2203158"/>
                </a:lnTo>
                <a:lnTo>
                  <a:pt x="0" y="2209736"/>
                </a:lnTo>
              </a:path>
            </a:pathLst>
          </a:custGeom>
          <a:ln w="6350">
            <a:solidFill>
              <a:srgbClr val="000000"/>
            </a:solidFill>
          </a:ln>
        </p:spPr>
        <p:txBody>
          <a:bodyPr wrap="square" lIns="0" tIns="0" rIns="0" bIns="0"/>
          <a:lstStyle/>
          <a:p>
            <a:endParaRPr/>
          </a:p>
        </p:txBody>
      </p:sp>
      <p:sp>
        <p:nvSpPr>
          <p:cNvPr id="18" name="object 8">
            <a:extLst>
              <a:ext uri="{FF2B5EF4-FFF2-40B4-BE49-F238E27FC236}">
                <a16:creationId xmlns:a16="http://schemas.microsoft.com/office/drawing/2014/main" id="{C53826F0-908D-2766-A67A-D08C3EADEBA1}"/>
              </a:ext>
            </a:extLst>
          </p:cNvPr>
          <p:cNvSpPr>
            <a:spLocks noGrp="1"/>
          </p:cNvSpPr>
          <p:nvPr/>
        </p:nvSpPr>
        <p:spPr>
          <a:xfrm>
            <a:off x="5246122" y="4673181"/>
            <a:ext cx="3100070" cy="334645"/>
          </a:xfrm>
          <a:prstGeom prst="rect">
            <a:avLst/>
          </a:prstGeom>
        </p:spPr>
        <p:txBody>
          <a:bodyPr vert="horz" wrap="square" lIns="0" tIns="15875" rIns="0" bIns="0">
            <a:spAutoFit/>
          </a:bodyPr>
          <a:lstStyle/>
          <a:p>
            <a:pPr marL="12700">
              <a:lnSpc>
                <a:spcPct val="100000"/>
              </a:lnSpc>
              <a:spcBef>
                <a:spcPts val="125"/>
              </a:spcBef>
              <a:buNone/>
              <a:defRPr>
                <a:latin typeface="Aptos"/>
                <a:ea typeface="Aptos"/>
                <a:cs typeface="Aptos"/>
              </a:defRPr>
            </a:pPr>
            <a:r>
              <a:rPr sz="2000" spc="-35">
                <a:latin typeface="Aptos"/>
                <a:ea typeface="Aptos"/>
                <a:cs typeface="Aptos"/>
              </a:rPr>
              <a:t>Geocities</a:t>
            </a:r>
            <a:r>
              <a:rPr sz="2000" spc="-60">
                <a:latin typeface="Aptos"/>
                <a:ea typeface="Aptos"/>
                <a:cs typeface="Aptos"/>
              </a:rPr>
              <a:t> </a:t>
            </a:r>
            <a:r>
              <a:rPr sz="2000" spc="-50">
                <a:latin typeface="Aptos"/>
                <a:ea typeface="Aptos"/>
                <a:cs typeface="Aptos"/>
              </a:rPr>
              <a:t>moderator,</a:t>
            </a:r>
            <a:r>
              <a:rPr sz="2000" spc="-65">
                <a:latin typeface="Aptos"/>
                <a:ea typeface="Aptos"/>
                <a:cs typeface="Aptos"/>
              </a:rPr>
              <a:t> </a:t>
            </a:r>
            <a:r>
              <a:rPr sz="2000" spc="-10">
                <a:latin typeface="Aptos"/>
                <a:ea typeface="Aptos"/>
                <a:cs typeface="Aptos"/>
              </a:rPr>
              <a:t>the</a:t>
            </a:r>
            <a:r>
              <a:rPr sz="2000" spc="-25">
                <a:latin typeface="Aptos"/>
                <a:ea typeface="Aptos"/>
                <a:cs typeface="Aptos"/>
              </a:rPr>
              <a:t> </a:t>
            </a:r>
            <a:r>
              <a:rPr sz="2000" spc="-45">
                <a:latin typeface="Aptos"/>
                <a:ea typeface="Aptos"/>
                <a:cs typeface="Aptos"/>
              </a:rPr>
              <a:t>game</a:t>
            </a:r>
            <a:endParaRPr sz="2000">
              <a:latin typeface="Calibri"/>
              <a:ea typeface="Calibri"/>
              <a:cs typeface="Calibri"/>
            </a:endParaRPr>
          </a:p>
        </p:txBody>
      </p:sp>
    </p:spTree>
    <p:extLst>
      <p:ext uri="{BB962C8B-B14F-4D97-AF65-F5344CB8AC3E}">
        <p14:creationId xmlns:p14="http://schemas.microsoft.com/office/powerpoint/2010/main" val="4669524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A7B1A-386A-7B2D-A1C5-50052CB5BB08}"/>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The Web</a:t>
            </a:r>
          </a:p>
        </p:txBody>
      </p:sp>
      <p:sp>
        <p:nvSpPr>
          <p:cNvPr id="6" name="object 2">
            <a:extLst>
              <a:ext uri="{FF2B5EF4-FFF2-40B4-BE49-F238E27FC236}">
                <a16:creationId xmlns:a16="http://schemas.microsoft.com/office/drawing/2014/main" id="{D0909166-6B34-017B-16D9-270A4D8FED8F}"/>
              </a:ext>
            </a:extLst>
          </p:cNvPr>
          <p:cNvSpPr>
            <a:spLocks noGrp="1"/>
          </p:cNvSpPr>
          <p:nvPr/>
        </p:nvSpPr>
        <p:spPr>
          <a:xfrm>
            <a:off x="1057274" y="1868487"/>
            <a:ext cx="3057525" cy="1334340"/>
          </a:xfrm>
          <a:prstGeom prst="rect">
            <a:avLst/>
          </a:prstGeom>
        </p:spPr>
        <p:txBody>
          <a:bodyPr vert="horz" wrap="square" lIns="0" tIns="15875" rIns="0" bIns="0">
            <a:spAutoFit/>
          </a:bodyPr>
          <a:lstStyle/>
          <a:p>
            <a:pPr marL="12700">
              <a:lnSpc>
                <a:spcPct val="100000"/>
              </a:lnSpc>
              <a:spcBef>
                <a:spcPts val="125"/>
              </a:spcBef>
              <a:buNone/>
              <a:defRPr>
                <a:latin typeface="Aptos"/>
                <a:ea typeface="Aptos"/>
                <a:cs typeface="Aptos"/>
              </a:defRPr>
            </a:pPr>
            <a:r>
              <a:rPr sz="2800">
                <a:latin typeface="Aptos"/>
                <a:ea typeface="Aptos"/>
                <a:cs typeface="Aptos"/>
              </a:rPr>
              <a:t>1994:</a:t>
            </a:r>
            <a:r>
              <a:rPr sz="2800" spc="-160">
                <a:latin typeface="Aptos"/>
                <a:ea typeface="Aptos"/>
                <a:cs typeface="Aptos"/>
              </a:rPr>
              <a:t> </a:t>
            </a:r>
            <a:r>
              <a:rPr sz="2800" spc="-40">
                <a:latin typeface="Aptos"/>
                <a:ea typeface="Aptos"/>
                <a:cs typeface="Aptos"/>
              </a:rPr>
              <a:t>Geocities</a:t>
            </a:r>
            <a:endParaRPr sz="2800" spc="-40">
              <a:latin typeface="Aptos (Body)"/>
              <a:ea typeface="Aptos (Body)"/>
              <a:cs typeface="Aptos (Body)"/>
            </a:endParaRPr>
          </a:p>
          <a:p>
            <a:pPr marL="12700">
              <a:spcBef>
                <a:spcPts val="125"/>
              </a:spcBef>
              <a:buNone/>
              <a:defRPr>
                <a:latin typeface="Aptos"/>
                <a:ea typeface="Aptos"/>
                <a:cs typeface="Aptos"/>
              </a:defRPr>
            </a:pPr>
            <a:r>
              <a:rPr sz="2800">
                <a:latin typeface="Aptos"/>
                <a:ea typeface="Aptos"/>
                <a:cs typeface="Aptos"/>
              </a:rPr>
              <a:t>1994:</a:t>
            </a:r>
            <a:r>
              <a:rPr sz="2800" spc="-160">
                <a:latin typeface="Aptos"/>
                <a:ea typeface="Aptos"/>
                <a:cs typeface="Aptos"/>
              </a:rPr>
              <a:t> </a:t>
            </a:r>
            <a:r>
              <a:rPr sz="2800" spc="-10">
                <a:latin typeface="Aptos"/>
                <a:ea typeface="Aptos"/>
                <a:cs typeface="Aptos"/>
              </a:rPr>
              <a:t>Yahoo!</a:t>
            </a:r>
          </a:p>
          <a:p>
            <a:pPr marL="12700">
              <a:spcBef>
                <a:spcPts val="125"/>
              </a:spcBef>
              <a:buNone/>
              <a:defRPr>
                <a:latin typeface="Aptos"/>
                <a:ea typeface="Aptos"/>
                <a:cs typeface="Aptos"/>
              </a:defRPr>
            </a:pPr>
            <a:r>
              <a:rPr sz="2800" spc="-10">
                <a:latin typeface="Aptos"/>
                <a:ea typeface="Aptos"/>
                <a:cs typeface="Aptos"/>
              </a:rPr>
              <a:t>1995:</a:t>
            </a:r>
            <a:r>
              <a:rPr sz="2800" spc="-130">
                <a:latin typeface="Aptos"/>
                <a:ea typeface="Aptos"/>
                <a:cs typeface="Aptos"/>
              </a:rPr>
              <a:t> </a:t>
            </a:r>
            <a:r>
              <a:rPr sz="2800" spc="-10">
                <a:latin typeface="Aptos"/>
                <a:ea typeface="Aptos"/>
                <a:cs typeface="Aptos"/>
              </a:rPr>
              <a:t>Altavista</a:t>
            </a:r>
            <a:endParaRPr sz="2800">
              <a:latin typeface="Aptos (Body)"/>
              <a:ea typeface="Aptos (Body)"/>
              <a:cs typeface="Aptos (Body)"/>
            </a:endParaRPr>
          </a:p>
        </p:txBody>
      </p:sp>
      <p:pic>
        <p:nvPicPr>
          <p:cNvPr id="11" name="object 4"/>
          <p:cNvPicPr>
            <a:picLocks noChangeAspect="1"/>
          </p:cNvPicPr>
          <p:nvPr/>
        </p:nvPicPr>
        <p:blipFill>
          <a:blip r:embed="rId3"/>
          <a:stretch>
            <a:fillRect/>
          </a:stretch>
        </p:blipFill>
        <p:spPr>
          <a:xfrm>
            <a:off x="5838825" y="2600325"/>
            <a:ext cx="4781550" cy="3371850"/>
          </a:xfrm>
          <a:prstGeom prst="rect">
            <a:avLst/>
          </a:prstGeom>
        </p:spPr>
      </p:pic>
    </p:spTree>
    <p:extLst>
      <p:ext uri="{BB962C8B-B14F-4D97-AF65-F5344CB8AC3E}">
        <p14:creationId xmlns:p14="http://schemas.microsoft.com/office/powerpoint/2010/main" val="11811869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0B4C-6EED-CDC7-49D8-5FBC3EE0547E}"/>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The Web</a:t>
            </a:r>
          </a:p>
        </p:txBody>
      </p:sp>
      <p:sp>
        <p:nvSpPr>
          <p:cNvPr id="6" name="object 2">
            <a:extLst>
              <a:ext uri="{FF2B5EF4-FFF2-40B4-BE49-F238E27FC236}">
                <a16:creationId xmlns:a16="http://schemas.microsoft.com/office/drawing/2014/main" id="{1A1D37B5-6686-3AB5-30D7-29759D933ACB}"/>
              </a:ext>
            </a:extLst>
          </p:cNvPr>
          <p:cNvSpPr>
            <a:spLocks noGrp="1"/>
          </p:cNvSpPr>
          <p:nvPr/>
        </p:nvSpPr>
        <p:spPr>
          <a:xfrm>
            <a:off x="1057274" y="1868487"/>
            <a:ext cx="3057525" cy="1778051"/>
          </a:xfrm>
          <a:prstGeom prst="rect">
            <a:avLst/>
          </a:prstGeom>
        </p:spPr>
        <p:txBody>
          <a:bodyPr vert="horz" wrap="square" lIns="0" tIns="15875" rIns="0" bIns="0">
            <a:spAutoFit/>
          </a:bodyPr>
          <a:lstStyle/>
          <a:p>
            <a:pPr marL="12700">
              <a:lnSpc>
                <a:spcPct val="100000"/>
              </a:lnSpc>
              <a:spcBef>
                <a:spcPts val="125"/>
              </a:spcBef>
              <a:buNone/>
              <a:defRPr>
                <a:latin typeface="Aptos"/>
                <a:ea typeface="Aptos"/>
                <a:cs typeface="Aptos"/>
              </a:defRPr>
            </a:pPr>
            <a:r>
              <a:rPr sz="2800">
                <a:latin typeface="Aptos"/>
                <a:ea typeface="Aptos"/>
                <a:cs typeface="Aptos"/>
              </a:rPr>
              <a:t>1994:</a:t>
            </a:r>
            <a:r>
              <a:rPr sz="2800" spc="-160">
                <a:latin typeface="Aptos"/>
                <a:ea typeface="Aptos"/>
                <a:cs typeface="Aptos"/>
              </a:rPr>
              <a:t> </a:t>
            </a:r>
            <a:r>
              <a:rPr sz="2800" spc="-40">
                <a:latin typeface="Aptos"/>
                <a:ea typeface="Aptos"/>
                <a:cs typeface="Aptos"/>
              </a:rPr>
              <a:t>Geocities</a:t>
            </a:r>
            <a:endParaRPr sz="2800" spc="-40">
              <a:latin typeface="Aptos (Body)"/>
              <a:ea typeface="Aptos (Body)"/>
              <a:cs typeface="Aptos (Body)"/>
            </a:endParaRPr>
          </a:p>
          <a:p>
            <a:pPr marL="12700">
              <a:spcBef>
                <a:spcPts val="125"/>
              </a:spcBef>
              <a:buNone/>
              <a:defRPr>
                <a:latin typeface="Aptos"/>
                <a:ea typeface="Aptos"/>
                <a:cs typeface="Aptos"/>
              </a:defRPr>
            </a:pPr>
            <a:r>
              <a:rPr sz="2800">
                <a:latin typeface="Aptos"/>
                <a:ea typeface="Aptos"/>
                <a:cs typeface="Aptos"/>
              </a:rPr>
              <a:t>1994:</a:t>
            </a:r>
            <a:r>
              <a:rPr sz="2800" spc="-160">
                <a:latin typeface="Aptos"/>
                <a:ea typeface="Aptos"/>
                <a:cs typeface="Aptos"/>
              </a:rPr>
              <a:t> </a:t>
            </a:r>
            <a:r>
              <a:rPr sz="2800" spc="-10">
                <a:latin typeface="Aptos"/>
                <a:ea typeface="Aptos"/>
                <a:cs typeface="Aptos"/>
              </a:rPr>
              <a:t>Yahoo!</a:t>
            </a:r>
          </a:p>
          <a:p>
            <a:pPr marL="12700">
              <a:spcBef>
                <a:spcPts val="125"/>
              </a:spcBef>
              <a:buNone/>
              <a:defRPr>
                <a:latin typeface="Aptos"/>
                <a:ea typeface="Aptos"/>
                <a:cs typeface="Aptos"/>
              </a:defRPr>
            </a:pPr>
            <a:r>
              <a:rPr sz="2800" spc="-10">
                <a:latin typeface="Aptos"/>
                <a:ea typeface="Aptos"/>
                <a:cs typeface="Aptos"/>
              </a:rPr>
              <a:t>1995:</a:t>
            </a:r>
            <a:r>
              <a:rPr sz="2800" spc="-130">
                <a:latin typeface="Aptos"/>
                <a:ea typeface="Aptos"/>
                <a:cs typeface="Aptos"/>
              </a:rPr>
              <a:t> </a:t>
            </a:r>
            <a:r>
              <a:rPr sz="2800" spc="-10">
                <a:latin typeface="Aptos"/>
                <a:ea typeface="Aptos"/>
                <a:cs typeface="Aptos"/>
              </a:rPr>
              <a:t>Altavista</a:t>
            </a:r>
            <a:endParaRPr sz="2800" spc="-10">
              <a:latin typeface="Aptos (Body)"/>
              <a:ea typeface="Aptos (Body)"/>
              <a:cs typeface="Aptos (Body)"/>
            </a:endParaRPr>
          </a:p>
          <a:p>
            <a:pPr marL="12700">
              <a:spcBef>
                <a:spcPts val="125"/>
              </a:spcBef>
              <a:buNone/>
              <a:defRPr>
                <a:latin typeface="Aptos"/>
                <a:ea typeface="Aptos"/>
                <a:cs typeface="Aptos"/>
              </a:defRPr>
            </a:pPr>
            <a:r>
              <a:rPr sz="2800" spc="-10">
                <a:latin typeface="Aptos"/>
                <a:ea typeface="Aptos"/>
                <a:cs typeface="Aptos"/>
              </a:rPr>
              <a:t>1995: Amazon</a:t>
            </a:r>
            <a:endParaRPr sz="2800">
              <a:latin typeface="Aptos (Body)"/>
              <a:ea typeface="Aptos (Body)"/>
              <a:cs typeface="Aptos (Body)"/>
            </a:endParaRPr>
          </a:p>
        </p:txBody>
      </p:sp>
      <p:pic>
        <p:nvPicPr>
          <p:cNvPr id="11" name="object 4"/>
          <p:cNvPicPr>
            <a:picLocks noChangeAspect="1"/>
          </p:cNvPicPr>
          <p:nvPr/>
        </p:nvPicPr>
        <p:blipFill>
          <a:blip r:embed="rId3"/>
          <a:stretch>
            <a:fillRect/>
          </a:stretch>
        </p:blipFill>
        <p:spPr>
          <a:xfrm>
            <a:off x="6096000" y="1314450"/>
            <a:ext cx="5219700" cy="5105400"/>
          </a:xfrm>
          <a:prstGeom prst="rect">
            <a:avLst/>
          </a:prstGeom>
        </p:spPr>
      </p:pic>
    </p:spTree>
    <p:extLst>
      <p:ext uri="{BB962C8B-B14F-4D97-AF65-F5344CB8AC3E}">
        <p14:creationId xmlns:p14="http://schemas.microsoft.com/office/powerpoint/2010/main" val="21573852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0251D-45F8-2878-294B-898DD2669078}"/>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The Web</a:t>
            </a:r>
          </a:p>
        </p:txBody>
      </p:sp>
      <p:sp>
        <p:nvSpPr>
          <p:cNvPr id="6" name="object 2">
            <a:extLst>
              <a:ext uri="{FF2B5EF4-FFF2-40B4-BE49-F238E27FC236}">
                <a16:creationId xmlns:a16="http://schemas.microsoft.com/office/drawing/2014/main" id="{8D0FB888-F959-8C33-4593-2B0EDAF2A9E6}"/>
              </a:ext>
            </a:extLst>
          </p:cNvPr>
          <p:cNvSpPr>
            <a:spLocks noGrp="1"/>
          </p:cNvSpPr>
          <p:nvPr/>
        </p:nvSpPr>
        <p:spPr>
          <a:xfrm>
            <a:off x="1057274" y="1868487"/>
            <a:ext cx="3057525" cy="2221762"/>
          </a:xfrm>
          <a:prstGeom prst="rect">
            <a:avLst/>
          </a:prstGeom>
        </p:spPr>
        <p:txBody>
          <a:bodyPr vert="horz" wrap="square" lIns="0" tIns="15875" rIns="0" bIns="0">
            <a:spAutoFit/>
          </a:bodyPr>
          <a:lstStyle/>
          <a:p>
            <a:pPr marL="12700">
              <a:lnSpc>
                <a:spcPct val="100000"/>
              </a:lnSpc>
              <a:spcBef>
                <a:spcPts val="125"/>
              </a:spcBef>
              <a:buNone/>
              <a:defRPr>
                <a:latin typeface="Aptos"/>
                <a:ea typeface="Aptos"/>
                <a:cs typeface="Aptos"/>
              </a:defRPr>
            </a:pPr>
            <a:r>
              <a:rPr sz="2800">
                <a:latin typeface="Aptos"/>
                <a:ea typeface="Aptos"/>
                <a:cs typeface="Aptos"/>
              </a:rPr>
              <a:t>1994:</a:t>
            </a:r>
            <a:r>
              <a:rPr sz="2800" spc="-160">
                <a:latin typeface="Aptos"/>
                <a:ea typeface="Aptos"/>
                <a:cs typeface="Aptos"/>
              </a:rPr>
              <a:t> </a:t>
            </a:r>
            <a:r>
              <a:rPr sz="2800" spc="-40">
                <a:latin typeface="Aptos"/>
                <a:ea typeface="Aptos"/>
                <a:cs typeface="Aptos"/>
              </a:rPr>
              <a:t>Geocities</a:t>
            </a:r>
            <a:endParaRPr sz="2800" spc="-40">
              <a:latin typeface="Aptos (Body)"/>
              <a:ea typeface="Aptos (Body)"/>
              <a:cs typeface="Aptos (Body)"/>
            </a:endParaRPr>
          </a:p>
          <a:p>
            <a:pPr marL="12700">
              <a:spcBef>
                <a:spcPts val="125"/>
              </a:spcBef>
              <a:buNone/>
              <a:defRPr>
                <a:latin typeface="Aptos"/>
                <a:ea typeface="Aptos"/>
                <a:cs typeface="Aptos"/>
              </a:defRPr>
            </a:pPr>
            <a:r>
              <a:rPr sz="2800">
                <a:latin typeface="Aptos"/>
                <a:ea typeface="Aptos"/>
                <a:cs typeface="Aptos"/>
              </a:rPr>
              <a:t>1994:</a:t>
            </a:r>
            <a:r>
              <a:rPr sz="2800" spc="-160">
                <a:latin typeface="Aptos"/>
                <a:ea typeface="Aptos"/>
                <a:cs typeface="Aptos"/>
              </a:rPr>
              <a:t> </a:t>
            </a:r>
            <a:r>
              <a:rPr sz="2800" spc="-10">
                <a:latin typeface="Aptos"/>
                <a:ea typeface="Aptos"/>
                <a:cs typeface="Aptos"/>
              </a:rPr>
              <a:t>Yahoo!</a:t>
            </a:r>
          </a:p>
          <a:p>
            <a:pPr marL="12700">
              <a:spcBef>
                <a:spcPts val="125"/>
              </a:spcBef>
              <a:buNone/>
              <a:defRPr>
                <a:latin typeface="Aptos"/>
                <a:ea typeface="Aptos"/>
                <a:cs typeface="Aptos"/>
              </a:defRPr>
            </a:pPr>
            <a:r>
              <a:rPr sz="2800" spc="-10">
                <a:latin typeface="Aptos"/>
                <a:ea typeface="Aptos"/>
                <a:cs typeface="Aptos"/>
              </a:rPr>
              <a:t>1995:</a:t>
            </a:r>
            <a:r>
              <a:rPr sz="2800" spc="-130">
                <a:latin typeface="Aptos"/>
                <a:ea typeface="Aptos"/>
                <a:cs typeface="Aptos"/>
              </a:rPr>
              <a:t> </a:t>
            </a:r>
            <a:r>
              <a:rPr sz="2800" spc="-10">
                <a:latin typeface="Aptos"/>
                <a:ea typeface="Aptos"/>
                <a:cs typeface="Aptos"/>
              </a:rPr>
              <a:t>Altavista</a:t>
            </a:r>
            <a:endParaRPr sz="2800" spc="-10">
              <a:latin typeface="Aptos (Body)"/>
              <a:ea typeface="Aptos (Body)"/>
              <a:cs typeface="Aptos (Body)"/>
            </a:endParaRPr>
          </a:p>
          <a:p>
            <a:pPr marL="12700">
              <a:spcBef>
                <a:spcPts val="125"/>
              </a:spcBef>
              <a:buNone/>
              <a:defRPr>
                <a:latin typeface="Aptos"/>
                <a:ea typeface="Aptos"/>
                <a:cs typeface="Aptos"/>
              </a:defRPr>
            </a:pPr>
            <a:r>
              <a:rPr sz="2800" spc="-10">
                <a:latin typeface="Aptos"/>
                <a:ea typeface="Aptos"/>
                <a:cs typeface="Aptos"/>
              </a:rPr>
              <a:t>1995: Amazon</a:t>
            </a:r>
          </a:p>
          <a:p>
            <a:pPr marL="12700">
              <a:spcBef>
                <a:spcPts val="125"/>
              </a:spcBef>
              <a:buNone/>
              <a:defRPr>
                <a:latin typeface="Aptos"/>
                <a:ea typeface="Aptos"/>
                <a:cs typeface="Aptos"/>
              </a:defRPr>
            </a:pPr>
            <a:r>
              <a:rPr sz="2800" spc="-10">
                <a:latin typeface="Aptos"/>
                <a:ea typeface="Aptos"/>
                <a:cs typeface="Aptos"/>
              </a:rPr>
              <a:t>1998: Google</a:t>
            </a:r>
            <a:endParaRPr sz="2800">
              <a:latin typeface="Aptos (Body)"/>
              <a:ea typeface="Aptos (Body)"/>
              <a:cs typeface="Aptos (Body)"/>
            </a:endParaRPr>
          </a:p>
        </p:txBody>
      </p:sp>
      <p:pic>
        <p:nvPicPr>
          <p:cNvPr id="11" name="object 4"/>
          <p:cNvPicPr>
            <a:picLocks noChangeAspect="1"/>
          </p:cNvPicPr>
          <p:nvPr/>
        </p:nvPicPr>
        <p:blipFill>
          <a:blip r:embed="rId3"/>
          <a:stretch>
            <a:fillRect/>
          </a:stretch>
        </p:blipFill>
        <p:spPr>
          <a:xfrm>
            <a:off x="5677935" y="3006725"/>
            <a:ext cx="5663659" cy="2840476"/>
          </a:xfrm>
          <a:prstGeom prst="rect">
            <a:avLst/>
          </a:prstGeom>
        </p:spPr>
      </p:pic>
    </p:spTree>
    <p:extLst>
      <p:ext uri="{BB962C8B-B14F-4D97-AF65-F5344CB8AC3E}">
        <p14:creationId xmlns:p14="http://schemas.microsoft.com/office/powerpoint/2010/main" val="36973340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E4A14-3FF2-A90A-564C-4449772B5754}"/>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The Web</a:t>
            </a:r>
          </a:p>
        </p:txBody>
      </p:sp>
      <p:sp>
        <p:nvSpPr>
          <p:cNvPr id="6" name="object 2">
            <a:extLst>
              <a:ext uri="{FF2B5EF4-FFF2-40B4-BE49-F238E27FC236}">
                <a16:creationId xmlns:a16="http://schemas.microsoft.com/office/drawing/2014/main" id="{144FC3AD-7D76-10DE-2476-FC8A4EFC4A48}"/>
              </a:ext>
            </a:extLst>
          </p:cNvPr>
          <p:cNvSpPr>
            <a:spLocks noGrp="1"/>
          </p:cNvSpPr>
          <p:nvPr/>
        </p:nvSpPr>
        <p:spPr>
          <a:xfrm>
            <a:off x="1057274" y="1868487"/>
            <a:ext cx="3057525" cy="2665473"/>
          </a:xfrm>
          <a:prstGeom prst="rect">
            <a:avLst/>
          </a:prstGeom>
        </p:spPr>
        <p:txBody>
          <a:bodyPr vert="horz" wrap="square" lIns="0" tIns="15875" rIns="0" bIns="0">
            <a:spAutoFit/>
          </a:bodyPr>
          <a:lstStyle/>
          <a:p>
            <a:pPr marL="12700">
              <a:lnSpc>
                <a:spcPct val="100000"/>
              </a:lnSpc>
              <a:spcBef>
                <a:spcPts val="125"/>
              </a:spcBef>
              <a:buNone/>
              <a:defRPr>
                <a:latin typeface="Aptos"/>
                <a:ea typeface="Aptos"/>
                <a:cs typeface="Aptos"/>
              </a:defRPr>
            </a:pPr>
            <a:r>
              <a:rPr sz="2800">
                <a:latin typeface="Aptos"/>
                <a:ea typeface="Aptos"/>
                <a:cs typeface="Aptos"/>
              </a:rPr>
              <a:t>1994:</a:t>
            </a:r>
            <a:r>
              <a:rPr sz="2800" spc="-160">
                <a:latin typeface="Aptos"/>
                <a:ea typeface="Aptos"/>
                <a:cs typeface="Aptos"/>
              </a:rPr>
              <a:t> </a:t>
            </a:r>
            <a:r>
              <a:rPr sz="2800" spc="-40">
                <a:latin typeface="Aptos"/>
                <a:ea typeface="Aptos"/>
                <a:cs typeface="Aptos"/>
              </a:rPr>
              <a:t>Geocities</a:t>
            </a:r>
            <a:endParaRPr sz="2800" spc="-40">
              <a:latin typeface="Aptos (Body)"/>
              <a:ea typeface="Aptos (Body)"/>
              <a:cs typeface="Aptos (Body)"/>
            </a:endParaRPr>
          </a:p>
          <a:p>
            <a:pPr marL="12700">
              <a:spcBef>
                <a:spcPts val="125"/>
              </a:spcBef>
              <a:buNone/>
              <a:defRPr>
                <a:latin typeface="Aptos"/>
                <a:ea typeface="Aptos"/>
                <a:cs typeface="Aptos"/>
              </a:defRPr>
            </a:pPr>
            <a:r>
              <a:rPr sz="2800">
                <a:latin typeface="Aptos"/>
                <a:ea typeface="Aptos"/>
                <a:cs typeface="Aptos"/>
              </a:rPr>
              <a:t>1994:</a:t>
            </a:r>
            <a:r>
              <a:rPr sz="2800" spc="-160">
                <a:latin typeface="Aptos"/>
                <a:ea typeface="Aptos"/>
                <a:cs typeface="Aptos"/>
              </a:rPr>
              <a:t> </a:t>
            </a:r>
            <a:r>
              <a:rPr sz="2800" spc="-10">
                <a:latin typeface="Aptos"/>
                <a:ea typeface="Aptos"/>
                <a:cs typeface="Aptos"/>
              </a:rPr>
              <a:t>Yahoo!</a:t>
            </a:r>
          </a:p>
          <a:p>
            <a:pPr marL="12700">
              <a:spcBef>
                <a:spcPts val="125"/>
              </a:spcBef>
              <a:buNone/>
              <a:defRPr>
                <a:latin typeface="Aptos"/>
                <a:ea typeface="Aptos"/>
                <a:cs typeface="Aptos"/>
              </a:defRPr>
            </a:pPr>
            <a:r>
              <a:rPr sz="2800" spc="-10">
                <a:latin typeface="Aptos"/>
                <a:ea typeface="Aptos"/>
                <a:cs typeface="Aptos"/>
              </a:rPr>
              <a:t>1995:</a:t>
            </a:r>
            <a:r>
              <a:rPr sz="2800" spc="-130">
                <a:latin typeface="Aptos"/>
                <a:ea typeface="Aptos"/>
                <a:cs typeface="Aptos"/>
              </a:rPr>
              <a:t> </a:t>
            </a:r>
            <a:r>
              <a:rPr sz="2800" spc="-10">
                <a:latin typeface="Aptos"/>
                <a:ea typeface="Aptos"/>
                <a:cs typeface="Aptos"/>
              </a:rPr>
              <a:t>Altavista</a:t>
            </a:r>
            <a:endParaRPr sz="2800" spc="-10">
              <a:latin typeface="Aptos (Body)"/>
              <a:ea typeface="Aptos (Body)"/>
              <a:cs typeface="Aptos (Body)"/>
            </a:endParaRPr>
          </a:p>
          <a:p>
            <a:pPr marL="12700">
              <a:spcBef>
                <a:spcPts val="125"/>
              </a:spcBef>
              <a:buNone/>
              <a:defRPr>
                <a:latin typeface="Aptos"/>
                <a:ea typeface="Aptos"/>
                <a:cs typeface="Aptos"/>
              </a:defRPr>
            </a:pPr>
            <a:r>
              <a:rPr sz="2800" spc="-10">
                <a:latin typeface="Aptos"/>
                <a:ea typeface="Aptos"/>
                <a:cs typeface="Aptos"/>
              </a:rPr>
              <a:t>1995: Amazon</a:t>
            </a:r>
          </a:p>
          <a:p>
            <a:pPr marL="12700">
              <a:spcBef>
                <a:spcPts val="125"/>
              </a:spcBef>
              <a:buNone/>
              <a:defRPr>
                <a:latin typeface="Aptos"/>
                <a:ea typeface="Aptos"/>
                <a:cs typeface="Aptos"/>
              </a:defRPr>
            </a:pPr>
            <a:r>
              <a:rPr sz="2800" spc="-10">
                <a:latin typeface="Aptos"/>
                <a:ea typeface="Aptos"/>
                <a:cs typeface="Aptos"/>
              </a:rPr>
              <a:t>1998: Google</a:t>
            </a:r>
          </a:p>
          <a:p>
            <a:pPr marL="12700">
              <a:spcBef>
                <a:spcPts val="125"/>
              </a:spcBef>
              <a:buNone/>
              <a:defRPr>
                <a:latin typeface="Aptos"/>
                <a:ea typeface="Aptos"/>
                <a:cs typeface="Aptos"/>
              </a:defRPr>
            </a:pPr>
            <a:r>
              <a:rPr sz="2800" spc="-10">
                <a:latin typeface="Aptos"/>
                <a:ea typeface="Aptos"/>
                <a:cs typeface="Aptos"/>
              </a:rPr>
              <a:t>2004: Facebook</a:t>
            </a:r>
            <a:endParaRPr sz="2800">
              <a:latin typeface="Aptos (Body)"/>
              <a:ea typeface="Aptos (Body)"/>
              <a:cs typeface="Aptos (Body)"/>
            </a:endParaRPr>
          </a:p>
        </p:txBody>
      </p:sp>
      <p:pic>
        <p:nvPicPr>
          <p:cNvPr id="11" name="object 3"/>
          <p:cNvPicPr>
            <a:picLocks noChangeAspect="1"/>
          </p:cNvPicPr>
          <p:nvPr/>
        </p:nvPicPr>
        <p:blipFill>
          <a:blip r:embed="rId3"/>
          <a:stretch>
            <a:fillRect/>
          </a:stretch>
        </p:blipFill>
        <p:spPr>
          <a:xfrm>
            <a:off x="5381625" y="2505075"/>
            <a:ext cx="5981700" cy="3946982"/>
          </a:xfrm>
          <a:prstGeom prst="rect">
            <a:avLst/>
          </a:prstGeom>
        </p:spPr>
      </p:pic>
    </p:spTree>
    <p:extLst>
      <p:ext uri="{BB962C8B-B14F-4D97-AF65-F5344CB8AC3E}">
        <p14:creationId xmlns:p14="http://schemas.microsoft.com/office/powerpoint/2010/main" val="35157961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CC33-01F8-E981-8D3E-14D82EFEE611}"/>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The Web</a:t>
            </a:r>
          </a:p>
        </p:txBody>
      </p:sp>
      <p:sp>
        <p:nvSpPr>
          <p:cNvPr id="6" name="object 2">
            <a:extLst>
              <a:ext uri="{FF2B5EF4-FFF2-40B4-BE49-F238E27FC236}">
                <a16:creationId xmlns:a16="http://schemas.microsoft.com/office/drawing/2014/main" id="{1CF72826-343F-16DF-D511-0F6845600DA9}"/>
              </a:ext>
            </a:extLst>
          </p:cNvPr>
          <p:cNvSpPr>
            <a:spLocks noGrp="1"/>
          </p:cNvSpPr>
          <p:nvPr/>
        </p:nvSpPr>
        <p:spPr>
          <a:xfrm>
            <a:off x="1038224" y="2452688"/>
            <a:ext cx="9509126" cy="2322068"/>
          </a:xfrm>
          <a:prstGeom prst="rect">
            <a:avLst/>
          </a:prstGeom>
        </p:spPr>
        <p:txBody>
          <a:bodyPr vert="horz" wrap="square" lIns="0" tIns="15875" rIns="0" bIns="0">
            <a:spAutoFit/>
          </a:bodyPr>
          <a:lstStyle/>
          <a:p>
            <a:pPr marL="266700" indent="-152400" algn="l">
              <a:lnSpc>
                <a:spcPct val="108000"/>
              </a:lnSpc>
              <a:spcAft>
                <a:spcPts val="5"/>
              </a:spcAft>
              <a:buFont typeface="Wingdings"/>
              <a:buChar char="Ø"/>
              <a:defRPr>
                <a:latin typeface="Aptos"/>
                <a:ea typeface="Aptos"/>
                <a:cs typeface="Aptos"/>
              </a:defRPr>
            </a:pPr>
            <a:r>
              <a:rPr sz="2800">
                <a:latin typeface="Aptos"/>
                <a:ea typeface="Aptos"/>
                <a:cs typeface="Aptos"/>
              </a:rPr>
              <a:t>Nature: Read-only web (mostly static pages).</a:t>
            </a:r>
          </a:p>
          <a:p>
            <a:pPr marL="266700" indent="-152400" algn="l">
              <a:lnSpc>
                <a:spcPct val="108000"/>
              </a:lnSpc>
              <a:spcAft>
                <a:spcPts val="5"/>
              </a:spcAft>
              <a:buFont typeface="Wingdings"/>
              <a:buChar char="Ø"/>
              <a:defRPr>
                <a:latin typeface="Aptos"/>
                <a:ea typeface="Aptos"/>
                <a:cs typeface="Aptos"/>
              </a:defRPr>
            </a:pPr>
            <a:r>
              <a:rPr sz="2800">
                <a:latin typeface="Aptos"/>
                <a:ea typeface="Aptos"/>
                <a:cs typeface="Aptos"/>
              </a:rPr>
              <a:t>Users: Consumers of information, not creators.</a:t>
            </a:r>
          </a:p>
          <a:p>
            <a:pPr marL="266700" indent="-152400" algn="l">
              <a:lnSpc>
                <a:spcPct val="108000"/>
              </a:lnSpc>
              <a:spcAft>
                <a:spcPts val="5"/>
              </a:spcAft>
              <a:buFont typeface="Wingdings"/>
              <a:buChar char="Ø"/>
              <a:defRPr>
                <a:latin typeface="Aptos"/>
                <a:ea typeface="Aptos"/>
                <a:cs typeface="Aptos"/>
              </a:defRPr>
            </a:pPr>
            <a:r>
              <a:rPr sz="2800">
                <a:latin typeface="Aptos"/>
                <a:ea typeface="Aptos"/>
                <a:cs typeface="Aptos"/>
              </a:rPr>
              <a:t>Content: Basic HTML websites, no interactivity.</a:t>
            </a:r>
          </a:p>
          <a:p>
            <a:pPr marL="266700" indent="-152400" algn="l">
              <a:lnSpc>
                <a:spcPct val="108000"/>
              </a:lnSpc>
              <a:spcAft>
                <a:spcPts val="5"/>
              </a:spcAft>
              <a:buFont typeface="Wingdings"/>
              <a:buChar char="Ø"/>
              <a:defRPr>
                <a:latin typeface="Aptos"/>
                <a:ea typeface="Aptos"/>
                <a:cs typeface="Aptos"/>
              </a:defRPr>
            </a:pPr>
            <a:r>
              <a:rPr sz="2800">
                <a:latin typeface="Aptos"/>
                <a:ea typeface="Aptos"/>
                <a:cs typeface="Aptos"/>
              </a:rPr>
              <a:t>Examples: Yahoo directory pages, GeoCities sites, early blogs.</a:t>
            </a:r>
          </a:p>
        </p:txBody>
      </p:sp>
      <p:sp>
        <p:nvSpPr>
          <p:cNvPr id="3" name="Text Placeholder 2">
            <a:extLst>
              <a:ext uri="{FF2B5EF4-FFF2-40B4-BE49-F238E27FC236}">
                <a16:creationId xmlns:a16="http://schemas.microsoft.com/office/drawing/2014/main" id="{E93AC9EF-E5F4-ACDE-95C7-B5A0E9312D30}"/>
              </a:ext>
            </a:extLst>
          </p:cNvPr>
          <p:cNvSpPr>
            <a:spLocks noGrp="1"/>
          </p:cNvSpPr>
          <p:nvPr/>
        </p:nvSpPr>
        <p:spPr>
          <a:xfrm>
            <a:off x="730250" y="1742616"/>
            <a:ext cx="6585584" cy="423193"/>
          </a:xfrm>
          <a:prstGeom prst="rect">
            <a:avLst/>
          </a:prstGeom>
        </p:spPr>
        <p:txBody>
          <a:bodyPr vert="horz" lIns="91440" tIns="45720" rIns="91440" bIns="45720">
            <a:noAutofit/>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l">
              <a:buNone/>
              <a:defRPr>
                <a:latin typeface="Aptos"/>
                <a:ea typeface="Aptos"/>
                <a:cs typeface="Aptos"/>
              </a:defRPr>
            </a:pPr>
            <a:r>
              <a:rPr b="1">
                <a:latin typeface="Aptos"/>
                <a:ea typeface="Aptos"/>
                <a:cs typeface="Aptos"/>
              </a:rPr>
              <a:t>Web 1.0 (The Static Web) – ~1990s</a:t>
            </a:r>
          </a:p>
        </p:txBody>
      </p:sp>
    </p:spTree>
    <p:extLst>
      <p:ext uri="{BB962C8B-B14F-4D97-AF65-F5344CB8AC3E}">
        <p14:creationId xmlns:p14="http://schemas.microsoft.com/office/powerpoint/2010/main" val="15750054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24FEA-242C-D23F-50B7-3911D51E0DEB}"/>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The Web</a:t>
            </a:r>
          </a:p>
        </p:txBody>
      </p:sp>
      <p:sp>
        <p:nvSpPr>
          <p:cNvPr id="6" name="object 2">
            <a:extLst>
              <a:ext uri="{FF2B5EF4-FFF2-40B4-BE49-F238E27FC236}">
                <a16:creationId xmlns:a16="http://schemas.microsoft.com/office/drawing/2014/main" id="{C812E293-9810-83C7-CAEB-E938607D3775}"/>
              </a:ext>
            </a:extLst>
          </p:cNvPr>
          <p:cNvSpPr>
            <a:spLocks noGrp="1"/>
          </p:cNvSpPr>
          <p:nvPr/>
        </p:nvSpPr>
        <p:spPr>
          <a:xfrm>
            <a:off x="415957" y="2095500"/>
            <a:ext cx="11877675" cy="4928108"/>
          </a:xfrm>
          <a:prstGeom prst="rect">
            <a:avLst/>
          </a:prstGeom>
        </p:spPr>
        <p:txBody>
          <a:bodyPr vert="horz" wrap="square" lIns="0" tIns="15875" rIns="0" bIns="0">
            <a:spAutoFit/>
          </a:bodyPr>
          <a:lstStyle/>
          <a:p>
            <a:pPr marL="266700" indent="-152400" algn="l">
              <a:lnSpc>
                <a:spcPct val="100000"/>
              </a:lnSpc>
              <a:spcAft>
                <a:spcPts val="5"/>
              </a:spcAft>
              <a:buFont typeface="Wingdings"/>
              <a:buChar char="Ø"/>
              <a:defRPr>
                <a:latin typeface="Aptos"/>
                <a:ea typeface="Aptos"/>
                <a:cs typeface="Aptos"/>
              </a:defRPr>
            </a:pPr>
            <a:r>
              <a:rPr sz="1650">
                <a:latin typeface="Aptos"/>
                <a:ea typeface="Aptos"/>
                <a:cs typeface="Aptos"/>
              </a:rPr>
              <a:t>Read–Write–Own web. Give users control over their data and digital identity.</a:t>
            </a:r>
          </a:p>
          <a:p>
            <a:pPr marL="266700" indent="-152400" algn="l">
              <a:lnSpc>
                <a:spcPct val="100000"/>
              </a:lnSpc>
              <a:spcAft>
                <a:spcPts val="5"/>
              </a:spcAft>
              <a:buFont typeface="Wingdings"/>
              <a:buChar char="Ø"/>
              <a:defRPr>
                <a:latin typeface="Aptos"/>
                <a:ea typeface="Aptos"/>
                <a:cs typeface="Aptos"/>
              </a:defRPr>
            </a:pPr>
            <a:r>
              <a:rPr sz="1650">
                <a:latin typeface="Aptos"/>
                <a:ea typeface="Aptos"/>
                <a:cs typeface="Aptos"/>
              </a:rPr>
              <a:t>Features:</a:t>
            </a:r>
          </a:p>
          <a:p>
            <a:pPr marL="533400" lvl="1" indent="-152400" algn="l">
              <a:lnSpc>
                <a:spcPct val="100000"/>
              </a:lnSpc>
              <a:spcAft>
                <a:spcPts val="3"/>
              </a:spcAft>
              <a:buFont typeface="Wingdings"/>
              <a:buChar char="Ø"/>
              <a:defRPr>
                <a:latin typeface="Aptos"/>
                <a:ea typeface="Aptos"/>
                <a:cs typeface="Aptos"/>
              </a:defRPr>
            </a:pPr>
            <a:r>
              <a:rPr sz="1650">
                <a:latin typeface="Aptos"/>
                <a:ea typeface="Aptos"/>
                <a:cs typeface="Aptos"/>
              </a:rPr>
              <a:t>Decentralization: Built on blockchain and peer-to-peer networks.</a:t>
            </a:r>
          </a:p>
          <a:p>
            <a:pPr marL="533400" lvl="1" indent="-152400" algn="l">
              <a:lnSpc>
                <a:spcPct val="100000"/>
              </a:lnSpc>
              <a:spcAft>
                <a:spcPts val="3"/>
              </a:spcAft>
              <a:buFont typeface="Wingdings"/>
              <a:buChar char="Ø"/>
              <a:defRPr>
                <a:latin typeface="Aptos"/>
                <a:ea typeface="Aptos"/>
                <a:cs typeface="Aptos"/>
              </a:defRPr>
            </a:pPr>
            <a:r>
              <a:rPr sz="1650">
                <a:latin typeface="Aptos"/>
                <a:ea typeface="Aptos"/>
                <a:cs typeface="Aptos"/>
              </a:rPr>
              <a:t>Ownership: Users own digital assets (NFTs, tokens).</a:t>
            </a:r>
          </a:p>
          <a:p>
            <a:pPr marL="533400" lvl="1" indent="-152400" algn="l">
              <a:lnSpc>
                <a:spcPct val="100000"/>
              </a:lnSpc>
              <a:spcAft>
                <a:spcPts val="3"/>
              </a:spcAft>
              <a:buFont typeface="Wingdings"/>
              <a:buChar char="Ø"/>
              <a:defRPr>
                <a:latin typeface="Aptos"/>
                <a:ea typeface="Aptos"/>
                <a:cs typeface="Aptos"/>
              </a:defRPr>
            </a:pPr>
            <a:r>
              <a:rPr sz="1650">
                <a:latin typeface="Aptos"/>
                <a:ea typeface="Aptos"/>
                <a:cs typeface="Aptos"/>
              </a:rPr>
              <a:t>Smart contracts: Self-executing agreements without middlemen.</a:t>
            </a:r>
          </a:p>
          <a:p>
            <a:pPr marL="533400" lvl="1" indent="-152400" algn="l">
              <a:lnSpc>
                <a:spcPct val="100000"/>
              </a:lnSpc>
              <a:spcAft>
                <a:spcPts val="3"/>
              </a:spcAft>
              <a:buFont typeface="Wingdings"/>
              <a:buChar char="Ø"/>
              <a:defRPr>
                <a:latin typeface="Aptos"/>
                <a:ea typeface="Aptos"/>
                <a:cs typeface="Aptos"/>
              </a:defRPr>
            </a:pPr>
            <a:r>
              <a:rPr sz="1650">
                <a:latin typeface="Aptos"/>
                <a:ea typeface="Aptos"/>
                <a:cs typeface="Aptos"/>
              </a:rPr>
              <a:t>Semantic web: Machines can "understand" and process data (AI-driven).</a:t>
            </a:r>
          </a:p>
          <a:p>
            <a:pPr marL="533400" lvl="1" indent="-152400" algn="l">
              <a:lnSpc>
                <a:spcPct val="100000"/>
              </a:lnSpc>
              <a:spcAft>
                <a:spcPts val="3"/>
              </a:spcAft>
              <a:buFont typeface="Wingdings"/>
              <a:buChar char="Ø"/>
              <a:defRPr>
                <a:latin typeface="Aptos"/>
                <a:ea typeface="Aptos"/>
                <a:cs typeface="Aptos"/>
              </a:defRPr>
            </a:pPr>
            <a:r>
              <a:rPr sz="1650">
                <a:latin typeface="Aptos"/>
                <a:ea typeface="Aptos"/>
                <a:cs typeface="Aptos"/>
              </a:rPr>
              <a:t>Privacy &amp; security: Less reliance on centralized companies.</a:t>
            </a:r>
          </a:p>
          <a:p>
            <a:pPr marL="457200" indent="-457200">
              <a:lnSpc>
                <a:spcPct val="100000"/>
              </a:lnSpc>
              <a:spcAft>
                <a:spcPts val="0"/>
              </a:spcAft>
              <a:buFont typeface="Wingdings"/>
              <a:buChar char="Ø"/>
              <a:defRPr>
                <a:latin typeface="Aptos"/>
                <a:ea typeface="Aptos"/>
                <a:cs typeface="Aptos"/>
              </a:defRPr>
            </a:pPr>
            <a:endParaRPr sz="2800"/>
          </a:p>
          <a:p>
            <a:pPr marL="266700" indent="-152400" algn="l">
              <a:lnSpc>
                <a:spcPct val="100000"/>
              </a:lnSpc>
              <a:spcAft>
                <a:spcPts val="5"/>
              </a:spcAft>
              <a:buFont typeface="Wingdings"/>
              <a:buChar char="Ø"/>
              <a:defRPr>
                <a:latin typeface="Aptos"/>
                <a:ea typeface="Aptos"/>
                <a:cs typeface="Aptos"/>
              </a:defRPr>
            </a:pPr>
            <a:r>
              <a:rPr sz="1650">
                <a:latin typeface="Aptos"/>
                <a:ea typeface="Aptos"/>
                <a:cs typeface="Aptos"/>
              </a:rPr>
              <a:t>Examples: </a:t>
            </a:r>
          </a:p>
          <a:p>
            <a:pPr marL="533400" lvl="1" indent="-152400" algn="l">
              <a:lnSpc>
                <a:spcPct val="100000"/>
              </a:lnSpc>
              <a:spcAft>
                <a:spcPts val="3"/>
              </a:spcAft>
              <a:buFont typeface="Wingdings"/>
              <a:buChar char="Ø"/>
              <a:defRPr>
                <a:latin typeface="Aptos"/>
                <a:ea typeface="Aptos"/>
                <a:cs typeface="Aptos"/>
              </a:defRPr>
            </a:pPr>
            <a:r>
              <a:rPr sz="1650">
                <a:latin typeface="Aptos"/>
                <a:ea typeface="Aptos"/>
                <a:cs typeface="Aptos"/>
              </a:rPr>
              <a:t>Ethereum, Solana (blockchains).</a:t>
            </a:r>
          </a:p>
          <a:p>
            <a:pPr marL="533400" lvl="1" indent="-152400" algn="l">
              <a:lnSpc>
                <a:spcPct val="100000"/>
              </a:lnSpc>
              <a:spcAft>
                <a:spcPts val="3"/>
              </a:spcAft>
              <a:buFont typeface="Wingdings"/>
              <a:buChar char="Ø"/>
              <a:defRPr>
                <a:latin typeface="Aptos"/>
                <a:ea typeface="Aptos"/>
                <a:cs typeface="Aptos"/>
              </a:defRPr>
            </a:pPr>
            <a:r>
              <a:rPr sz="1650">
                <a:latin typeface="Aptos"/>
                <a:ea typeface="Aptos"/>
                <a:cs typeface="Aptos"/>
              </a:rPr>
              <a:t>Decentralized apps (dApps).</a:t>
            </a:r>
          </a:p>
          <a:p>
            <a:pPr marL="533400" lvl="1" indent="-152400" algn="l">
              <a:lnSpc>
                <a:spcPct val="100000"/>
              </a:lnSpc>
              <a:spcAft>
                <a:spcPts val="3"/>
              </a:spcAft>
              <a:buFont typeface="Wingdings"/>
              <a:buChar char="Ø"/>
              <a:defRPr>
                <a:latin typeface="Aptos"/>
                <a:ea typeface="Aptos"/>
                <a:cs typeface="Aptos"/>
              </a:defRPr>
            </a:pPr>
            <a:r>
              <a:rPr sz="1650">
                <a:latin typeface="Aptos"/>
                <a:ea typeface="Aptos"/>
                <a:cs typeface="Aptos"/>
              </a:rPr>
              <a:t>Metaverse platforms (Decentraland, Sandbox).</a:t>
            </a:r>
          </a:p>
          <a:p>
            <a:pPr marL="533400" lvl="1" indent="-152400" algn="l">
              <a:lnSpc>
                <a:spcPct val="100000"/>
              </a:lnSpc>
              <a:spcAft>
                <a:spcPts val="3"/>
              </a:spcAft>
              <a:buFont typeface="Wingdings"/>
              <a:buChar char="Ø"/>
              <a:defRPr>
                <a:latin typeface="Aptos"/>
                <a:ea typeface="Aptos"/>
                <a:cs typeface="Aptos"/>
              </a:defRPr>
            </a:pPr>
            <a:r>
              <a:rPr sz="1650">
                <a:latin typeface="Aptos"/>
                <a:ea typeface="Aptos"/>
                <a:cs typeface="Aptos"/>
              </a:rPr>
              <a:t>Crypto wallets (MetaMask).</a:t>
            </a:r>
          </a:p>
        </p:txBody>
      </p:sp>
      <p:sp>
        <p:nvSpPr>
          <p:cNvPr id="3" name="Text Placeholder 2">
            <a:extLst>
              <a:ext uri="{FF2B5EF4-FFF2-40B4-BE49-F238E27FC236}">
                <a16:creationId xmlns:a16="http://schemas.microsoft.com/office/drawing/2014/main" id="{F63942E5-7A9C-A77F-F367-82972781090D}"/>
              </a:ext>
            </a:extLst>
          </p:cNvPr>
          <p:cNvSpPr>
            <a:spLocks noGrp="1"/>
          </p:cNvSpPr>
          <p:nvPr/>
        </p:nvSpPr>
        <p:spPr>
          <a:xfrm>
            <a:off x="415924" y="1244141"/>
            <a:ext cx="9191625" cy="423193"/>
          </a:xfrm>
          <a:prstGeom prst="rect">
            <a:avLst/>
          </a:prstGeom>
        </p:spPr>
        <p:txBody>
          <a:bodyPr vert="horz" lIns="91440" tIns="45720" rIns="91440" bIns="45720">
            <a:noAutofit/>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l">
              <a:buNone/>
              <a:defRPr>
                <a:latin typeface="Aptos"/>
                <a:ea typeface="Aptos"/>
                <a:cs typeface="Aptos"/>
              </a:defRPr>
            </a:pPr>
            <a:r>
              <a:rPr b="1">
                <a:latin typeface="Aptos"/>
                <a:ea typeface="Aptos"/>
                <a:cs typeface="Aptos"/>
              </a:rPr>
              <a:t>Web 3.0 (The Decentralized / Semantic Web) – ~2015+</a:t>
            </a:r>
          </a:p>
        </p:txBody>
      </p:sp>
      <p:sp>
        <p:nvSpPr>
          <p:cNvPr id="4" name="TextBox 3">
            <a:extLst>
              <a:ext uri="{FF2B5EF4-FFF2-40B4-BE49-F238E27FC236}">
                <a16:creationId xmlns:a16="http://schemas.microsoft.com/office/drawing/2014/main" id="{D286D2FB-0D66-7E38-3DF8-84F6C4A31C7A}"/>
              </a:ext>
            </a:extLst>
          </p:cNvPr>
          <p:cNvSpPr>
            <a:spLocks noGrp="1"/>
          </p:cNvSpPr>
          <p:nvPr/>
        </p:nvSpPr>
        <p:spPr>
          <a:xfrm>
            <a:off x="8035721" y="5002190"/>
            <a:ext cx="4648200" cy="923330"/>
          </a:xfrm>
          <a:prstGeom prst="rect">
            <a:avLst/>
          </a:prstGeom>
          <a:noFill/>
        </p:spPr>
        <p:txBody>
          <a:bodyPr wrap="square">
            <a:spAutoFit/>
          </a:bodyPr>
          <a:lstStyle/>
          <a:p>
            <a:pPr>
              <a:buNone/>
              <a:defRPr>
                <a:latin typeface="Aptos"/>
                <a:ea typeface="Aptos"/>
                <a:cs typeface="Aptos"/>
              </a:defRPr>
            </a:pPr>
            <a:r>
              <a:rPr sz="5400">
                <a:latin typeface="Aptos"/>
                <a:ea typeface="Aptos"/>
                <a:cs typeface="Aptos"/>
              </a:rPr>
              <a:t>Web 4.0 = ?</a:t>
            </a:r>
          </a:p>
        </p:txBody>
      </p:sp>
    </p:spTree>
    <p:extLst>
      <p:ext uri="{BB962C8B-B14F-4D97-AF65-F5344CB8AC3E}">
        <p14:creationId xmlns:p14="http://schemas.microsoft.com/office/powerpoint/2010/main" val="16382756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 name="Rectangle 226">
            <a:extLst>
              <a:ext uri="{FF2B5EF4-FFF2-40B4-BE49-F238E27FC236}">
                <a16:creationId xmlns:a16="http://schemas.microsoft.com/office/drawing/2014/main" id="{0EC704EF-2CCF-30C8-7E9A-DC9580166139}"/>
              </a:ext>
            </a:extLst>
          </p:cNvPr>
          <p:cNvSpPr>
            <a:spLocks noGrp="1"/>
          </p:cNvSpPr>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2" name="Title 1">
            <a:extLst>
              <a:ext uri="{FF2B5EF4-FFF2-40B4-BE49-F238E27FC236}">
                <a16:creationId xmlns:a16="http://schemas.microsoft.com/office/drawing/2014/main" id="{F52E0A71-FA1E-9DC0-AE3B-E9A65E2CA77F}"/>
              </a:ext>
            </a:extLst>
          </p:cNvPr>
          <p:cNvSpPr>
            <a:spLocks noGrp="1"/>
          </p:cNvSpPr>
          <p:nvPr>
            <p:ph type="title"/>
          </p:nvPr>
        </p:nvSpPr>
        <p:spPr>
          <a:xfrm>
            <a:off x="1215865" y="2432109"/>
            <a:ext cx="9302496" cy="2193482"/>
          </a:xfrm>
        </p:spPr>
        <p:txBody>
          <a:bodyPr vert="horz" lIns="91440" tIns="45720" rIns="91440" bIns="45720" anchor="ctr">
            <a:normAutofit/>
          </a:bodyPr>
          <a:lstStyle/>
          <a:p>
            <a:pPr algn="ctr">
              <a:buNone/>
              <a:defRPr>
                <a:latin typeface="Aptos Display"/>
                <a:ea typeface="Aptos Display"/>
                <a:cs typeface="Aptos Display"/>
              </a:defRPr>
            </a:pPr>
            <a:r>
              <a:rPr sz="8800">
                <a:solidFill>
                  <a:schemeClr val="bg1"/>
                </a:solidFill>
                <a:latin typeface="Aptos Display"/>
                <a:ea typeface="Aptos Display"/>
                <a:cs typeface="Aptos Display"/>
              </a:rPr>
              <a:t>HTTP</a:t>
            </a:r>
          </a:p>
        </p:txBody>
      </p:sp>
      <p:sp>
        <p:nvSpPr>
          <p:cNvPr id="228" name="Rectangle 227">
            <a:extLst>
              <a:ext uri="{FF2B5EF4-FFF2-40B4-BE49-F238E27FC236}">
                <a16:creationId xmlns:a16="http://schemas.microsoft.com/office/drawing/2014/main" id="{B847F286-45FE-2774-B3E9-F15DC032BA40}"/>
              </a:ext>
            </a:extLst>
          </p:cNvPr>
          <p:cNvSpPr>
            <a:spLocks noGrp="1"/>
          </p:cNvSpPr>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9" name="Straight Connector 228">
            <a:extLst>
              <a:ext uri="{FF2B5EF4-FFF2-40B4-BE49-F238E27FC236}">
                <a16:creationId xmlns:a16="http://schemas.microsoft.com/office/drawing/2014/main" id="{BBB04F05-FA2D-4A88-8B1B-AB9F0FA9A470}"/>
              </a:ext>
            </a:extLst>
          </p:cNvPr>
          <p:cNvSpPr>
            <a:spLocks noGrp="1"/>
          </p:cNvSpPr>
          <p:nvPr/>
        </p:nv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
        <p:nvSpPr>
          <p:cNvPr id="230" name="Straight Connector 229">
            <a:extLst>
              <a:ext uri="{FF2B5EF4-FFF2-40B4-BE49-F238E27FC236}">
                <a16:creationId xmlns:a16="http://schemas.microsoft.com/office/drawing/2014/main" id="{0530D4CB-1973-469B-8E53-C2F20FC60D4D}"/>
              </a:ext>
            </a:extLst>
          </p:cNvPr>
          <p:cNvSpPr>
            <a:spLocks noGrp="1"/>
          </p:cNvSpPr>
          <p:nvPr/>
        </p:nv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Tree>
    <p:extLst>
      <p:ext uri="{BB962C8B-B14F-4D97-AF65-F5344CB8AC3E}">
        <p14:creationId xmlns:p14="http://schemas.microsoft.com/office/powerpoint/2010/main" val="5819570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CDA4A-CC0F-74EA-D0E2-BE6F0F0DA852}"/>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HTTP</a:t>
            </a:r>
          </a:p>
        </p:txBody>
      </p:sp>
      <p:pic>
        <p:nvPicPr>
          <p:cNvPr id="19" name="object 3"/>
          <p:cNvPicPr>
            <a:picLocks noChangeAspect="1"/>
          </p:cNvPicPr>
          <p:nvPr/>
        </p:nvPicPr>
        <p:blipFill>
          <a:blip r:embed="rId3"/>
          <a:stretch>
            <a:fillRect/>
          </a:stretch>
        </p:blipFill>
        <p:spPr>
          <a:xfrm>
            <a:off x="6794916" y="3129762"/>
            <a:ext cx="5085826" cy="2860767"/>
          </a:xfrm>
          <a:prstGeom prst="rect">
            <a:avLst/>
          </a:prstGeom>
        </p:spPr>
      </p:pic>
      <p:sp>
        <p:nvSpPr>
          <p:cNvPr id="10" name="TextBox 9">
            <a:extLst>
              <a:ext uri="{FF2B5EF4-FFF2-40B4-BE49-F238E27FC236}">
                <a16:creationId xmlns:a16="http://schemas.microsoft.com/office/drawing/2014/main" id="{6981BEA4-2258-EFFC-D954-E4F92E4C470D}"/>
              </a:ext>
            </a:extLst>
          </p:cNvPr>
          <p:cNvSpPr>
            <a:spLocks noGrp="1"/>
          </p:cNvSpPr>
          <p:nvPr/>
        </p:nvSpPr>
        <p:spPr>
          <a:xfrm>
            <a:off x="5770534" y="6067601"/>
            <a:ext cx="6363511" cy="640080"/>
          </a:xfrm>
          <a:prstGeom prst="rect">
            <a:avLst/>
          </a:prstGeom>
          <a:noFill/>
        </p:spPr>
        <p:txBody>
          <a:bodyPr wrap="square">
            <a:spAutoFit/>
          </a:bodyPr>
          <a:lstStyle/>
          <a:p>
            <a:pPr algn="l">
              <a:buNone/>
              <a:defRPr>
                <a:latin typeface="Aptos"/>
                <a:ea typeface="Aptos"/>
                <a:cs typeface="Aptos"/>
              </a:defRPr>
            </a:pPr>
            <a:r>
              <a:rPr>
                <a:solidFill>
                  <a:schemeClr val="tx2"/>
                </a:solidFill>
                <a:latin typeface="Aptos"/>
                <a:ea typeface="Aptos"/>
                <a:cs typeface="Aptos"/>
              </a:rPr>
              <a:t>https://developer.mozilla.org/en-US/docs/Web/HTTP/Overview</a:t>
            </a:r>
          </a:p>
        </p:txBody>
      </p:sp>
      <p:sp>
        <p:nvSpPr>
          <p:cNvPr id="12" name="TextBox 11">
            <a:extLst>
              <a:ext uri="{FF2B5EF4-FFF2-40B4-BE49-F238E27FC236}">
                <a16:creationId xmlns:a16="http://schemas.microsoft.com/office/drawing/2014/main" id="{23B4AE9F-4148-DA01-2BEB-F8F582757C36}"/>
              </a:ext>
            </a:extLst>
          </p:cNvPr>
          <p:cNvSpPr>
            <a:spLocks noGrp="1"/>
          </p:cNvSpPr>
          <p:nvPr/>
        </p:nvSpPr>
        <p:spPr>
          <a:xfrm>
            <a:off x="425450" y="1258790"/>
            <a:ext cx="11125200" cy="1569660"/>
          </a:xfrm>
          <a:prstGeom prst="rect">
            <a:avLst/>
          </a:prstGeom>
          <a:noFill/>
        </p:spPr>
        <p:txBody>
          <a:bodyPr wrap="square">
            <a:spAutoFit/>
          </a:bodyPr>
          <a:lstStyle/>
          <a:p>
            <a:pPr algn="l">
              <a:buNone/>
              <a:defRPr>
                <a:latin typeface="Aptos"/>
                <a:ea typeface="Aptos"/>
                <a:cs typeface="Aptos"/>
              </a:defRPr>
            </a:pPr>
            <a:r>
              <a:rPr sz="2400">
                <a:latin typeface="Aptos"/>
                <a:ea typeface="Aptos"/>
                <a:cs typeface="Aptos"/>
              </a:rPr>
              <a:t>HTTP stands for Hypertext Transfer Protocol.</a:t>
            </a:r>
          </a:p>
          <a:p>
            <a:pPr>
              <a:buNone/>
              <a:defRPr>
                <a:latin typeface="Aptos"/>
                <a:ea typeface="Aptos"/>
                <a:cs typeface="Aptos"/>
              </a:defRPr>
            </a:pPr>
            <a:endParaRPr sz="2400"/>
          </a:p>
          <a:p>
            <a:pPr algn="l">
              <a:buNone/>
              <a:defRPr>
                <a:latin typeface="Aptos"/>
                <a:ea typeface="Aptos"/>
                <a:cs typeface="Aptos"/>
              </a:defRPr>
            </a:pPr>
            <a:r>
              <a:rPr sz="2400">
                <a:latin typeface="Aptos"/>
                <a:ea typeface="Aptos"/>
                <a:cs typeface="Aptos"/>
              </a:rPr>
              <a:t>It is a communication standard that allows web browsers and servers to exchange information over the internet.</a:t>
            </a:r>
          </a:p>
        </p:txBody>
      </p:sp>
      <p:sp>
        <p:nvSpPr>
          <p:cNvPr id="16" name="object 4">
            <a:extLst>
              <a:ext uri="{FF2B5EF4-FFF2-40B4-BE49-F238E27FC236}">
                <a16:creationId xmlns:a16="http://schemas.microsoft.com/office/drawing/2014/main" id="{D2D4B0C3-1B18-7D7F-4F56-7C3A1CFD2AAD}"/>
              </a:ext>
            </a:extLst>
          </p:cNvPr>
          <p:cNvSpPr>
            <a:spLocks noGrp="1"/>
          </p:cNvSpPr>
          <p:nvPr/>
        </p:nvSpPr>
        <p:spPr>
          <a:xfrm>
            <a:off x="606982" y="2202313"/>
            <a:ext cx="6140309" cy="4234620"/>
          </a:xfrm>
          <a:prstGeom prst="rect">
            <a:avLst/>
          </a:prstGeom>
        </p:spPr>
        <p:txBody>
          <a:bodyPr vert="horz" wrap="square" lIns="0" tIns="52069" rIns="0" bIns="0">
            <a:spAutoFit/>
          </a:bodyPr>
          <a:lstStyle/>
          <a:p>
            <a:pPr marL="12700" marR="885190">
              <a:lnSpc>
                <a:spcPts val="3080"/>
              </a:lnSpc>
              <a:spcBef>
                <a:spcPts val="409"/>
              </a:spcBef>
              <a:buNone/>
              <a:defRPr>
                <a:latin typeface="Aptos"/>
                <a:ea typeface="Aptos"/>
                <a:cs typeface="Aptos"/>
              </a:defRPr>
            </a:pPr>
            <a:endParaRPr sz="2800" b="1" spc="-30">
              <a:latin typeface="Aptos (Body)"/>
              <a:ea typeface="Aptos (Body)"/>
              <a:cs typeface="Aptos (Body)"/>
            </a:endParaRPr>
          </a:p>
          <a:p>
            <a:pPr marL="12700" marR="885190">
              <a:lnSpc>
                <a:spcPts val="3080"/>
              </a:lnSpc>
              <a:spcBef>
                <a:spcPts val="409"/>
              </a:spcBef>
              <a:buNone/>
              <a:defRPr>
                <a:latin typeface="Aptos"/>
                <a:ea typeface="Aptos"/>
                <a:cs typeface="Aptos"/>
              </a:defRPr>
            </a:pPr>
            <a:endParaRPr sz="2800" b="1" spc="-30">
              <a:latin typeface="Aptos (Body)"/>
              <a:ea typeface="Aptos (Body)"/>
              <a:cs typeface="Aptos (Body)"/>
            </a:endParaRPr>
          </a:p>
          <a:p>
            <a:pPr marL="12700" marR="885190" algn="l">
              <a:lnSpc>
                <a:spcPts val="3080"/>
              </a:lnSpc>
              <a:spcBef>
                <a:spcPts val="409"/>
              </a:spcBef>
              <a:buNone/>
              <a:defRPr>
                <a:latin typeface="Aptos"/>
                <a:ea typeface="Aptos"/>
                <a:cs typeface="Aptos"/>
              </a:defRPr>
            </a:pPr>
            <a:r>
              <a:rPr sz="2800" b="1">
                <a:latin typeface="Aptos"/>
                <a:ea typeface="Aptos"/>
                <a:cs typeface="Aptos"/>
              </a:rPr>
              <a:t>Loading a page: </a:t>
            </a:r>
            <a:r>
              <a:rPr sz="2800">
                <a:latin typeface="Aptos"/>
                <a:ea typeface="Aptos"/>
                <a:cs typeface="Aptos"/>
              </a:rPr>
              <a:t>loading resources</a:t>
            </a:r>
          </a:p>
          <a:p>
            <a:pPr marL="12700" algn="l">
              <a:lnSpc>
                <a:spcPct val="100000"/>
              </a:lnSpc>
              <a:spcBef>
                <a:spcPts val="615"/>
              </a:spcBef>
              <a:buNone/>
              <a:defRPr>
                <a:latin typeface="Aptos"/>
                <a:ea typeface="Aptos"/>
                <a:cs typeface="Aptos"/>
              </a:defRPr>
            </a:pPr>
            <a:r>
              <a:rPr sz="2800">
                <a:latin typeface="Aptos"/>
                <a:ea typeface="Aptos"/>
                <a:cs typeface="Aptos"/>
              </a:rPr>
              <a:t>Client-Server protocol</a:t>
            </a:r>
            <a:endParaRPr sz="2800">
              <a:latin typeface="Aptos (Body)"/>
              <a:ea typeface="Aptos (Body)"/>
              <a:cs typeface="Aptos (Body)"/>
            </a:endParaRPr>
          </a:p>
          <a:p>
            <a:pPr marL="12700">
              <a:lnSpc>
                <a:spcPct val="100000"/>
              </a:lnSpc>
              <a:spcBef>
                <a:spcPts val="615"/>
              </a:spcBef>
              <a:buNone/>
              <a:defRPr>
                <a:latin typeface="Aptos"/>
                <a:ea typeface="Aptos"/>
                <a:cs typeface="Aptos"/>
              </a:defRPr>
            </a:pPr>
            <a:endParaRPr sz="2800">
              <a:latin typeface="Aptos (Body)"/>
              <a:ea typeface="Aptos (Body)"/>
              <a:cs typeface="Aptos (Body)"/>
            </a:endParaRPr>
          </a:p>
          <a:p>
            <a:pPr marL="12700" marR="5080" algn="l">
              <a:lnSpc>
                <a:spcPct val="120600"/>
              </a:lnSpc>
              <a:buNone/>
              <a:defRPr>
                <a:latin typeface="Aptos"/>
                <a:ea typeface="Aptos"/>
                <a:cs typeface="Aptos"/>
              </a:defRPr>
            </a:pPr>
            <a:r>
              <a:rPr sz="2800" b="1">
                <a:latin typeface="Aptos"/>
                <a:ea typeface="Aptos"/>
                <a:cs typeface="Aptos"/>
              </a:rPr>
              <a:t>HyperText Transfer Protocol </a:t>
            </a:r>
            <a:endParaRPr sz="2800" b="1">
              <a:latin typeface="Aptos (Body)"/>
              <a:ea typeface="Aptos (Body)"/>
              <a:cs typeface="Aptos (Body)"/>
            </a:endParaRPr>
          </a:p>
          <a:p>
            <a:pPr marL="12700" marR="5080" algn="l">
              <a:lnSpc>
                <a:spcPct val="120600"/>
              </a:lnSpc>
              <a:buNone/>
              <a:defRPr>
                <a:latin typeface="Aptos"/>
                <a:ea typeface="Aptos"/>
                <a:cs typeface="Aptos"/>
              </a:defRPr>
            </a:pPr>
            <a:r>
              <a:rPr sz="2800" b="1">
                <a:latin typeface="Aptos"/>
                <a:ea typeface="Aptos"/>
                <a:cs typeface="Aptos"/>
              </a:rPr>
              <a:t>HyperText: </a:t>
            </a:r>
            <a:r>
              <a:rPr sz="2800">
                <a:latin typeface="Aptos"/>
                <a:ea typeface="Aptos"/>
                <a:cs typeface="Aptos"/>
              </a:rPr>
              <a:t>text with links</a:t>
            </a:r>
          </a:p>
          <a:p>
            <a:pPr marL="12700" algn="l">
              <a:lnSpc>
                <a:spcPct val="100000"/>
              </a:lnSpc>
              <a:buNone/>
              <a:defRPr>
                <a:latin typeface="Aptos"/>
                <a:ea typeface="Aptos"/>
                <a:cs typeface="Aptos"/>
              </a:defRPr>
            </a:pPr>
            <a:r>
              <a:rPr sz="2800">
                <a:latin typeface="Aptos"/>
                <a:ea typeface="Aptos"/>
                <a:cs typeface="Aptos"/>
              </a:rPr>
              <a:t>TCP over port 80</a:t>
            </a:r>
          </a:p>
        </p:txBody>
      </p:sp>
    </p:spTree>
    <p:extLst>
      <p:ext uri="{BB962C8B-B14F-4D97-AF65-F5344CB8AC3E}">
        <p14:creationId xmlns:p14="http://schemas.microsoft.com/office/powerpoint/2010/main" val="9256342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ABD8F-A87D-4396-18E1-BD5F7BEC7D48}"/>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HTTPS (Hypertext Transfer Protocol Secure)</a:t>
            </a:r>
          </a:p>
        </p:txBody>
      </p:sp>
      <p:sp>
        <p:nvSpPr>
          <p:cNvPr id="3" name="Text Placeholder 2">
            <a:extLst>
              <a:ext uri="{FF2B5EF4-FFF2-40B4-BE49-F238E27FC236}">
                <a16:creationId xmlns:a16="http://schemas.microsoft.com/office/drawing/2014/main" id="{40E7EACE-5C8B-A15A-B389-D3A0760A6564}"/>
              </a:ext>
            </a:extLst>
          </p:cNvPr>
          <p:cNvSpPr>
            <a:spLocks noGrp="1"/>
          </p:cNvSpPr>
          <p:nvPr/>
        </p:nvSpPr>
        <p:spPr>
          <a:xfrm>
            <a:off x="463550" y="1294199"/>
            <a:ext cx="11049000" cy="2539157"/>
          </a:xfrm>
          <a:prstGeom prst="rect">
            <a:avLst/>
          </a:prstGeom>
        </p:spPr>
        <p:txBody>
          <a:bodyPr vert="horz" lIns="91440" tIns="45720" rIns="91440" bIns="45720">
            <a:normAutofit fontScale="87201"/>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algn="l">
              <a:buNone/>
              <a:defRPr>
                <a:latin typeface="Aptos"/>
                <a:ea typeface="Aptos"/>
                <a:cs typeface="Aptos"/>
              </a:defRPr>
            </a:pPr>
            <a:r>
              <a:t>Secure version of HTTP that encrypts communication between browser and server.</a:t>
            </a:r>
          </a:p>
          <a:p>
            <a:pPr algn="l">
              <a:buNone/>
              <a:defRPr>
                <a:latin typeface="Aptos"/>
                <a:ea typeface="Aptos"/>
                <a:cs typeface="Aptos"/>
              </a:defRPr>
            </a:pPr>
            <a:r>
              <a:t>Uses TLS/SSL to provide encryption, authentication, and integrity.</a:t>
            </a:r>
          </a:p>
          <a:p>
            <a:pPr algn="l">
              <a:buNone/>
              <a:defRPr>
                <a:latin typeface="Aptos"/>
                <a:ea typeface="Aptos"/>
                <a:cs typeface="Aptos"/>
              </a:defRPr>
            </a:pPr>
            <a:r>
              <a:t>Establishes a handshake before data exchange. </a:t>
            </a:r>
          </a:p>
          <a:p>
            <a:pPr algn="l">
              <a:buNone/>
              <a:defRPr>
                <a:latin typeface="Aptos"/>
                <a:ea typeface="Aptos"/>
                <a:cs typeface="Aptos"/>
              </a:defRPr>
            </a:pPr>
            <a:r>
              <a:t>Default standard for modern websites.</a:t>
            </a:r>
          </a:p>
          <a:p>
            <a:pPr algn="l">
              <a:buNone/>
              <a:defRPr>
                <a:latin typeface="Aptos"/>
                <a:ea typeface="Aptos"/>
                <a:cs typeface="Aptos"/>
              </a:defRPr>
            </a:pPr>
            <a:r>
              <a:t>Required for many browser features (e.g., HTTP/2, geolocation APIs).</a:t>
            </a:r>
          </a:p>
        </p:txBody>
      </p:sp>
      <p:pic>
        <p:nvPicPr>
          <p:cNvPr id="11" name="Picture 4"/>
          <p:cNvPicPr>
            <a:picLocks noChangeAspect="1"/>
          </p:cNvPicPr>
          <p:nvPr/>
        </p:nvPicPr>
        <p:blipFill>
          <a:blip r:embed="rId3"/>
          <a:srcRect b="39906"/>
          <a:stretch>
            <a:fillRect/>
          </a:stretch>
        </p:blipFill>
        <p:spPr>
          <a:xfrm>
            <a:off x="2777901" y="4549563"/>
            <a:ext cx="6538407" cy="1755972"/>
          </a:xfrm>
          <a:prstGeom prst="rect">
            <a:avLst/>
          </a:prstGeom>
        </p:spPr>
      </p:pic>
    </p:spTree>
    <p:extLst>
      <p:ext uri="{BB962C8B-B14F-4D97-AF65-F5344CB8AC3E}">
        <p14:creationId xmlns:p14="http://schemas.microsoft.com/office/powerpoint/2010/main" val="7085056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B59B6-5F84-B416-A161-1BAAEA74C70F}"/>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380">
                <a:latin typeface="Aptos Display"/>
                <a:ea typeface="Aptos Display"/>
                <a:cs typeface="Aptos Display"/>
              </a:rPr>
              <a:t>HTTP</a:t>
            </a:r>
            <a:endParaRPr/>
          </a:p>
        </p:txBody>
      </p:sp>
      <p:sp>
        <p:nvSpPr>
          <p:cNvPr id="6" name="object 3">
            <a:extLst>
              <a:ext uri="{FF2B5EF4-FFF2-40B4-BE49-F238E27FC236}">
                <a16:creationId xmlns:a16="http://schemas.microsoft.com/office/drawing/2014/main" id="{490A9A79-4A12-9280-C986-67E4580CF246}"/>
              </a:ext>
            </a:extLst>
          </p:cNvPr>
          <p:cNvSpPr>
            <a:spLocks noGrp="1"/>
          </p:cNvSpPr>
          <p:nvPr/>
        </p:nvSpPr>
        <p:spPr>
          <a:xfrm>
            <a:off x="914400" y="1257300"/>
            <a:ext cx="10096500" cy="590550"/>
          </a:xfrm>
          <a:prstGeom prst="rect">
            <a:avLst/>
          </a:prstGeom>
        </p:spPr>
        <p:txBody>
          <a:bodyPr vert="horz" wrap="square" lIns="0" tIns="15875" rIns="0" bIns="0">
            <a:spAutoFit/>
          </a:bodyPr>
          <a:lstStyle/>
          <a:p>
            <a:pPr marL="12700" algn="l">
              <a:lnSpc>
                <a:spcPct val="100000"/>
              </a:lnSpc>
              <a:spcBef>
                <a:spcPts val="125"/>
              </a:spcBef>
              <a:buNone/>
              <a:defRPr>
                <a:latin typeface="Aptos"/>
                <a:ea typeface="Aptos"/>
                <a:cs typeface="Aptos"/>
              </a:defRPr>
            </a:pPr>
            <a:r>
              <a:rPr sz="1725">
                <a:latin typeface="Aptos"/>
                <a:ea typeface="Aptos"/>
                <a:cs typeface="Aptos"/>
              </a:rPr>
              <a:t>The</a:t>
            </a:r>
            <a:r>
              <a:rPr sz="1725" spc="20">
                <a:latin typeface="Aptos"/>
                <a:ea typeface="Aptos"/>
                <a:cs typeface="Aptos"/>
              </a:rPr>
              <a:t> </a:t>
            </a:r>
            <a:r>
              <a:rPr sz="1725">
                <a:latin typeface="Aptos"/>
                <a:ea typeface="Aptos"/>
                <a:cs typeface="Aptos"/>
              </a:rPr>
              <a:t>web</a:t>
            </a:r>
            <a:r>
              <a:rPr sz="1725" spc="-55">
                <a:latin typeface="Aptos"/>
                <a:ea typeface="Aptos"/>
                <a:cs typeface="Aptos"/>
              </a:rPr>
              <a:t> </a:t>
            </a:r>
            <a:r>
              <a:rPr sz="1725" spc="-50">
                <a:latin typeface="Aptos"/>
                <a:ea typeface="Aptos"/>
                <a:cs typeface="Aptos"/>
              </a:rPr>
              <a:t>consists</a:t>
            </a:r>
            <a:r>
              <a:rPr sz="1725" spc="85">
                <a:latin typeface="Aptos"/>
                <a:ea typeface="Aptos"/>
                <a:cs typeface="Aptos"/>
              </a:rPr>
              <a:t> </a:t>
            </a:r>
            <a:r>
              <a:rPr sz="1725">
                <a:latin typeface="Aptos"/>
                <a:ea typeface="Aptos"/>
                <a:cs typeface="Aptos"/>
              </a:rPr>
              <a:t>in</a:t>
            </a:r>
            <a:r>
              <a:rPr sz="1725" spc="-40">
                <a:latin typeface="Aptos"/>
                <a:ea typeface="Aptos"/>
                <a:cs typeface="Aptos"/>
              </a:rPr>
              <a:t> </a:t>
            </a:r>
            <a:r>
              <a:rPr sz="1725" spc="-65">
                <a:latin typeface="Aptos"/>
                <a:ea typeface="Aptos"/>
                <a:cs typeface="Aptos"/>
              </a:rPr>
              <a:t>several</a:t>
            </a:r>
            <a:r>
              <a:rPr sz="1725" spc="40">
                <a:latin typeface="Aptos"/>
                <a:ea typeface="Aptos"/>
                <a:cs typeface="Aptos"/>
              </a:rPr>
              <a:t> </a:t>
            </a:r>
            <a:r>
              <a:rPr sz="1725" spc="-35">
                <a:latin typeface="Aptos"/>
                <a:ea typeface="Aptos"/>
                <a:cs typeface="Aptos"/>
              </a:rPr>
              <a:t>layer</a:t>
            </a:r>
            <a:r>
              <a:rPr sz="1725" spc="15">
                <a:latin typeface="Aptos"/>
                <a:ea typeface="Aptos"/>
                <a:cs typeface="Aptos"/>
              </a:rPr>
              <a:t> </a:t>
            </a:r>
            <a:r>
              <a:rPr sz="1725">
                <a:latin typeface="Aptos"/>
                <a:ea typeface="Aptos"/>
                <a:cs typeface="Aptos"/>
              </a:rPr>
              <a:t>of</a:t>
            </a:r>
            <a:r>
              <a:rPr sz="1725" spc="-15">
                <a:latin typeface="Aptos"/>
                <a:ea typeface="Aptos"/>
                <a:cs typeface="Aptos"/>
              </a:rPr>
              <a:t> </a:t>
            </a:r>
            <a:r>
              <a:rPr sz="1725" spc="-60">
                <a:latin typeface="Aptos"/>
                <a:ea typeface="Aptos"/>
                <a:cs typeface="Aptos"/>
              </a:rPr>
              <a:t>communications</a:t>
            </a:r>
            <a:endParaRPr sz="2800">
              <a:latin typeface="Aptos (Body)"/>
              <a:ea typeface="Aptos (Body)"/>
              <a:cs typeface="Aptos (Body)"/>
            </a:endParaRPr>
          </a:p>
        </p:txBody>
      </p:sp>
      <p:sp>
        <p:nvSpPr>
          <p:cNvPr id="11" name="TextBox 10">
            <a:extLst>
              <a:ext uri="{FF2B5EF4-FFF2-40B4-BE49-F238E27FC236}">
                <a16:creationId xmlns:a16="http://schemas.microsoft.com/office/drawing/2014/main" id="{E35D7673-0067-9E5A-EDFB-F94FDFFDF765}"/>
              </a:ext>
            </a:extLst>
          </p:cNvPr>
          <p:cNvSpPr>
            <a:spLocks noGrp="1"/>
          </p:cNvSpPr>
          <p:nvPr/>
        </p:nvSpPr>
        <p:spPr>
          <a:xfrm>
            <a:off x="7934325" y="6450489"/>
            <a:ext cx="3807305" cy="246221"/>
          </a:xfrm>
          <a:prstGeom prst="rect">
            <a:avLst/>
          </a:prstGeom>
          <a:noFill/>
        </p:spPr>
        <p:txBody>
          <a:bodyPr wrap="square">
            <a:spAutoFit/>
          </a:bodyPr>
          <a:lstStyle/>
          <a:p>
            <a:pPr>
              <a:buNone/>
              <a:defRPr>
                <a:latin typeface="Aptos"/>
                <a:ea typeface="Aptos"/>
                <a:cs typeface="Aptos"/>
              </a:defRPr>
            </a:pPr>
            <a:r>
              <a:rPr sz="1000">
                <a:solidFill>
                  <a:schemeClr val="tx2"/>
                </a:solidFill>
                <a:latin typeface="Aptos"/>
                <a:ea typeface="Aptos"/>
                <a:cs typeface="Aptos"/>
              </a:rPr>
              <a:t>https://developer.mozilla.org/en-US/docs/Web/HTTP/Overview</a:t>
            </a:r>
          </a:p>
        </p:txBody>
      </p:sp>
      <p:pic>
        <p:nvPicPr>
          <p:cNvPr id="16" name="Picture 12"/>
          <p:cNvPicPr>
            <a:picLocks noChangeAspect="1"/>
          </p:cNvPicPr>
          <p:nvPr/>
        </p:nvPicPr>
        <p:blipFill>
          <a:blip r:embed="rId3"/>
          <a:stretch>
            <a:fillRect/>
          </a:stretch>
        </p:blipFill>
        <p:spPr>
          <a:xfrm>
            <a:off x="1858232" y="1920203"/>
            <a:ext cx="7073043" cy="4164021"/>
          </a:xfrm>
          <a:prstGeom prst="rect">
            <a:avLst/>
          </a:prstGeom>
        </p:spPr>
      </p:pic>
    </p:spTree>
    <p:extLst>
      <p:ext uri="{BB962C8B-B14F-4D97-AF65-F5344CB8AC3E}">
        <p14:creationId xmlns:p14="http://schemas.microsoft.com/office/powerpoint/2010/main" val="1970295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190A5-262A-E8C2-ACA9-B1506D53DBE8}"/>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380">
                <a:latin typeface="Aptos Display"/>
                <a:ea typeface="Aptos Display"/>
                <a:cs typeface="Aptos Display"/>
              </a:rPr>
              <a:t>HTTP</a:t>
            </a:r>
            <a:endParaRPr/>
          </a:p>
        </p:txBody>
      </p:sp>
      <p:sp>
        <p:nvSpPr>
          <p:cNvPr id="6" name="object 3">
            <a:extLst>
              <a:ext uri="{FF2B5EF4-FFF2-40B4-BE49-F238E27FC236}">
                <a16:creationId xmlns:a16="http://schemas.microsoft.com/office/drawing/2014/main" id="{0E7F3E09-43FC-3F10-AE14-CB5E1F71CA9F}"/>
              </a:ext>
            </a:extLst>
          </p:cNvPr>
          <p:cNvSpPr>
            <a:spLocks noGrp="1"/>
          </p:cNvSpPr>
          <p:nvPr/>
        </p:nvSpPr>
        <p:spPr>
          <a:xfrm>
            <a:off x="917574" y="1277556"/>
            <a:ext cx="8169275" cy="446917"/>
          </a:xfrm>
          <a:prstGeom prst="rect">
            <a:avLst/>
          </a:prstGeom>
        </p:spPr>
        <p:txBody>
          <a:bodyPr vert="horz" wrap="square" lIns="0" tIns="15875" rIns="0" bIns="0">
            <a:spAutoFit/>
          </a:bodyPr>
          <a:lstStyle/>
          <a:p>
            <a:pPr marL="12700" algn="l">
              <a:lnSpc>
                <a:spcPct val="100000"/>
              </a:lnSpc>
              <a:spcBef>
                <a:spcPts val="125"/>
              </a:spcBef>
              <a:buNone/>
              <a:defRPr>
                <a:latin typeface="Aptos"/>
                <a:ea typeface="Aptos"/>
                <a:cs typeface="Aptos"/>
              </a:defRPr>
            </a:pPr>
            <a:r>
              <a:rPr sz="2800">
                <a:latin typeface="Aptos"/>
                <a:ea typeface="Aptos"/>
                <a:cs typeface="Aptos"/>
              </a:rPr>
              <a:t>The simplest structure</a:t>
            </a:r>
            <a:endParaRPr sz="2800">
              <a:latin typeface="Aptos (Body)"/>
              <a:ea typeface="Aptos (Body)"/>
              <a:cs typeface="Aptos (Body)"/>
            </a:endParaRPr>
          </a:p>
        </p:txBody>
      </p:sp>
      <p:sp>
        <p:nvSpPr>
          <p:cNvPr id="4" name="object 4">
            <a:extLst>
              <a:ext uri="{FF2B5EF4-FFF2-40B4-BE49-F238E27FC236}">
                <a16:creationId xmlns:a16="http://schemas.microsoft.com/office/drawing/2014/main" id="{83A8A01C-B8F0-6F51-1554-7DEDEDF4A4C8}"/>
              </a:ext>
            </a:extLst>
          </p:cNvPr>
          <p:cNvSpPr>
            <a:spLocks noGrp="1"/>
          </p:cNvSpPr>
          <p:nvPr/>
        </p:nvSpPr>
        <p:spPr>
          <a:xfrm>
            <a:off x="3138551" y="2843276"/>
            <a:ext cx="1714500" cy="1104900"/>
          </a:xfrm>
          <a:prstGeom prst="rect">
            <a:avLst/>
          </a:prstGeom>
          <a:solidFill>
            <a:srgbClr val="D9D9D9"/>
          </a:solidFill>
          <a:ln w="12700">
            <a:solidFill>
              <a:srgbClr val="000000"/>
            </a:solidFill>
          </a:ln>
        </p:spPr>
        <p:txBody>
          <a:bodyPr vert="horz" wrap="square" lIns="0" tIns="323215" rIns="0" bIns="0">
            <a:spAutoFit/>
          </a:bodyPr>
          <a:lstStyle/>
          <a:p>
            <a:pPr marL="450850">
              <a:lnSpc>
                <a:spcPct val="100000"/>
              </a:lnSpc>
              <a:spcBef>
                <a:spcPts val="2545"/>
              </a:spcBef>
              <a:buNone/>
              <a:defRPr>
                <a:latin typeface="Aptos"/>
                <a:ea typeface="Aptos"/>
                <a:cs typeface="Aptos"/>
              </a:defRPr>
            </a:pPr>
            <a:r>
              <a:rPr sz="2750" spc="-10">
                <a:latin typeface="Aptos"/>
                <a:ea typeface="Aptos"/>
                <a:cs typeface="Aptos"/>
              </a:rPr>
              <a:t>Client</a:t>
            </a:r>
            <a:endParaRPr sz="2750">
              <a:latin typeface="Calibri"/>
              <a:ea typeface="Calibri"/>
              <a:cs typeface="Calibri"/>
            </a:endParaRPr>
          </a:p>
        </p:txBody>
      </p:sp>
      <p:sp>
        <p:nvSpPr>
          <p:cNvPr id="8" name="object 5">
            <a:extLst>
              <a:ext uri="{FF2B5EF4-FFF2-40B4-BE49-F238E27FC236}">
                <a16:creationId xmlns:a16="http://schemas.microsoft.com/office/drawing/2014/main" id="{2B8DC15A-5D89-C916-5092-B8C49B825DC6}"/>
              </a:ext>
            </a:extLst>
          </p:cNvPr>
          <p:cNvSpPr>
            <a:spLocks noGrp="1"/>
          </p:cNvSpPr>
          <p:nvPr/>
        </p:nvSpPr>
        <p:spPr>
          <a:xfrm>
            <a:off x="7158101" y="2843276"/>
            <a:ext cx="1714500" cy="1104900"/>
          </a:xfrm>
          <a:prstGeom prst="rect">
            <a:avLst/>
          </a:prstGeom>
          <a:solidFill>
            <a:srgbClr val="D9D9D9"/>
          </a:solidFill>
          <a:ln w="12700">
            <a:solidFill>
              <a:srgbClr val="000000"/>
            </a:solidFill>
          </a:ln>
        </p:spPr>
        <p:txBody>
          <a:bodyPr vert="horz" wrap="square" lIns="0" tIns="323215" rIns="0" bIns="0">
            <a:spAutoFit/>
          </a:bodyPr>
          <a:lstStyle/>
          <a:p>
            <a:pPr marL="422909">
              <a:lnSpc>
                <a:spcPct val="100000"/>
              </a:lnSpc>
              <a:spcBef>
                <a:spcPts val="2545"/>
              </a:spcBef>
              <a:buNone/>
              <a:defRPr>
                <a:latin typeface="Aptos"/>
                <a:ea typeface="Aptos"/>
                <a:cs typeface="Aptos"/>
              </a:defRPr>
            </a:pPr>
            <a:r>
              <a:rPr sz="2750" spc="-10">
                <a:latin typeface="Aptos"/>
                <a:ea typeface="Aptos"/>
                <a:cs typeface="Aptos"/>
              </a:rPr>
              <a:t>Server</a:t>
            </a:r>
            <a:endParaRPr sz="2750">
              <a:latin typeface="Calibri"/>
              <a:ea typeface="Calibri"/>
              <a:cs typeface="Calibri"/>
            </a:endParaRPr>
          </a:p>
        </p:txBody>
      </p:sp>
      <p:sp>
        <p:nvSpPr>
          <p:cNvPr id="10" name="object 6">
            <a:extLst>
              <a:ext uri="{FF2B5EF4-FFF2-40B4-BE49-F238E27FC236}">
                <a16:creationId xmlns:a16="http://schemas.microsoft.com/office/drawing/2014/main" id="{83D1F90F-B959-CD38-96A4-5AC898A9054F}"/>
              </a:ext>
            </a:extLst>
          </p:cNvPr>
          <p:cNvSpPr>
            <a:spLocks noGrp="1"/>
          </p:cNvSpPr>
          <p:nvPr/>
        </p:nvSpPr>
        <p:spPr>
          <a:xfrm>
            <a:off x="4962525" y="3315208"/>
            <a:ext cx="2044700" cy="87630"/>
          </a:xfrm>
          <a:custGeom>
            <a:avLst/>
            <a:gdLst/>
            <a:ahLst/>
            <a:cxnLst/>
            <a:rect l="l" t="t" r="r" b="b"/>
            <a:pathLst>
              <a:path w="2044700" h="87629">
                <a:moveTo>
                  <a:pt x="1968516" y="58978"/>
                </a:moveTo>
                <a:lnTo>
                  <a:pt x="1968373" y="87629"/>
                </a:lnTo>
                <a:lnTo>
                  <a:pt x="2026196" y="59054"/>
                </a:lnTo>
                <a:lnTo>
                  <a:pt x="1981200" y="59054"/>
                </a:lnTo>
                <a:lnTo>
                  <a:pt x="1968516" y="58978"/>
                </a:lnTo>
                <a:close/>
              </a:path>
              <a:path w="2044700" h="87629">
                <a:moveTo>
                  <a:pt x="76453" y="0"/>
                </a:moveTo>
                <a:lnTo>
                  <a:pt x="0" y="37591"/>
                </a:lnTo>
                <a:lnTo>
                  <a:pt x="75946" y="76200"/>
                </a:lnTo>
                <a:lnTo>
                  <a:pt x="76136" y="47574"/>
                </a:lnTo>
                <a:lnTo>
                  <a:pt x="63500" y="47497"/>
                </a:lnTo>
                <a:lnTo>
                  <a:pt x="63500" y="28447"/>
                </a:lnTo>
                <a:lnTo>
                  <a:pt x="76264" y="28447"/>
                </a:lnTo>
                <a:lnTo>
                  <a:pt x="76453" y="0"/>
                </a:lnTo>
                <a:close/>
              </a:path>
              <a:path w="2044700" h="87629">
                <a:moveTo>
                  <a:pt x="1968611" y="39928"/>
                </a:moveTo>
                <a:lnTo>
                  <a:pt x="1968516" y="58978"/>
                </a:lnTo>
                <a:lnTo>
                  <a:pt x="1981200" y="59054"/>
                </a:lnTo>
                <a:lnTo>
                  <a:pt x="1981327" y="40004"/>
                </a:lnTo>
                <a:lnTo>
                  <a:pt x="1968611" y="39928"/>
                </a:lnTo>
                <a:close/>
              </a:path>
              <a:path w="2044700" h="87629">
                <a:moveTo>
                  <a:pt x="1968753" y="11429"/>
                </a:moveTo>
                <a:lnTo>
                  <a:pt x="1968611" y="39928"/>
                </a:lnTo>
                <a:lnTo>
                  <a:pt x="1981327" y="40004"/>
                </a:lnTo>
                <a:lnTo>
                  <a:pt x="1981200" y="59054"/>
                </a:lnTo>
                <a:lnTo>
                  <a:pt x="2026196" y="59054"/>
                </a:lnTo>
                <a:lnTo>
                  <a:pt x="2044700" y="49911"/>
                </a:lnTo>
                <a:lnTo>
                  <a:pt x="1968753" y="11429"/>
                </a:lnTo>
                <a:close/>
              </a:path>
              <a:path w="2044700" h="87629">
                <a:moveTo>
                  <a:pt x="76263" y="28524"/>
                </a:moveTo>
                <a:lnTo>
                  <a:pt x="76136" y="47574"/>
                </a:lnTo>
                <a:lnTo>
                  <a:pt x="1968516" y="58978"/>
                </a:lnTo>
                <a:lnTo>
                  <a:pt x="1968611" y="39928"/>
                </a:lnTo>
                <a:lnTo>
                  <a:pt x="76263" y="28524"/>
                </a:lnTo>
                <a:close/>
              </a:path>
              <a:path w="2044700" h="87629">
                <a:moveTo>
                  <a:pt x="63500" y="28447"/>
                </a:moveTo>
                <a:lnTo>
                  <a:pt x="63500" y="47497"/>
                </a:lnTo>
                <a:lnTo>
                  <a:pt x="76136" y="47574"/>
                </a:lnTo>
                <a:lnTo>
                  <a:pt x="76263" y="28524"/>
                </a:lnTo>
                <a:lnTo>
                  <a:pt x="63500" y="28447"/>
                </a:lnTo>
                <a:close/>
              </a:path>
              <a:path w="2044700" h="87629">
                <a:moveTo>
                  <a:pt x="76264" y="28447"/>
                </a:moveTo>
                <a:lnTo>
                  <a:pt x="63500" y="28447"/>
                </a:lnTo>
                <a:lnTo>
                  <a:pt x="76263" y="28524"/>
                </a:lnTo>
                <a:close/>
              </a:path>
            </a:pathLst>
          </a:custGeom>
          <a:solidFill>
            <a:srgbClr val="000000"/>
          </a:solidFill>
        </p:spPr>
        <p:txBody>
          <a:bodyPr wrap="square" lIns="0" tIns="0" rIns="0" bIns="0"/>
          <a:lstStyle/>
          <a:p>
            <a:endParaRPr/>
          </a:p>
        </p:txBody>
      </p:sp>
      <p:sp>
        <p:nvSpPr>
          <p:cNvPr id="14" name="object 7">
            <a:extLst>
              <a:ext uri="{FF2B5EF4-FFF2-40B4-BE49-F238E27FC236}">
                <a16:creationId xmlns:a16="http://schemas.microsoft.com/office/drawing/2014/main" id="{4FEA8B3C-BDFF-E747-1496-A5BA617A68B1}"/>
              </a:ext>
            </a:extLst>
          </p:cNvPr>
          <p:cNvSpPr>
            <a:spLocks noGrp="1"/>
          </p:cNvSpPr>
          <p:nvPr/>
        </p:nvSpPr>
        <p:spPr>
          <a:xfrm>
            <a:off x="3430158" y="4422991"/>
            <a:ext cx="1122045" cy="965200"/>
          </a:xfrm>
          <a:custGeom>
            <a:avLst/>
            <a:gdLst/>
            <a:ahLst/>
            <a:cxnLst/>
            <a:rect l="l" t="t" r="r" b="b"/>
            <a:pathLst>
              <a:path w="1122045" h="965200">
                <a:moveTo>
                  <a:pt x="1016606" y="0"/>
                </a:moveTo>
                <a:lnTo>
                  <a:pt x="105165" y="0"/>
                </a:lnTo>
                <a:lnTo>
                  <a:pt x="64239" y="8124"/>
                </a:lnTo>
                <a:lnTo>
                  <a:pt x="30810" y="30280"/>
                </a:lnTo>
                <a:lnTo>
                  <a:pt x="8267" y="63140"/>
                </a:lnTo>
                <a:lnTo>
                  <a:pt x="0" y="103377"/>
                </a:lnTo>
                <a:lnTo>
                  <a:pt x="0" y="861470"/>
                </a:lnTo>
                <a:lnTo>
                  <a:pt x="8267" y="901700"/>
                </a:lnTo>
                <a:lnTo>
                  <a:pt x="30810" y="934561"/>
                </a:lnTo>
                <a:lnTo>
                  <a:pt x="64239" y="956720"/>
                </a:lnTo>
                <a:lnTo>
                  <a:pt x="105166" y="964847"/>
                </a:lnTo>
                <a:lnTo>
                  <a:pt x="1016607" y="964847"/>
                </a:lnTo>
                <a:lnTo>
                  <a:pt x="1057527" y="956720"/>
                </a:lnTo>
                <a:lnTo>
                  <a:pt x="1090956" y="934561"/>
                </a:lnTo>
                <a:lnTo>
                  <a:pt x="1113502" y="901700"/>
                </a:lnTo>
                <a:lnTo>
                  <a:pt x="1121772" y="861470"/>
                </a:lnTo>
                <a:lnTo>
                  <a:pt x="111081" y="861470"/>
                </a:lnTo>
                <a:lnTo>
                  <a:pt x="105166" y="855655"/>
                </a:lnTo>
                <a:lnTo>
                  <a:pt x="105166" y="292901"/>
                </a:lnTo>
                <a:lnTo>
                  <a:pt x="1121772" y="292901"/>
                </a:lnTo>
                <a:lnTo>
                  <a:pt x="1121772" y="206754"/>
                </a:lnTo>
                <a:lnTo>
                  <a:pt x="131457" y="206754"/>
                </a:lnTo>
                <a:lnTo>
                  <a:pt x="105165" y="129221"/>
                </a:lnTo>
                <a:lnTo>
                  <a:pt x="107240" y="119186"/>
                </a:lnTo>
                <a:lnTo>
                  <a:pt x="112889" y="110968"/>
                </a:lnTo>
                <a:lnTo>
                  <a:pt x="121248" y="105416"/>
                </a:lnTo>
                <a:lnTo>
                  <a:pt x="131457" y="103377"/>
                </a:lnTo>
                <a:lnTo>
                  <a:pt x="1121772" y="103377"/>
                </a:lnTo>
                <a:lnTo>
                  <a:pt x="1113502" y="63140"/>
                </a:lnTo>
                <a:lnTo>
                  <a:pt x="1090956" y="30280"/>
                </a:lnTo>
                <a:lnTo>
                  <a:pt x="1057526" y="8124"/>
                </a:lnTo>
                <a:lnTo>
                  <a:pt x="1016606" y="0"/>
                </a:lnTo>
                <a:close/>
              </a:path>
              <a:path w="1122045" h="965200">
                <a:moveTo>
                  <a:pt x="1121772" y="292901"/>
                </a:moveTo>
                <a:lnTo>
                  <a:pt x="1016606" y="292901"/>
                </a:lnTo>
                <a:lnTo>
                  <a:pt x="1016607" y="855655"/>
                </a:lnTo>
                <a:lnTo>
                  <a:pt x="1010676" y="861470"/>
                </a:lnTo>
                <a:lnTo>
                  <a:pt x="1121772" y="861470"/>
                </a:lnTo>
                <a:lnTo>
                  <a:pt x="1121772" y="292901"/>
                </a:lnTo>
                <a:close/>
              </a:path>
              <a:path w="1122045" h="965200">
                <a:moveTo>
                  <a:pt x="376851" y="103377"/>
                </a:moveTo>
                <a:lnTo>
                  <a:pt x="219094" y="103377"/>
                </a:lnTo>
                <a:lnTo>
                  <a:pt x="229303" y="105416"/>
                </a:lnTo>
                <a:lnTo>
                  <a:pt x="237663" y="110968"/>
                </a:lnTo>
                <a:lnTo>
                  <a:pt x="243311" y="119186"/>
                </a:lnTo>
                <a:lnTo>
                  <a:pt x="245386" y="129221"/>
                </a:lnTo>
                <a:lnTo>
                  <a:pt x="245386" y="180909"/>
                </a:lnTo>
                <a:lnTo>
                  <a:pt x="243311" y="190944"/>
                </a:lnTo>
                <a:lnTo>
                  <a:pt x="237663" y="199162"/>
                </a:lnTo>
                <a:lnTo>
                  <a:pt x="229303" y="204714"/>
                </a:lnTo>
                <a:lnTo>
                  <a:pt x="219095" y="206754"/>
                </a:lnTo>
                <a:lnTo>
                  <a:pt x="376851" y="206754"/>
                </a:lnTo>
                <a:lnTo>
                  <a:pt x="350560" y="129221"/>
                </a:lnTo>
                <a:lnTo>
                  <a:pt x="352634" y="119186"/>
                </a:lnTo>
                <a:lnTo>
                  <a:pt x="358283" y="110968"/>
                </a:lnTo>
                <a:lnTo>
                  <a:pt x="366643" y="105416"/>
                </a:lnTo>
                <a:lnTo>
                  <a:pt x="376851" y="103377"/>
                </a:lnTo>
                <a:close/>
              </a:path>
              <a:path w="1122045" h="965200">
                <a:moveTo>
                  <a:pt x="1121772" y="103377"/>
                </a:moveTo>
                <a:lnTo>
                  <a:pt x="990315" y="103377"/>
                </a:lnTo>
                <a:lnTo>
                  <a:pt x="1000523" y="105416"/>
                </a:lnTo>
                <a:lnTo>
                  <a:pt x="1008883" y="110968"/>
                </a:lnTo>
                <a:lnTo>
                  <a:pt x="1014532" y="119186"/>
                </a:lnTo>
                <a:lnTo>
                  <a:pt x="1016606" y="129221"/>
                </a:lnTo>
                <a:lnTo>
                  <a:pt x="1016606" y="180910"/>
                </a:lnTo>
                <a:lnTo>
                  <a:pt x="1014532" y="190944"/>
                </a:lnTo>
                <a:lnTo>
                  <a:pt x="1008883" y="199162"/>
                </a:lnTo>
                <a:lnTo>
                  <a:pt x="1000523" y="204715"/>
                </a:lnTo>
                <a:lnTo>
                  <a:pt x="990315" y="206754"/>
                </a:lnTo>
                <a:lnTo>
                  <a:pt x="1121772" y="206754"/>
                </a:lnTo>
                <a:lnTo>
                  <a:pt x="1121772" y="103377"/>
                </a:lnTo>
                <a:close/>
              </a:path>
            </a:pathLst>
          </a:custGeom>
          <a:solidFill>
            <a:srgbClr val="000000"/>
          </a:solidFill>
        </p:spPr>
        <p:txBody>
          <a:bodyPr wrap="square" lIns="0" tIns="0" rIns="0" bIns="0"/>
          <a:lstStyle/>
          <a:p>
            <a:endParaRPr/>
          </a:p>
        </p:txBody>
      </p:sp>
      <p:sp>
        <p:nvSpPr>
          <p:cNvPr id="16" name="object 8">
            <a:extLst>
              <a:ext uri="{FF2B5EF4-FFF2-40B4-BE49-F238E27FC236}">
                <a16:creationId xmlns:a16="http://schemas.microsoft.com/office/drawing/2014/main" id="{D538C9BA-4E3A-786D-F1C8-0C6C20FB0246}"/>
              </a:ext>
            </a:extLst>
          </p:cNvPr>
          <p:cNvSpPr>
            <a:spLocks noGrp="1"/>
          </p:cNvSpPr>
          <p:nvPr/>
        </p:nvSpPr>
        <p:spPr>
          <a:xfrm>
            <a:off x="7449698" y="4388210"/>
            <a:ext cx="1112520" cy="1024890"/>
          </a:xfrm>
          <a:custGeom>
            <a:avLst/>
            <a:gdLst/>
            <a:ahLst/>
            <a:cxnLst/>
            <a:rect l="l" t="t" r="r" b="b"/>
            <a:pathLst>
              <a:path w="1112520" h="1024889">
                <a:moveTo>
                  <a:pt x="1007922" y="0"/>
                </a:moveTo>
                <a:lnTo>
                  <a:pt x="104267" y="0"/>
                </a:lnTo>
                <a:lnTo>
                  <a:pt x="63681" y="8054"/>
                </a:lnTo>
                <a:lnTo>
                  <a:pt x="30538" y="30020"/>
                </a:lnTo>
                <a:lnTo>
                  <a:pt x="8193" y="62597"/>
                </a:lnTo>
                <a:lnTo>
                  <a:pt x="0" y="102487"/>
                </a:lnTo>
                <a:lnTo>
                  <a:pt x="0" y="307462"/>
                </a:lnTo>
                <a:lnTo>
                  <a:pt x="885" y="320869"/>
                </a:lnTo>
                <a:lnTo>
                  <a:pt x="3542" y="333991"/>
                </a:lnTo>
                <a:lnTo>
                  <a:pt x="7924" y="346659"/>
                </a:lnTo>
                <a:lnTo>
                  <a:pt x="13985" y="358705"/>
                </a:lnTo>
                <a:lnTo>
                  <a:pt x="7924" y="370751"/>
                </a:lnTo>
                <a:lnTo>
                  <a:pt x="3542" y="383420"/>
                </a:lnTo>
                <a:lnTo>
                  <a:pt x="885" y="396541"/>
                </a:lnTo>
                <a:lnTo>
                  <a:pt x="0" y="409949"/>
                </a:lnTo>
                <a:lnTo>
                  <a:pt x="0" y="614924"/>
                </a:lnTo>
                <a:lnTo>
                  <a:pt x="886" y="628331"/>
                </a:lnTo>
                <a:lnTo>
                  <a:pt x="3542" y="641453"/>
                </a:lnTo>
                <a:lnTo>
                  <a:pt x="7924" y="654121"/>
                </a:lnTo>
                <a:lnTo>
                  <a:pt x="13985" y="666167"/>
                </a:lnTo>
                <a:lnTo>
                  <a:pt x="7924" y="678213"/>
                </a:lnTo>
                <a:lnTo>
                  <a:pt x="3542" y="690882"/>
                </a:lnTo>
                <a:lnTo>
                  <a:pt x="886" y="704003"/>
                </a:lnTo>
                <a:lnTo>
                  <a:pt x="0" y="717411"/>
                </a:lnTo>
                <a:lnTo>
                  <a:pt x="0" y="922380"/>
                </a:lnTo>
                <a:lnTo>
                  <a:pt x="8194" y="962273"/>
                </a:lnTo>
                <a:lnTo>
                  <a:pt x="30539" y="994850"/>
                </a:lnTo>
                <a:lnTo>
                  <a:pt x="63681" y="1016814"/>
                </a:lnTo>
                <a:lnTo>
                  <a:pt x="104268" y="1024867"/>
                </a:lnTo>
                <a:lnTo>
                  <a:pt x="1007923" y="1024867"/>
                </a:lnTo>
                <a:lnTo>
                  <a:pt x="1048506" y="1016814"/>
                </a:lnTo>
                <a:lnTo>
                  <a:pt x="1081648" y="994850"/>
                </a:lnTo>
                <a:lnTo>
                  <a:pt x="1103995" y="962273"/>
                </a:lnTo>
                <a:lnTo>
                  <a:pt x="1112190" y="922380"/>
                </a:lnTo>
                <a:lnTo>
                  <a:pt x="104268" y="922380"/>
                </a:lnTo>
                <a:lnTo>
                  <a:pt x="104268" y="717411"/>
                </a:lnTo>
                <a:lnTo>
                  <a:pt x="1112190" y="717411"/>
                </a:lnTo>
                <a:lnTo>
                  <a:pt x="1111295" y="704003"/>
                </a:lnTo>
                <a:lnTo>
                  <a:pt x="1108638" y="690882"/>
                </a:lnTo>
                <a:lnTo>
                  <a:pt x="1104260" y="678213"/>
                </a:lnTo>
                <a:lnTo>
                  <a:pt x="1098200" y="666167"/>
                </a:lnTo>
                <a:lnTo>
                  <a:pt x="1104260" y="654121"/>
                </a:lnTo>
                <a:lnTo>
                  <a:pt x="1108638" y="641453"/>
                </a:lnTo>
                <a:lnTo>
                  <a:pt x="1111295" y="628331"/>
                </a:lnTo>
                <a:lnTo>
                  <a:pt x="1112190" y="614924"/>
                </a:lnTo>
                <a:lnTo>
                  <a:pt x="104267" y="614924"/>
                </a:lnTo>
                <a:lnTo>
                  <a:pt x="104267" y="409949"/>
                </a:lnTo>
                <a:lnTo>
                  <a:pt x="1112189" y="409949"/>
                </a:lnTo>
                <a:lnTo>
                  <a:pt x="1111295" y="396541"/>
                </a:lnTo>
                <a:lnTo>
                  <a:pt x="1108638" y="383420"/>
                </a:lnTo>
                <a:lnTo>
                  <a:pt x="1104259" y="370751"/>
                </a:lnTo>
                <a:lnTo>
                  <a:pt x="1098200" y="358705"/>
                </a:lnTo>
                <a:lnTo>
                  <a:pt x="1104259" y="346659"/>
                </a:lnTo>
                <a:lnTo>
                  <a:pt x="1108638" y="333991"/>
                </a:lnTo>
                <a:lnTo>
                  <a:pt x="1111295" y="320869"/>
                </a:lnTo>
                <a:lnTo>
                  <a:pt x="1112189" y="307462"/>
                </a:lnTo>
                <a:lnTo>
                  <a:pt x="104267" y="307462"/>
                </a:lnTo>
                <a:lnTo>
                  <a:pt x="104267" y="102487"/>
                </a:lnTo>
                <a:lnTo>
                  <a:pt x="1112189" y="102487"/>
                </a:lnTo>
                <a:lnTo>
                  <a:pt x="1103994" y="62597"/>
                </a:lnTo>
                <a:lnTo>
                  <a:pt x="1081648" y="30020"/>
                </a:lnTo>
                <a:lnTo>
                  <a:pt x="1048505" y="8054"/>
                </a:lnTo>
                <a:lnTo>
                  <a:pt x="1007922" y="0"/>
                </a:lnTo>
                <a:close/>
              </a:path>
              <a:path w="1112520" h="1024889">
                <a:moveTo>
                  <a:pt x="1112190" y="717411"/>
                </a:moveTo>
                <a:lnTo>
                  <a:pt x="1007923" y="717411"/>
                </a:lnTo>
                <a:lnTo>
                  <a:pt x="1007923" y="922380"/>
                </a:lnTo>
                <a:lnTo>
                  <a:pt x="1112190" y="922380"/>
                </a:lnTo>
                <a:lnTo>
                  <a:pt x="1112190" y="717411"/>
                </a:lnTo>
                <a:close/>
              </a:path>
              <a:path w="1112520" h="1024889">
                <a:moveTo>
                  <a:pt x="729878" y="768655"/>
                </a:moveTo>
                <a:lnTo>
                  <a:pt x="709586" y="772681"/>
                </a:lnTo>
                <a:lnTo>
                  <a:pt x="693015" y="783661"/>
                </a:lnTo>
                <a:lnTo>
                  <a:pt x="681842" y="799947"/>
                </a:lnTo>
                <a:lnTo>
                  <a:pt x="677744" y="819893"/>
                </a:lnTo>
                <a:lnTo>
                  <a:pt x="681842" y="839840"/>
                </a:lnTo>
                <a:lnTo>
                  <a:pt x="693015" y="856128"/>
                </a:lnTo>
                <a:lnTo>
                  <a:pt x="709586" y="867110"/>
                </a:lnTo>
                <a:lnTo>
                  <a:pt x="729878" y="871136"/>
                </a:lnTo>
                <a:lnTo>
                  <a:pt x="750169" y="867110"/>
                </a:lnTo>
                <a:lnTo>
                  <a:pt x="766740" y="856128"/>
                </a:lnTo>
                <a:lnTo>
                  <a:pt x="777914" y="839840"/>
                </a:lnTo>
                <a:lnTo>
                  <a:pt x="782011" y="819893"/>
                </a:lnTo>
                <a:lnTo>
                  <a:pt x="777914" y="799947"/>
                </a:lnTo>
                <a:lnTo>
                  <a:pt x="766740" y="783661"/>
                </a:lnTo>
                <a:lnTo>
                  <a:pt x="750169" y="772681"/>
                </a:lnTo>
                <a:lnTo>
                  <a:pt x="729878" y="768655"/>
                </a:lnTo>
                <a:close/>
              </a:path>
              <a:path w="1112520" h="1024889">
                <a:moveTo>
                  <a:pt x="868900" y="768655"/>
                </a:moveTo>
                <a:lnTo>
                  <a:pt x="848609" y="772681"/>
                </a:lnTo>
                <a:lnTo>
                  <a:pt x="832038" y="783661"/>
                </a:lnTo>
                <a:lnTo>
                  <a:pt x="820864" y="799947"/>
                </a:lnTo>
                <a:lnTo>
                  <a:pt x="816767" y="819893"/>
                </a:lnTo>
                <a:lnTo>
                  <a:pt x="820864" y="839840"/>
                </a:lnTo>
                <a:lnTo>
                  <a:pt x="832038" y="856128"/>
                </a:lnTo>
                <a:lnTo>
                  <a:pt x="848609" y="867110"/>
                </a:lnTo>
                <a:lnTo>
                  <a:pt x="868900" y="871136"/>
                </a:lnTo>
                <a:lnTo>
                  <a:pt x="889192" y="867110"/>
                </a:lnTo>
                <a:lnTo>
                  <a:pt x="905763" y="856128"/>
                </a:lnTo>
                <a:lnTo>
                  <a:pt x="916936" y="839840"/>
                </a:lnTo>
                <a:lnTo>
                  <a:pt x="921034" y="819893"/>
                </a:lnTo>
                <a:lnTo>
                  <a:pt x="916936" y="799947"/>
                </a:lnTo>
                <a:lnTo>
                  <a:pt x="905763" y="783661"/>
                </a:lnTo>
                <a:lnTo>
                  <a:pt x="889192" y="772681"/>
                </a:lnTo>
                <a:lnTo>
                  <a:pt x="868900" y="768655"/>
                </a:lnTo>
                <a:close/>
              </a:path>
              <a:path w="1112520" h="1024889">
                <a:moveTo>
                  <a:pt x="1112189" y="409949"/>
                </a:moveTo>
                <a:lnTo>
                  <a:pt x="1007923" y="409949"/>
                </a:lnTo>
                <a:lnTo>
                  <a:pt x="1007923" y="614924"/>
                </a:lnTo>
                <a:lnTo>
                  <a:pt x="1112190" y="614924"/>
                </a:lnTo>
                <a:lnTo>
                  <a:pt x="1112189" y="409949"/>
                </a:lnTo>
                <a:close/>
              </a:path>
              <a:path w="1112520" h="1024889">
                <a:moveTo>
                  <a:pt x="729877" y="461193"/>
                </a:moveTo>
                <a:lnTo>
                  <a:pt x="709586" y="465220"/>
                </a:lnTo>
                <a:lnTo>
                  <a:pt x="693015" y="476203"/>
                </a:lnTo>
                <a:lnTo>
                  <a:pt x="681841" y="492491"/>
                </a:lnTo>
                <a:lnTo>
                  <a:pt x="677744" y="512436"/>
                </a:lnTo>
                <a:lnTo>
                  <a:pt x="681841" y="532381"/>
                </a:lnTo>
                <a:lnTo>
                  <a:pt x="693015" y="548670"/>
                </a:lnTo>
                <a:lnTo>
                  <a:pt x="709586" y="559652"/>
                </a:lnTo>
                <a:lnTo>
                  <a:pt x="729878" y="563680"/>
                </a:lnTo>
                <a:lnTo>
                  <a:pt x="750169" y="559652"/>
                </a:lnTo>
                <a:lnTo>
                  <a:pt x="766740" y="548670"/>
                </a:lnTo>
                <a:lnTo>
                  <a:pt x="777914" y="532381"/>
                </a:lnTo>
                <a:lnTo>
                  <a:pt x="782011" y="512436"/>
                </a:lnTo>
                <a:lnTo>
                  <a:pt x="777914" y="492491"/>
                </a:lnTo>
                <a:lnTo>
                  <a:pt x="766740" y="476203"/>
                </a:lnTo>
                <a:lnTo>
                  <a:pt x="750169" y="465220"/>
                </a:lnTo>
                <a:lnTo>
                  <a:pt x="729877" y="461193"/>
                </a:lnTo>
                <a:close/>
              </a:path>
              <a:path w="1112520" h="1024889">
                <a:moveTo>
                  <a:pt x="868900" y="461193"/>
                </a:moveTo>
                <a:lnTo>
                  <a:pt x="848609" y="465220"/>
                </a:lnTo>
                <a:lnTo>
                  <a:pt x="832037" y="476203"/>
                </a:lnTo>
                <a:lnTo>
                  <a:pt x="820864" y="492491"/>
                </a:lnTo>
                <a:lnTo>
                  <a:pt x="816767" y="512436"/>
                </a:lnTo>
                <a:lnTo>
                  <a:pt x="820864" y="532381"/>
                </a:lnTo>
                <a:lnTo>
                  <a:pt x="832037" y="548670"/>
                </a:lnTo>
                <a:lnTo>
                  <a:pt x="848609" y="559652"/>
                </a:lnTo>
                <a:lnTo>
                  <a:pt x="868900" y="563680"/>
                </a:lnTo>
                <a:lnTo>
                  <a:pt x="889191" y="559652"/>
                </a:lnTo>
                <a:lnTo>
                  <a:pt x="905763" y="548670"/>
                </a:lnTo>
                <a:lnTo>
                  <a:pt x="916936" y="532381"/>
                </a:lnTo>
                <a:lnTo>
                  <a:pt x="921033" y="512436"/>
                </a:lnTo>
                <a:lnTo>
                  <a:pt x="916936" y="492491"/>
                </a:lnTo>
                <a:lnTo>
                  <a:pt x="905763" y="476203"/>
                </a:lnTo>
                <a:lnTo>
                  <a:pt x="889191" y="465220"/>
                </a:lnTo>
                <a:lnTo>
                  <a:pt x="868900" y="461193"/>
                </a:lnTo>
                <a:close/>
              </a:path>
              <a:path w="1112520" h="1024889">
                <a:moveTo>
                  <a:pt x="1112189" y="102487"/>
                </a:moveTo>
                <a:lnTo>
                  <a:pt x="1007922" y="102487"/>
                </a:lnTo>
                <a:lnTo>
                  <a:pt x="1007922" y="307462"/>
                </a:lnTo>
                <a:lnTo>
                  <a:pt x="1112189" y="307462"/>
                </a:lnTo>
                <a:lnTo>
                  <a:pt x="1112189" y="102487"/>
                </a:lnTo>
                <a:close/>
              </a:path>
              <a:path w="1112520" h="1024889">
                <a:moveTo>
                  <a:pt x="729877" y="153731"/>
                </a:moveTo>
                <a:lnTo>
                  <a:pt x="709586" y="157758"/>
                </a:lnTo>
                <a:lnTo>
                  <a:pt x="693015" y="168741"/>
                </a:lnTo>
                <a:lnTo>
                  <a:pt x="681841" y="185029"/>
                </a:lnTo>
                <a:lnTo>
                  <a:pt x="677744" y="204974"/>
                </a:lnTo>
                <a:lnTo>
                  <a:pt x="681841" y="224919"/>
                </a:lnTo>
                <a:lnTo>
                  <a:pt x="693015" y="241208"/>
                </a:lnTo>
                <a:lnTo>
                  <a:pt x="709586" y="252190"/>
                </a:lnTo>
                <a:lnTo>
                  <a:pt x="729877" y="256218"/>
                </a:lnTo>
                <a:lnTo>
                  <a:pt x="750169" y="252190"/>
                </a:lnTo>
                <a:lnTo>
                  <a:pt x="766740" y="241208"/>
                </a:lnTo>
                <a:lnTo>
                  <a:pt x="777913" y="224919"/>
                </a:lnTo>
                <a:lnTo>
                  <a:pt x="782011" y="204974"/>
                </a:lnTo>
                <a:lnTo>
                  <a:pt x="777913" y="185029"/>
                </a:lnTo>
                <a:lnTo>
                  <a:pt x="766740" y="168741"/>
                </a:lnTo>
                <a:lnTo>
                  <a:pt x="750169" y="157758"/>
                </a:lnTo>
                <a:lnTo>
                  <a:pt x="729877" y="153731"/>
                </a:lnTo>
                <a:close/>
              </a:path>
              <a:path w="1112520" h="1024889">
                <a:moveTo>
                  <a:pt x="868900" y="153731"/>
                </a:moveTo>
                <a:lnTo>
                  <a:pt x="848608" y="157758"/>
                </a:lnTo>
                <a:lnTo>
                  <a:pt x="832037" y="168741"/>
                </a:lnTo>
                <a:lnTo>
                  <a:pt x="820864" y="185029"/>
                </a:lnTo>
                <a:lnTo>
                  <a:pt x="816766" y="204974"/>
                </a:lnTo>
                <a:lnTo>
                  <a:pt x="820864" y="224919"/>
                </a:lnTo>
                <a:lnTo>
                  <a:pt x="832037" y="241208"/>
                </a:lnTo>
                <a:lnTo>
                  <a:pt x="848609" y="252190"/>
                </a:lnTo>
                <a:lnTo>
                  <a:pt x="868900" y="256218"/>
                </a:lnTo>
                <a:lnTo>
                  <a:pt x="889191" y="252190"/>
                </a:lnTo>
                <a:lnTo>
                  <a:pt x="905763" y="241208"/>
                </a:lnTo>
                <a:lnTo>
                  <a:pt x="916936" y="224919"/>
                </a:lnTo>
                <a:lnTo>
                  <a:pt x="921033" y="204974"/>
                </a:lnTo>
                <a:lnTo>
                  <a:pt x="916936" y="185029"/>
                </a:lnTo>
                <a:lnTo>
                  <a:pt x="905763" y="168741"/>
                </a:lnTo>
                <a:lnTo>
                  <a:pt x="889191" y="157758"/>
                </a:lnTo>
                <a:lnTo>
                  <a:pt x="868900" y="153731"/>
                </a:lnTo>
                <a:close/>
              </a:path>
            </a:pathLst>
          </a:custGeom>
          <a:solidFill>
            <a:srgbClr val="000000"/>
          </a:solidFill>
        </p:spPr>
        <p:txBody>
          <a:bodyPr wrap="square" lIns="0" tIns="0" rIns="0" bIns="0"/>
          <a:lstStyle/>
          <a:p>
            <a:endParaRPr/>
          </a:p>
        </p:txBody>
      </p:sp>
    </p:spTree>
    <p:extLst>
      <p:ext uri="{BB962C8B-B14F-4D97-AF65-F5344CB8AC3E}">
        <p14:creationId xmlns:p14="http://schemas.microsoft.com/office/powerpoint/2010/main" val="9113586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C03F0-7F3D-789B-916D-F29C14811CDC}"/>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380">
                <a:latin typeface="Aptos Display"/>
                <a:ea typeface="Aptos Display"/>
                <a:cs typeface="Aptos Display"/>
              </a:rPr>
              <a:t>HTTP</a:t>
            </a:r>
            <a:endParaRPr/>
          </a:p>
        </p:txBody>
      </p:sp>
      <p:sp>
        <p:nvSpPr>
          <p:cNvPr id="6" name="object 3">
            <a:extLst>
              <a:ext uri="{FF2B5EF4-FFF2-40B4-BE49-F238E27FC236}">
                <a16:creationId xmlns:a16="http://schemas.microsoft.com/office/drawing/2014/main" id="{C1550B8B-C6C2-82A4-7F3B-8B3AABC602DD}"/>
              </a:ext>
            </a:extLst>
          </p:cNvPr>
          <p:cNvSpPr>
            <a:spLocks noGrp="1"/>
          </p:cNvSpPr>
          <p:nvPr/>
        </p:nvSpPr>
        <p:spPr>
          <a:xfrm>
            <a:off x="917574" y="1277556"/>
            <a:ext cx="8169275" cy="446917"/>
          </a:xfrm>
          <a:prstGeom prst="rect">
            <a:avLst/>
          </a:prstGeom>
        </p:spPr>
        <p:txBody>
          <a:bodyPr vert="horz" wrap="square" lIns="0" tIns="15875" rIns="0" bIns="0">
            <a:spAutoFit/>
          </a:bodyPr>
          <a:lstStyle/>
          <a:p>
            <a:pPr marL="12700" algn="l">
              <a:lnSpc>
                <a:spcPct val="100000"/>
              </a:lnSpc>
              <a:spcBef>
                <a:spcPts val="125"/>
              </a:spcBef>
              <a:buNone/>
              <a:defRPr>
                <a:latin typeface="Aptos"/>
                <a:ea typeface="Aptos"/>
                <a:cs typeface="Aptos"/>
              </a:defRPr>
            </a:pPr>
            <a:r>
              <a:rPr sz="2800">
                <a:latin typeface="Aptos"/>
                <a:ea typeface="Aptos"/>
                <a:cs typeface="Aptos"/>
              </a:rPr>
              <a:t>In</a:t>
            </a:r>
            <a:r>
              <a:rPr sz="2800" spc="-75">
                <a:latin typeface="Aptos"/>
                <a:ea typeface="Aptos"/>
                <a:cs typeface="Aptos"/>
              </a:rPr>
              <a:t> </a:t>
            </a:r>
            <a:r>
              <a:rPr sz="2800" spc="-150">
                <a:latin typeface="Aptos"/>
                <a:ea typeface="Aptos"/>
                <a:cs typeface="Aptos"/>
              </a:rPr>
              <a:t>"reality"</a:t>
            </a:r>
            <a:endParaRPr sz="2800">
              <a:latin typeface="Aptos (Body)"/>
              <a:ea typeface="Aptos (Body)"/>
              <a:cs typeface="Aptos (Body)"/>
            </a:endParaRPr>
          </a:p>
        </p:txBody>
      </p:sp>
      <p:sp>
        <p:nvSpPr>
          <p:cNvPr id="5" name="object 4">
            <a:extLst>
              <a:ext uri="{FF2B5EF4-FFF2-40B4-BE49-F238E27FC236}">
                <a16:creationId xmlns:a16="http://schemas.microsoft.com/office/drawing/2014/main" id="{AE3CCA18-792A-90F7-2058-44EB11626C98}"/>
              </a:ext>
            </a:extLst>
          </p:cNvPr>
          <p:cNvSpPr>
            <a:spLocks noGrp="1"/>
          </p:cNvSpPr>
          <p:nvPr/>
        </p:nvSpPr>
        <p:spPr>
          <a:xfrm>
            <a:off x="842962" y="2871851"/>
            <a:ext cx="1714500" cy="1095375"/>
          </a:xfrm>
          <a:prstGeom prst="rect">
            <a:avLst/>
          </a:prstGeom>
          <a:solidFill>
            <a:srgbClr val="D9D9D9"/>
          </a:solidFill>
          <a:ln w="12700">
            <a:solidFill>
              <a:srgbClr val="000000"/>
            </a:solidFill>
          </a:ln>
        </p:spPr>
        <p:txBody>
          <a:bodyPr vert="horz" wrap="square" lIns="0" tIns="321310" rIns="0" bIns="0">
            <a:spAutoFit/>
          </a:bodyPr>
          <a:lstStyle/>
          <a:p>
            <a:pPr marL="445770">
              <a:lnSpc>
                <a:spcPct val="100000"/>
              </a:lnSpc>
              <a:spcBef>
                <a:spcPts val="2530"/>
              </a:spcBef>
              <a:buNone/>
              <a:defRPr>
                <a:latin typeface="Aptos"/>
                <a:ea typeface="Aptos"/>
                <a:cs typeface="Aptos"/>
              </a:defRPr>
            </a:pPr>
            <a:r>
              <a:rPr sz="2750" spc="-10">
                <a:latin typeface="Aptos"/>
                <a:ea typeface="Aptos"/>
                <a:cs typeface="Aptos"/>
              </a:rPr>
              <a:t>Client</a:t>
            </a:r>
            <a:endParaRPr sz="2750">
              <a:latin typeface="Calibri"/>
              <a:ea typeface="Calibri"/>
              <a:cs typeface="Calibri"/>
            </a:endParaRPr>
          </a:p>
        </p:txBody>
      </p:sp>
      <p:sp>
        <p:nvSpPr>
          <p:cNvPr id="11" name="object 5">
            <a:extLst>
              <a:ext uri="{FF2B5EF4-FFF2-40B4-BE49-F238E27FC236}">
                <a16:creationId xmlns:a16="http://schemas.microsoft.com/office/drawing/2014/main" id="{406A88D6-568A-338A-F0C8-C760FCCE8E46}"/>
              </a:ext>
            </a:extLst>
          </p:cNvPr>
          <p:cNvSpPr>
            <a:spLocks noGrp="1"/>
          </p:cNvSpPr>
          <p:nvPr/>
        </p:nvSpPr>
        <p:spPr>
          <a:xfrm>
            <a:off x="8834501" y="2871851"/>
            <a:ext cx="1714500" cy="1095375"/>
          </a:xfrm>
          <a:prstGeom prst="rect">
            <a:avLst/>
          </a:prstGeom>
          <a:solidFill>
            <a:srgbClr val="D9D9D9"/>
          </a:solidFill>
          <a:ln w="12700">
            <a:solidFill>
              <a:srgbClr val="000000"/>
            </a:solidFill>
          </a:ln>
        </p:spPr>
        <p:txBody>
          <a:bodyPr vert="horz" wrap="square" lIns="0" tIns="321310" rIns="0" bIns="0">
            <a:spAutoFit/>
          </a:bodyPr>
          <a:lstStyle/>
          <a:p>
            <a:pPr marL="426720">
              <a:lnSpc>
                <a:spcPct val="100000"/>
              </a:lnSpc>
              <a:spcBef>
                <a:spcPts val="2530"/>
              </a:spcBef>
              <a:buNone/>
              <a:defRPr>
                <a:latin typeface="Aptos"/>
                <a:ea typeface="Aptos"/>
                <a:cs typeface="Aptos"/>
              </a:defRPr>
            </a:pPr>
            <a:r>
              <a:rPr sz="2750" spc="-10">
                <a:latin typeface="Aptos"/>
                <a:ea typeface="Aptos"/>
                <a:cs typeface="Aptos"/>
              </a:rPr>
              <a:t>Server</a:t>
            </a:r>
            <a:endParaRPr sz="2750">
              <a:latin typeface="Calibri"/>
              <a:ea typeface="Calibri"/>
              <a:cs typeface="Calibri"/>
            </a:endParaRPr>
          </a:p>
        </p:txBody>
      </p:sp>
      <p:sp>
        <p:nvSpPr>
          <p:cNvPr id="13" name="object 6">
            <a:extLst>
              <a:ext uri="{FF2B5EF4-FFF2-40B4-BE49-F238E27FC236}">
                <a16:creationId xmlns:a16="http://schemas.microsoft.com/office/drawing/2014/main" id="{2FDDEF6D-7B6B-0935-E04A-BF412EFF3CB2}"/>
              </a:ext>
            </a:extLst>
          </p:cNvPr>
          <p:cNvSpPr>
            <a:spLocks noGrp="1"/>
          </p:cNvSpPr>
          <p:nvPr/>
        </p:nvSpPr>
        <p:spPr>
          <a:xfrm>
            <a:off x="2743200" y="3390900"/>
            <a:ext cx="688975" cy="76835"/>
          </a:xfrm>
          <a:custGeom>
            <a:avLst/>
            <a:gdLst/>
            <a:ahLst/>
            <a:cxnLst/>
            <a:rect l="l" t="t" r="r" b="b"/>
            <a:pathLst>
              <a:path w="688975" h="76835">
                <a:moveTo>
                  <a:pt x="76200" y="508"/>
                </a:moveTo>
                <a:lnTo>
                  <a:pt x="0" y="38608"/>
                </a:lnTo>
                <a:lnTo>
                  <a:pt x="76200" y="76708"/>
                </a:lnTo>
                <a:lnTo>
                  <a:pt x="76200" y="48133"/>
                </a:lnTo>
                <a:lnTo>
                  <a:pt x="63500" y="48133"/>
                </a:lnTo>
                <a:lnTo>
                  <a:pt x="63500" y="29083"/>
                </a:lnTo>
                <a:lnTo>
                  <a:pt x="76200" y="29071"/>
                </a:lnTo>
                <a:lnTo>
                  <a:pt x="76200" y="508"/>
                </a:lnTo>
                <a:close/>
              </a:path>
              <a:path w="688975" h="76835">
                <a:moveTo>
                  <a:pt x="669639" y="28575"/>
                </a:moveTo>
                <a:lnTo>
                  <a:pt x="625094" y="28575"/>
                </a:lnTo>
                <a:lnTo>
                  <a:pt x="625221" y="47625"/>
                </a:lnTo>
                <a:lnTo>
                  <a:pt x="612473" y="47636"/>
                </a:lnTo>
                <a:lnTo>
                  <a:pt x="612521" y="76200"/>
                </a:lnTo>
                <a:lnTo>
                  <a:pt x="688721" y="38100"/>
                </a:lnTo>
                <a:lnTo>
                  <a:pt x="669639" y="28575"/>
                </a:lnTo>
                <a:close/>
              </a:path>
              <a:path w="688975" h="76835">
                <a:moveTo>
                  <a:pt x="76200" y="29071"/>
                </a:moveTo>
                <a:lnTo>
                  <a:pt x="63500" y="29083"/>
                </a:lnTo>
                <a:lnTo>
                  <a:pt x="63500" y="48133"/>
                </a:lnTo>
                <a:lnTo>
                  <a:pt x="76200" y="48121"/>
                </a:lnTo>
                <a:lnTo>
                  <a:pt x="76200" y="29071"/>
                </a:lnTo>
                <a:close/>
              </a:path>
              <a:path w="688975" h="76835">
                <a:moveTo>
                  <a:pt x="76200" y="48121"/>
                </a:moveTo>
                <a:lnTo>
                  <a:pt x="63500" y="48133"/>
                </a:lnTo>
                <a:lnTo>
                  <a:pt x="76200" y="48133"/>
                </a:lnTo>
                <a:close/>
              </a:path>
              <a:path w="688975" h="76835">
                <a:moveTo>
                  <a:pt x="612441" y="28586"/>
                </a:moveTo>
                <a:lnTo>
                  <a:pt x="76200" y="29071"/>
                </a:lnTo>
                <a:lnTo>
                  <a:pt x="76200" y="48121"/>
                </a:lnTo>
                <a:lnTo>
                  <a:pt x="612473" y="47636"/>
                </a:lnTo>
                <a:lnTo>
                  <a:pt x="612441" y="28586"/>
                </a:lnTo>
                <a:close/>
              </a:path>
              <a:path w="688975" h="76835">
                <a:moveTo>
                  <a:pt x="625094" y="28575"/>
                </a:moveTo>
                <a:lnTo>
                  <a:pt x="612441" y="28586"/>
                </a:lnTo>
                <a:lnTo>
                  <a:pt x="612473" y="47636"/>
                </a:lnTo>
                <a:lnTo>
                  <a:pt x="625221" y="47625"/>
                </a:lnTo>
                <a:lnTo>
                  <a:pt x="625094" y="28575"/>
                </a:lnTo>
                <a:close/>
              </a:path>
              <a:path w="688975" h="76835">
                <a:moveTo>
                  <a:pt x="612394" y="0"/>
                </a:moveTo>
                <a:lnTo>
                  <a:pt x="612441" y="28586"/>
                </a:lnTo>
                <a:lnTo>
                  <a:pt x="669639" y="28575"/>
                </a:lnTo>
                <a:lnTo>
                  <a:pt x="612394" y="0"/>
                </a:lnTo>
                <a:close/>
              </a:path>
            </a:pathLst>
          </a:custGeom>
          <a:solidFill>
            <a:srgbClr val="000000"/>
          </a:solidFill>
        </p:spPr>
        <p:txBody>
          <a:bodyPr wrap="square" lIns="0" tIns="0" rIns="0" bIns="0"/>
          <a:lstStyle/>
          <a:p>
            <a:endParaRPr/>
          </a:p>
        </p:txBody>
      </p:sp>
      <p:sp>
        <p:nvSpPr>
          <p:cNvPr id="17" name="object 7">
            <a:extLst>
              <a:ext uri="{FF2B5EF4-FFF2-40B4-BE49-F238E27FC236}">
                <a16:creationId xmlns:a16="http://schemas.microsoft.com/office/drawing/2014/main" id="{48153F12-0C6D-7AAF-4BBF-FE9EE427F0DC}"/>
              </a:ext>
            </a:extLst>
          </p:cNvPr>
          <p:cNvSpPr>
            <a:spLocks noGrp="1"/>
          </p:cNvSpPr>
          <p:nvPr/>
        </p:nvSpPr>
        <p:spPr>
          <a:xfrm>
            <a:off x="3576701" y="2890901"/>
            <a:ext cx="1714500" cy="1095375"/>
          </a:xfrm>
          <a:prstGeom prst="rect">
            <a:avLst/>
          </a:prstGeom>
          <a:solidFill>
            <a:srgbClr val="D9D9D9"/>
          </a:solidFill>
          <a:ln w="12700">
            <a:solidFill>
              <a:srgbClr val="000000"/>
            </a:solidFill>
          </a:ln>
        </p:spPr>
        <p:txBody>
          <a:bodyPr vert="horz" wrap="square" lIns="0" tIns="314960" rIns="0" bIns="0">
            <a:spAutoFit/>
          </a:bodyPr>
          <a:lstStyle/>
          <a:p>
            <a:pPr marL="452120">
              <a:lnSpc>
                <a:spcPct val="100000"/>
              </a:lnSpc>
              <a:spcBef>
                <a:spcPts val="2480"/>
              </a:spcBef>
              <a:buNone/>
              <a:defRPr>
                <a:latin typeface="Aptos"/>
                <a:ea typeface="Aptos"/>
                <a:cs typeface="Aptos"/>
              </a:defRPr>
            </a:pPr>
            <a:r>
              <a:rPr sz="2750" spc="-10">
                <a:latin typeface="Aptos"/>
                <a:ea typeface="Aptos"/>
                <a:cs typeface="Aptos"/>
              </a:rPr>
              <a:t>Proxy</a:t>
            </a:r>
            <a:endParaRPr sz="2750">
              <a:latin typeface="Calibri"/>
              <a:ea typeface="Calibri"/>
              <a:cs typeface="Calibri"/>
            </a:endParaRPr>
          </a:p>
        </p:txBody>
      </p:sp>
      <p:sp>
        <p:nvSpPr>
          <p:cNvPr id="19" name="object 8">
            <a:extLst>
              <a:ext uri="{FF2B5EF4-FFF2-40B4-BE49-F238E27FC236}">
                <a16:creationId xmlns:a16="http://schemas.microsoft.com/office/drawing/2014/main" id="{B042D10B-2F8F-1662-E3D1-E020C91AC4EA}"/>
              </a:ext>
            </a:extLst>
          </p:cNvPr>
          <p:cNvSpPr>
            <a:spLocks noGrp="1"/>
          </p:cNvSpPr>
          <p:nvPr/>
        </p:nvSpPr>
        <p:spPr>
          <a:xfrm>
            <a:off x="6196076" y="2890901"/>
            <a:ext cx="1724025" cy="1095375"/>
          </a:xfrm>
          <a:prstGeom prst="rect">
            <a:avLst/>
          </a:prstGeom>
          <a:solidFill>
            <a:srgbClr val="D9D9D9"/>
          </a:solidFill>
          <a:ln w="12700">
            <a:solidFill>
              <a:srgbClr val="000000"/>
            </a:solidFill>
          </a:ln>
        </p:spPr>
        <p:txBody>
          <a:bodyPr vert="horz" wrap="square" lIns="0" tIns="314960" rIns="0" bIns="0">
            <a:spAutoFit/>
          </a:bodyPr>
          <a:lstStyle/>
          <a:p>
            <a:pPr marL="457200">
              <a:lnSpc>
                <a:spcPct val="100000"/>
              </a:lnSpc>
              <a:spcBef>
                <a:spcPts val="2480"/>
              </a:spcBef>
              <a:buNone/>
              <a:defRPr>
                <a:latin typeface="Aptos"/>
                <a:ea typeface="Aptos"/>
                <a:cs typeface="Aptos"/>
              </a:defRPr>
            </a:pPr>
            <a:r>
              <a:rPr sz="2750" spc="-10">
                <a:latin typeface="Aptos"/>
                <a:ea typeface="Aptos"/>
                <a:cs typeface="Aptos"/>
              </a:rPr>
              <a:t>Proxy</a:t>
            </a:r>
            <a:endParaRPr sz="2750">
              <a:latin typeface="Calibri"/>
              <a:ea typeface="Calibri"/>
              <a:cs typeface="Calibri"/>
            </a:endParaRPr>
          </a:p>
        </p:txBody>
      </p:sp>
      <p:sp>
        <p:nvSpPr>
          <p:cNvPr id="21" name="object 9">
            <a:extLst>
              <a:ext uri="{FF2B5EF4-FFF2-40B4-BE49-F238E27FC236}">
                <a16:creationId xmlns:a16="http://schemas.microsoft.com/office/drawing/2014/main" id="{5164F4E9-609B-8912-875C-C6F2DCB60341}"/>
              </a:ext>
            </a:extLst>
          </p:cNvPr>
          <p:cNvSpPr>
            <a:spLocks noGrp="1"/>
          </p:cNvSpPr>
          <p:nvPr/>
        </p:nvSpPr>
        <p:spPr>
          <a:xfrm>
            <a:off x="8048625" y="3381375"/>
            <a:ext cx="688975" cy="76835"/>
          </a:xfrm>
          <a:custGeom>
            <a:avLst/>
            <a:gdLst/>
            <a:ahLst/>
            <a:cxnLst/>
            <a:rect l="l" t="t" r="r" b="b"/>
            <a:pathLst>
              <a:path w="688975" h="76835">
                <a:moveTo>
                  <a:pt x="76200" y="508"/>
                </a:moveTo>
                <a:lnTo>
                  <a:pt x="0" y="38608"/>
                </a:lnTo>
                <a:lnTo>
                  <a:pt x="76200" y="76708"/>
                </a:lnTo>
                <a:lnTo>
                  <a:pt x="76200" y="48133"/>
                </a:lnTo>
                <a:lnTo>
                  <a:pt x="63500" y="48133"/>
                </a:lnTo>
                <a:lnTo>
                  <a:pt x="63500" y="29083"/>
                </a:lnTo>
                <a:lnTo>
                  <a:pt x="76200" y="29071"/>
                </a:lnTo>
                <a:lnTo>
                  <a:pt x="76200" y="508"/>
                </a:lnTo>
                <a:close/>
              </a:path>
              <a:path w="688975" h="76835">
                <a:moveTo>
                  <a:pt x="669639" y="28575"/>
                </a:moveTo>
                <a:lnTo>
                  <a:pt x="625094" y="28575"/>
                </a:lnTo>
                <a:lnTo>
                  <a:pt x="625221" y="47625"/>
                </a:lnTo>
                <a:lnTo>
                  <a:pt x="612473" y="47636"/>
                </a:lnTo>
                <a:lnTo>
                  <a:pt x="612521" y="76200"/>
                </a:lnTo>
                <a:lnTo>
                  <a:pt x="688721" y="38100"/>
                </a:lnTo>
                <a:lnTo>
                  <a:pt x="669639" y="28575"/>
                </a:lnTo>
                <a:close/>
              </a:path>
              <a:path w="688975" h="76835">
                <a:moveTo>
                  <a:pt x="76200" y="29071"/>
                </a:moveTo>
                <a:lnTo>
                  <a:pt x="63500" y="29083"/>
                </a:lnTo>
                <a:lnTo>
                  <a:pt x="63500" y="48133"/>
                </a:lnTo>
                <a:lnTo>
                  <a:pt x="76200" y="48121"/>
                </a:lnTo>
                <a:lnTo>
                  <a:pt x="76200" y="29071"/>
                </a:lnTo>
                <a:close/>
              </a:path>
              <a:path w="688975" h="76835">
                <a:moveTo>
                  <a:pt x="76200" y="48121"/>
                </a:moveTo>
                <a:lnTo>
                  <a:pt x="63500" y="48133"/>
                </a:lnTo>
                <a:lnTo>
                  <a:pt x="76200" y="48133"/>
                </a:lnTo>
                <a:close/>
              </a:path>
              <a:path w="688975" h="76835">
                <a:moveTo>
                  <a:pt x="612441" y="28586"/>
                </a:moveTo>
                <a:lnTo>
                  <a:pt x="76200" y="29071"/>
                </a:lnTo>
                <a:lnTo>
                  <a:pt x="76200" y="48121"/>
                </a:lnTo>
                <a:lnTo>
                  <a:pt x="612473" y="47636"/>
                </a:lnTo>
                <a:lnTo>
                  <a:pt x="612441" y="28586"/>
                </a:lnTo>
                <a:close/>
              </a:path>
              <a:path w="688975" h="76835">
                <a:moveTo>
                  <a:pt x="625094" y="28575"/>
                </a:moveTo>
                <a:lnTo>
                  <a:pt x="612441" y="28586"/>
                </a:lnTo>
                <a:lnTo>
                  <a:pt x="612473" y="47636"/>
                </a:lnTo>
                <a:lnTo>
                  <a:pt x="625221" y="47625"/>
                </a:lnTo>
                <a:lnTo>
                  <a:pt x="625094" y="28575"/>
                </a:lnTo>
                <a:close/>
              </a:path>
              <a:path w="688975" h="76835">
                <a:moveTo>
                  <a:pt x="612394" y="0"/>
                </a:moveTo>
                <a:lnTo>
                  <a:pt x="612441" y="28586"/>
                </a:lnTo>
                <a:lnTo>
                  <a:pt x="669639" y="28575"/>
                </a:lnTo>
                <a:lnTo>
                  <a:pt x="612394" y="0"/>
                </a:lnTo>
                <a:close/>
              </a:path>
            </a:pathLst>
          </a:custGeom>
          <a:solidFill>
            <a:srgbClr val="000000"/>
          </a:solidFill>
        </p:spPr>
        <p:txBody>
          <a:bodyPr wrap="square" lIns="0" tIns="0" rIns="0" bIns="0"/>
          <a:lstStyle/>
          <a:p>
            <a:endParaRPr/>
          </a:p>
        </p:txBody>
      </p:sp>
      <p:sp>
        <p:nvSpPr>
          <p:cNvPr id="23" name="object 10">
            <a:extLst>
              <a:ext uri="{FF2B5EF4-FFF2-40B4-BE49-F238E27FC236}">
                <a16:creationId xmlns:a16="http://schemas.microsoft.com/office/drawing/2014/main" id="{EBAC3F5E-1D42-6F78-6678-DE42908A7017}"/>
              </a:ext>
            </a:extLst>
          </p:cNvPr>
          <p:cNvSpPr>
            <a:spLocks noGrp="1"/>
          </p:cNvSpPr>
          <p:nvPr/>
        </p:nvSpPr>
        <p:spPr>
          <a:xfrm>
            <a:off x="5400675" y="3381375"/>
            <a:ext cx="688975" cy="76835"/>
          </a:xfrm>
          <a:custGeom>
            <a:avLst/>
            <a:gdLst/>
            <a:ahLst/>
            <a:cxnLst/>
            <a:rect l="l" t="t" r="r" b="b"/>
            <a:pathLst>
              <a:path w="688975" h="76835">
                <a:moveTo>
                  <a:pt x="76200" y="508"/>
                </a:moveTo>
                <a:lnTo>
                  <a:pt x="0" y="38608"/>
                </a:lnTo>
                <a:lnTo>
                  <a:pt x="76200" y="76708"/>
                </a:lnTo>
                <a:lnTo>
                  <a:pt x="76200" y="48133"/>
                </a:lnTo>
                <a:lnTo>
                  <a:pt x="63500" y="48133"/>
                </a:lnTo>
                <a:lnTo>
                  <a:pt x="63500" y="29083"/>
                </a:lnTo>
                <a:lnTo>
                  <a:pt x="76200" y="29071"/>
                </a:lnTo>
                <a:lnTo>
                  <a:pt x="76200" y="508"/>
                </a:lnTo>
                <a:close/>
              </a:path>
              <a:path w="688975" h="76835">
                <a:moveTo>
                  <a:pt x="669639" y="28575"/>
                </a:moveTo>
                <a:lnTo>
                  <a:pt x="625094" y="28575"/>
                </a:lnTo>
                <a:lnTo>
                  <a:pt x="625221" y="47625"/>
                </a:lnTo>
                <a:lnTo>
                  <a:pt x="612473" y="47636"/>
                </a:lnTo>
                <a:lnTo>
                  <a:pt x="612521" y="76200"/>
                </a:lnTo>
                <a:lnTo>
                  <a:pt x="688721" y="38100"/>
                </a:lnTo>
                <a:lnTo>
                  <a:pt x="669639" y="28575"/>
                </a:lnTo>
                <a:close/>
              </a:path>
              <a:path w="688975" h="76835">
                <a:moveTo>
                  <a:pt x="76200" y="29071"/>
                </a:moveTo>
                <a:lnTo>
                  <a:pt x="63500" y="29083"/>
                </a:lnTo>
                <a:lnTo>
                  <a:pt x="63500" y="48133"/>
                </a:lnTo>
                <a:lnTo>
                  <a:pt x="76200" y="48121"/>
                </a:lnTo>
                <a:lnTo>
                  <a:pt x="76200" y="29071"/>
                </a:lnTo>
                <a:close/>
              </a:path>
              <a:path w="688975" h="76835">
                <a:moveTo>
                  <a:pt x="76200" y="48121"/>
                </a:moveTo>
                <a:lnTo>
                  <a:pt x="63500" y="48133"/>
                </a:lnTo>
                <a:lnTo>
                  <a:pt x="76200" y="48133"/>
                </a:lnTo>
                <a:close/>
              </a:path>
              <a:path w="688975" h="76835">
                <a:moveTo>
                  <a:pt x="612441" y="28586"/>
                </a:moveTo>
                <a:lnTo>
                  <a:pt x="76200" y="29071"/>
                </a:lnTo>
                <a:lnTo>
                  <a:pt x="76200" y="48121"/>
                </a:lnTo>
                <a:lnTo>
                  <a:pt x="612473" y="47636"/>
                </a:lnTo>
                <a:lnTo>
                  <a:pt x="612441" y="28586"/>
                </a:lnTo>
                <a:close/>
              </a:path>
              <a:path w="688975" h="76835">
                <a:moveTo>
                  <a:pt x="625094" y="28575"/>
                </a:moveTo>
                <a:lnTo>
                  <a:pt x="612441" y="28586"/>
                </a:lnTo>
                <a:lnTo>
                  <a:pt x="612473" y="47636"/>
                </a:lnTo>
                <a:lnTo>
                  <a:pt x="625221" y="47625"/>
                </a:lnTo>
                <a:lnTo>
                  <a:pt x="625094" y="28575"/>
                </a:lnTo>
                <a:close/>
              </a:path>
              <a:path w="688975" h="76835">
                <a:moveTo>
                  <a:pt x="612394" y="0"/>
                </a:moveTo>
                <a:lnTo>
                  <a:pt x="612441" y="28586"/>
                </a:lnTo>
                <a:lnTo>
                  <a:pt x="669639" y="28575"/>
                </a:lnTo>
                <a:lnTo>
                  <a:pt x="612394" y="0"/>
                </a:lnTo>
                <a:close/>
              </a:path>
            </a:pathLst>
          </a:custGeom>
          <a:solidFill>
            <a:srgbClr val="000000"/>
          </a:solidFill>
        </p:spPr>
        <p:txBody>
          <a:bodyPr wrap="square" lIns="0" tIns="0" rIns="0" bIns="0"/>
          <a:lstStyle/>
          <a:p>
            <a:endParaRPr/>
          </a:p>
        </p:txBody>
      </p:sp>
    </p:spTree>
    <p:extLst>
      <p:ext uri="{BB962C8B-B14F-4D97-AF65-F5344CB8AC3E}">
        <p14:creationId xmlns:p14="http://schemas.microsoft.com/office/powerpoint/2010/main" val="12352958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3EC45-EDAA-B286-CC79-5257822B7D6F}"/>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380">
                <a:latin typeface="Aptos Display"/>
                <a:ea typeface="Aptos Display"/>
                <a:cs typeface="Aptos Display"/>
              </a:rPr>
              <a:t>HTTP</a:t>
            </a:r>
            <a:endParaRPr/>
          </a:p>
        </p:txBody>
      </p:sp>
      <p:sp>
        <p:nvSpPr>
          <p:cNvPr id="4" name="object 3">
            <a:extLst>
              <a:ext uri="{FF2B5EF4-FFF2-40B4-BE49-F238E27FC236}">
                <a16:creationId xmlns:a16="http://schemas.microsoft.com/office/drawing/2014/main" id="{82F6582A-519B-F641-AE8D-AD556A263A7B}"/>
              </a:ext>
            </a:extLst>
          </p:cNvPr>
          <p:cNvSpPr>
            <a:spLocks noGrp="1"/>
          </p:cNvSpPr>
          <p:nvPr/>
        </p:nvSpPr>
        <p:spPr>
          <a:xfrm>
            <a:off x="787400" y="1309135"/>
            <a:ext cx="10893425" cy="4242442"/>
          </a:xfrm>
          <a:prstGeom prst="rect">
            <a:avLst/>
          </a:prstGeom>
        </p:spPr>
        <p:txBody>
          <a:bodyPr vert="horz" wrap="square" lIns="0" tIns="107314" rIns="0" bIns="0">
            <a:spAutoFit/>
          </a:bodyPr>
          <a:lstStyle/>
          <a:p>
            <a:pPr marL="12700" algn="l">
              <a:lnSpc>
                <a:spcPct val="100000"/>
              </a:lnSpc>
              <a:spcBef>
                <a:spcPts val="844"/>
              </a:spcBef>
              <a:buNone/>
              <a:defRPr>
                <a:latin typeface="Aptos"/>
                <a:ea typeface="Aptos"/>
                <a:cs typeface="Aptos"/>
              </a:defRPr>
            </a:pPr>
            <a:r>
              <a:rPr sz="2800" b="1" spc="-70">
                <a:latin typeface="Aptos"/>
                <a:ea typeface="Aptos"/>
                <a:cs typeface="Aptos"/>
              </a:rPr>
              <a:t>Request/Response</a:t>
            </a:r>
            <a:r>
              <a:rPr sz="2800" b="1" spc="140">
                <a:latin typeface="Aptos"/>
                <a:ea typeface="Aptos"/>
                <a:cs typeface="Aptos"/>
              </a:rPr>
              <a:t> </a:t>
            </a:r>
            <a:r>
              <a:rPr sz="2800" b="1" spc="-10">
                <a:latin typeface="Aptos"/>
                <a:ea typeface="Aptos"/>
                <a:cs typeface="Aptos"/>
              </a:rPr>
              <a:t>pattern</a:t>
            </a:r>
            <a:endParaRPr sz="2800" b="1">
              <a:latin typeface="Aptos (Body)"/>
              <a:ea typeface="Aptos (Body)"/>
              <a:cs typeface="Aptos (Body)"/>
            </a:endParaRPr>
          </a:p>
          <a:p>
            <a:pPr marL="212725" marR="4109085" algn="l">
              <a:lnSpc>
                <a:spcPct val="122900"/>
              </a:lnSpc>
              <a:buNone/>
              <a:defRPr>
                <a:latin typeface="Aptos"/>
                <a:ea typeface="Aptos"/>
                <a:cs typeface="Aptos"/>
              </a:defRPr>
            </a:pPr>
            <a:r>
              <a:rPr sz="2800">
                <a:latin typeface="Aptos"/>
                <a:ea typeface="Aptos"/>
                <a:cs typeface="Aptos"/>
              </a:rPr>
              <a:t>The client</a:t>
            </a:r>
            <a:r>
              <a:rPr sz="2800" spc="-70">
                <a:latin typeface="Aptos"/>
                <a:ea typeface="Aptos"/>
                <a:cs typeface="Aptos"/>
              </a:rPr>
              <a:t> </a:t>
            </a:r>
            <a:r>
              <a:rPr sz="2800" i="1" spc="-65">
                <a:latin typeface="Aptos"/>
                <a:ea typeface="Aptos"/>
                <a:cs typeface="Aptos"/>
              </a:rPr>
              <a:t>asks</a:t>
            </a:r>
            <a:r>
              <a:rPr sz="2800" i="1" spc="-30">
                <a:latin typeface="Aptos"/>
                <a:ea typeface="Aptos"/>
                <a:cs typeface="Aptos"/>
              </a:rPr>
              <a:t> </a:t>
            </a:r>
            <a:r>
              <a:rPr sz="2800">
                <a:latin typeface="Aptos"/>
                <a:ea typeface="Aptos"/>
                <a:cs typeface="Aptos"/>
              </a:rPr>
              <a:t>to</a:t>
            </a:r>
            <a:r>
              <a:rPr sz="2800" spc="10">
                <a:latin typeface="Aptos"/>
                <a:ea typeface="Aptos"/>
                <a:cs typeface="Aptos"/>
              </a:rPr>
              <a:t> </a:t>
            </a:r>
            <a:r>
              <a:rPr sz="2800" spc="-10">
                <a:latin typeface="Aptos"/>
                <a:ea typeface="Aptos"/>
                <a:cs typeface="Aptos"/>
              </a:rPr>
              <a:t>the</a:t>
            </a:r>
            <a:r>
              <a:rPr sz="2800" spc="-5">
                <a:latin typeface="Aptos"/>
                <a:ea typeface="Aptos"/>
                <a:cs typeface="Aptos"/>
              </a:rPr>
              <a:t> </a:t>
            </a:r>
            <a:r>
              <a:rPr sz="2800" spc="-50">
                <a:latin typeface="Aptos"/>
                <a:ea typeface="Aptos"/>
                <a:cs typeface="Aptos"/>
              </a:rPr>
              <a:t>server:</a:t>
            </a:r>
            <a:r>
              <a:rPr sz="2800" spc="50">
                <a:latin typeface="Aptos"/>
                <a:ea typeface="Aptos"/>
                <a:cs typeface="Aptos"/>
              </a:rPr>
              <a:t> </a:t>
            </a:r>
            <a:r>
              <a:rPr sz="2800" spc="-10">
                <a:latin typeface="Aptos"/>
                <a:ea typeface="Aptos"/>
                <a:cs typeface="Aptos"/>
              </a:rPr>
              <a:t>request </a:t>
            </a:r>
            <a:endParaRPr sz="2800" spc="-10">
              <a:latin typeface="Aptos (Body)"/>
              <a:ea typeface="Aptos (Body)"/>
              <a:cs typeface="Aptos (Body)"/>
            </a:endParaRPr>
          </a:p>
          <a:p>
            <a:pPr marL="212725" marR="4109085" algn="l">
              <a:lnSpc>
                <a:spcPct val="122900"/>
              </a:lnSpc>
              <a:buNone/>
              <a:defRPr>
                <a:latin typeface="Aptos"/>
                <a:ea typeface="Aptos"/>
                <a:cs typeface="Aptos"/>
              </a:defRPr>
            </a:pPr>
            <a:r>
              <a:rPr sz="2800" spc="-10">
                <a:latin typeface="Aptos"/>
                <a:ea typeface="Aptos"/>
                <a:cs typeface="Aptos"/>
              </a:rPr>
              <a:t>Server</a:t>
            </a:r>
            <a:r>
              <a:rPr sz="2800" spc="40">
                <a:latin typeface="Aptos"/>
                <a:ea typeface="Aptos"/>
                <a:cs typeface="Aptos"/>
              </a:rPr>
              <a:t> </a:t>
            </a:r>
            <a:r>
              <a:rPr sz="2800" i="1" spc="-135">
                <a:latin typeface="Aptos"/>
                <a:ea typeface="Aptos"/>
                <a:cs typeface="Aptos"/>
              </a:rPr>
              <a:t>answers</a:t>
            </a:r>
            <a:r>
              <a:rPr sz="2800" i="1" spc="15">
                <a:latin typeface="Aptos"/>
                <a:ea typeface="Aptos"/>
                <a:cs typeface="Aptos"/>
              </a:rPr>
              <a:t> </a:t>
            </a:r>
            <a:r>
              <a:rPr sz="2800">
                <a:latin typeface="Aptos"/>
                <a:ea typeface="Aptos"/>
                <a:cs typeface="Aptos"/>
              </a:rPr>
              <a:t>to</a:t>
            </a:r>
            <a:r>
              <a:rPr sz="2800" spc="-55">
                <a:latin typeface="Aptos"/>
                <a:ea typeface="Aptos"/>
                <a:cs typeface="Aptos"/>
              </a:rPr>
              <a:t> the </a:t>
            </a:r>
            <a:r>
              <a:rPr sz="2800" spc="-90">
                <a:latin typeface="Aptos"/>
                <a:ea typeface="Aptos"/>
                <a:cs typeface="Aptos"/>
              </a:rPr>
              <a:t>client:</a:t>
            </a:r>
            <a:r>
              <a:rPr sz="2800" spc="-15">
                <a:latin typeface="Aptos"/>
                <a:ea typeface="Aptos"/>
                <a:cs typeface="Aptos"/>
              </a:rPr>
              <a:t> </a:t>
            </a:r>
            <a:r>
              <a:rPr sz="2800" spc="-45">
                <a:latin typeface="Aptos"/>
                <a:ea typeface="Aptos"/>
                <a:cs typeface="Aptos"/>
              </a:rPr>
              <a:t>response</a:t>
            </a:r>
            <a:endParaRPr sz="2800">
              <a:latin typeface="Aptos (Body)"/>
              <a:ea typeface="Aptos (Body)"/>
              <a:cs typeface="Aptos (Body)"/>
            </a:endParaRPr>
          </a:p>
          <a:p>
            <a:pPr>
              <a:lnSpc>
                <a:spcPct val="100000"/>
              </a:lnSpc>
              <a:spcBef>
                <a:spcPts val="1380"/>
              </a:spcBef>
              <a:buNone/>
              <a:defRPr>
                <a:latin typeface="Aptos"/>
                <a:ea typeface="Aptos"/>
                <a:cs typeface="Aptos"/>
              </a:defRPr>
            </a:pPr>
            <a:endParaRPr sz="2800">
              <a:latin typeface="Aptos (Body)"/>
              <a:ea typeface="Aptos (Body)"/>
              <a:cs typeface="Aptos (Body)"/>
            </a:endParaRPr>
          </a:p>
          <a:p>
            <a:pPr marL="12700" algn="l">
              <a:lnSpc>
                <a:spcPct val="100000"/>
              </a:lnSpc>
              <a:buNone/>
              <a:defRPr>
                <a:latin typeface="Aptos"/>
                <a:ea typeface="Aptos"/>
                <a:cs typeface="Aptos"/>
              </a:defRPr>
            </a:pPr>
            <a:r>
              <a:rPr sz="2800" b="1" spc="160">
                <a:latin typeface="Aptos"/>
                <a:ea typeface="Aptos"/>
                <a:cs typeface="Aptos"/>
              </a:rPr>
              <a:t>HTTP</a:t>
            </a:r>
            <a:r>
              <a:rPr sz="2800" b="1" spc="120">
                <a:latin typeface="Aptos"/>
                <a:ea typeface="Aptos"/>
                <a:cs typeface="Aptos"/>
              </a:rPr>
              <a:t> </a:t>
            </a:r>
            <a:r>
              <a:rPr sz="2800" b="1">
                <a:latin typeface="Aptos"/>
                <a:ea typeface="Aptos"/>
                <a:cs typeface="Aptos"/>
              </a:rPr>
              <a:t>is</a:t>
            </a:r>
            <a:r>
              <a:rPr sz="2800" b="1" spc="105">
                <a:latin typeface="Aptos"/>
                <a:ea typeface="Aptos"/>
                <a:cs typeface="Aptos"/>
              </a:rPr>
              <a:t> </a:t>
            </a:r>
            <a:r>
              <a:rPr sz="2800" b="1" spc="-10">
                <a:latin typeface="Aptos"/>
                <a:ea typeface="Aptos"/>
                <a:cs typeface="Aptos"/>
              </a:rPr>
              <a:t>asymmetric</a:t>
            </a:r>
            <a:endParaRPr sz="2800" b="1">
              <a:latin typeface="Aptos (Body)"/>
              <a:ea typeface="Aptos (Body)"/>
              <a:cs typeface="Aptos (Body)"/>
            </a:endParaRPr>
          </a:p>
          <a:p>
            <a:pPr marL="212725" marR="4065270" algn="l">
              <a:lnSpc>
                <a:spcPct val="120600"/>
              </a:lnSpc>
              <a:spcBef>
                <a:spcPts val="75"/>
              </a:spcBef>
              <a:buNone/>
              <a:defRPr>
                <a:latin typeface="Aptos"/>
                <a:ea typeface="Aptos"/>
                <a:cs typeface="Aptos"/>
              </a:defRPr>
            </a:pPr>
            <a:r>
              <a:rPr sz="2800">
                <a:latin typeface="Aptos"/>
                <a:ea typeface="Aptos"/>
                <a:cs typeface="Aptos"/>
              </a:rPr>
              <a:t>The client</a:t>
            </a:r>
            <a:r>
              <a:rPr sz="2800" spc="-85">
                <a:latin typeface="Aptos"/>
                <a:ea typeface="Aptos"/>
                <a:cs typeface="Aptos"/>
              </a:rPr>
              <a:t> </a:t>
            </a:r>
            <a:r>
              <a:rPr sz="2800" spc="-90">
                <a:latin typeface="Aptos"/>
                <a:ea typeface="Aptos"/>
                <a:cs typeface="Aptos"/>
              </a:rPr>
              <a:t>initiates</a:t>
            </a:r>
            <a:r>
              <a:rPr sz="2800" spc="-25">
                <a:latin typeface="Aptos"/>
                <a:ea typeface="Aptos"/>
                <a:cs typeface="Aptos"/>
              </a:rPr>
              <a:t> </a:t>
            </a:r>
            <a:r>
              <a:rPr sz="2800" spc="-10">
                <a:latin typeface="Aptos"/>
                <a:ea typeface="Aptos"/>
                <a:cs typeface="Aptos"/>
              </a:rPr>
              <a:t>the </a:t>
            </a:r>
            <a:r>
              <a:rPr sz="2800" spc="-75">
                <a:latin typeface="Aptos"/>
                <a:ea typeface="Aptos"/>
                <a:cs typeface="Aptos"/>
              </a:rPr>
              <a:t>communication. </a:t>
            </a:r>
          </a:p>
          <a:p>
            <a:pPr marL="212725" marR="4065270" algn="l">
              <a:lnSpc>
                <a:spcPct val="120600"/>
              </a:lnSpc>
              <a:spcBef>
                <a:spcPts val="75"/>
              </a:spcBef>
              <a:buNone/>
              <a:defRPr>
                <a:latin typeface="Aptos"/>
                <a:ea typeface="Aptos"/>
                <a:cs typeface="Aptos"/>
              </a:defRPr>
            </a:pPr>
            <a:r>
              <a:rPr sz="2800" spc="-75">
                <a:latin typeface="Aptos"/>
                <a:ea typeface="Aptos"/>
                <a:cs typeface="Aptos"/>
              </a:rPr>
              <a:t>The </a:t>
            </a:r>
            <a:r>
              <a:rPr sz="2800" spc="-10">
                <a:latin typeface="Aptos"/>
                <a:ea typeface="Aptos"/>
                <a:cs typeface="Aptos"/>
              </a:rPr>
              <a:t>Server</a:t>
            </a:r>
            <a:r>
              <a:rPr sz="2800" spc="35">
                <a:latin typeface="Aptos"/>
                <a:ea typeface="Aptos"/>
                <a:cs typeface="Aptos"/>
              </a:rPr>
              <a:t> </a:t>
            </a:r>
            <a:r>
              <a:rPr sz="2800" spc="-45">
                <a:latin typeface="Aptos"/>
                <a:ea typeface="Aptos"/>
                <a:cs typeface="Aptos"/>
              </a:rPr>
              <a:t>waits</a:t>
            </a:r>
            <a:r>
              <a:rPr sz="2800" spc="-10">
                <a:latin typeface="Aptos"/>
                <a:ea typeface="Aptos"/>
                <a:cs typeface="Aptos"/>
              </a:rPr>
              <a:t> </a:t>
            </a:r>
            <a:r>
              <a:rPr sz="2800">
                <a:latin typeface="Aptos"/>
                <a:ea typeface="Aptos"/>
                <a:cs typeface="Aptos"/>
              </a:rPr>
              <a:t>for</a:t>
            </a:r>
            <a:r>
              <a:rPr sz="2800" spc="-20">
                <a:latin typeface="Aptos"/>
                <a:ea typeface="Aptos"/>
                <a:cs typeface="Aptos"/>
              </a:rPr>
              <a:t> </a:t>
            </a:r>
            <a:r>
              <a:rPr sz="2800">
                <a:latin typeface="Aptos"/>
                <a:ea typeface="Aptos"/>
                <a:cs typeface="Aptos"/>
              </a:rPr>
              <a:t>a</a:t>
            </a:r>
            <a:r>
              <a:rPr sz="2800" spc="-85">
                <a:latin typeface="Aptos"/>
                <a:ea typeface="Aptos"/>
                <a:cs typeface="Aptos"/>
              </a:rPr>
              <a:t> </a:t>
            </a:r>
            <a:r>
              <a:rPr sz="2800" spc="-10">
                <a:latin typeface="Aptos"/>
                <a:ea typeface="Aptos"/>
                <a:cs typeface="Aptos"/>
              </a:rPr>
              <a:t>request.</a:t>
            </a:r>
            <a:endParaRPr sz="2800">
              <a:latin typeface="Aptos (Body)"/>
              <a:ea typeface="Aptos (Body)"/>
              <a:cs typeface="Aptos (Body)"/>
            </a:endParaRPr>
          </a:p>
          <a:p>
            <a:pPr marL="212725" algn="l">
              <a:lnSpc>
                <a:spcPct val="100000"/>
              </a:lnSpc>
              <a:spcBef>
                <a:spcPts val="755"/>
              </a:spcBef>
              <a:buNone/>
              <a:defRPr>
                <a:latin typeface="Aptos"/>
                <a:ea typeface="Aptos"/>
                <a:cs typeface="Aptos"/>
              </a:defRPr>
            </a:pPr>
            <a:r>
              <a:rPr sz="2800" spc="-10">
                <a:latin typeface="Aptos"/>
                <a:ea typeface="Aptos"/>
                <a:cs typeface="Aptos"/>
              </a:rPr>
              <a:t>The server</a:t>
            </a:r>
            <a:r>
              <a:rPr sz="2800" spc="-60">
                <a:latin typeface="Aptos"/>
                <a:ea typeface="Aptos"/>
                <a:cs typeface="Aptos"/>
              </a:rPr>
              <a:t> </a:t>
            </a:r>
            <a:r>
              <a:rPr sz="2800" spc="-35">
                <a:latin typeface="Aptos"/>
                <a:ea typeface="Aptos"/>
                <a:cs typeface="Aptos"/>
              </a:rPr>
              <a:t>cannot</a:t>
            </a:r>
            <a:r>
              <a:rPr sz="2800" spc="-125">
                <a:latin typeface="Aptos"/>
                <a:ea typeface="Aptos"/>
                <a:cs typeface="Aptos"/>
              </a:rPr>
              <a:t> </a:t>
            </a:r>
            <a:r>
              <a:rPr sz="2800" spc="-30">
                <a:latin typeface="Aptos"/>
                <a:ea typeface="Aptos"/>
                <a:cs typeface="Aptos"/>
              </a:rPr>
              <a:t>send</a:t>
            </a:r>
            <a:r>
              <a:rPr sz="2800" spc="10">
                <a:latin typeface="Aptos"/>
                <a:ea typeface="Aptos"/>
                <a:cs typeface="Aptos"/>
              </a:rPr>
              <a:t> </a:t>
            </a:r>
            <a:r>
              <a:rPr sz="2800" spc="-90">
                <a:latin typeface="Aptos"/>
                <a:ea typeface="Aptos"/>
                <a:cs typeface="Aptos"/>
              </a:rPr>
              <a:t>anything</a:t>
            </a:r>
            <a:r>
              <a:rPr sz="2800" spc="-30">
                <a:latin typeface="Aptos"/>
                <a:ea typeface="Aptos"/>
                <a:cs typeface="Aptos"/>
              </a:rPr>
              <a:t> </a:t>
            </a:r>
            <a:r>
              <a:rPr sz="2800">
                <a:latin typeface="Aptos"/>
                <a:ea typeface="Aptos"/>
                <a:cs typeface="Aptos"/>
              </a:rPr>
              <a:t>to</a:t>
            </a:r>
            <a:r>
              <a:rPr sz="2800" spc="5">
                <a:latin typeface="Aptos"/>
                <a:ea typeface="Aptos"/>
                <a:cs typeface="Aptos"/>
              </a:rPr>
              <a:t> </a:t>
            </a:r>
            <a:r>
              <a:rPr sz="2800">
                <a:latin typeface="Aptos"/>
                <a:ea typeface="Aptos"/>
                <a:cs typeface="Aptos"/>
              </a:rPr>
              <a:t>a</a:t>
            </a:r>
            <a:r>
              <a:rPr sz="2800" spc="-35">
                <a:latin typeface="Aptos"/>
                <a:ea typeface="Aptos"/>
                <a:cs typeface="Aptos"/>
              </a:rPr>
              <a:t> </a:t>
            </a:r>
            <a:r>
              <a:rPr sz="2800" spc="-60">
                <a:latin typeface="Aptos"/>
                <a:ea typeface="Aptos"/>
                <a:cs typeface="Aptos"/>
              </a:rPr>
              <a:t>client</a:t>
            </a:r>
            <a:r>
              <a:rPr sz="2800" spc="-75">
                <a:latin typeface="Aptos"/>
                <a:ea typeface="Aptos"/>
                <a:cs typeface="Aptos"/>
              </a:rPr>
              <a:t> </a:t>
            </a:r>
            <a:r>
              <a:rPr sz="2800" spc="-30">
                <a:latin typeface="Aptos"/>
                <a:ea typeface="Aptos"/>
                <a:cs typeface="Aptos"/>
              </a:rPr>
              <a:t>without</a:t>
            </a:r>
            <a:r>
              <a:rPr sz="2800" spc="-25">
                <a:latin typeface="Aptos"/>
                <a:ea typeface="Aptos"/>
                <a:cs typeface="Aptos"/>
              </a:rPr>
              <a:t> </a:t>
            </a:r>
            <a:r>
              <a:rPr sz="2800" spc="-10">
                <a:latin typeface="Aptos"/>
                <a:ea typeface="Aptos"/>
                <a:cs typeface="Aptos"/>
              </a:rPr>
              <a:t>the </a:t>
            </a:r>
            <a:r>
              <a:rPr sz="2800" spc="-55">
                <a:latin typeface="Aptos"/>
                <a:ea typeface="Aptos"/>
                <a:cs typeface="Aptos"/>
              </a:rPr>
              <a:t>client</a:t>
            </a:r>
            <a:r>
              <a:rPr sz="2800" spc="-20">
                <a:latin typeface="Aptos"/>
                <a:ea typeface="Aptos"/>
                <a:cs typeface="Aptos"/>
              </a:rPr>
              <a:t> </a:t>
            </a:r>
            <a:r>
              <a:rPr sz="2800" spc="-35">
                <a:latin typeface="Aptos"/>
                <a:ea typeface="Aptos"/>
                <a:cs typeface="Aptos"/>
              </a:rPr>
              <a:t>asked</a:t>
            </a:r>
            <a:endParaRPr sz="2800">
              <a:latin typeface="Aptos (Body)"/>
              <a:ea typeface="Aptos (Body)"/>
              <a:cs typeface="Aptos (Body)"/>
            </a:endParaRPr>
          </a:p>
        </p:txBody>
      </p:sp>
    </p:spTree>
    <p:extLst>
      <p:ext uri="{BB962C8B-B14F-4D97-AF65-F5344CB8AC3E}">
        <p14:creationId xmlns:p14="http://schemas.microsoft.com/office/powerpoint/2010/main" val="5727876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18BA8-E838-FD21-6EB4-5E7122E3404F}"/>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380">
                <a:latin typeface="Aptos Display"/>
                <a:ea typeface="Aptos Display"/>
                <a:cs typeface="Aptos Display"/>
              </a:rPr>
              <a:t>HTTP</a:t>
            </a:r>
            <a:endParaRPr/>
          </a:p>
        </p:txBody>
      </p:sp>
      <p:sp>
        <p:nvSpPr>
          <p:cNvPr id="5" name="object 3">
            <a:extLst>
              <a:ext uri="{FF2B5EF4-FFF2-40B4-BE49-F238E27FC236}">
                <a16:creationId xmlns:a16="http://schemas.microsoft.com/office/drawing/2014/main" id="{70917AED-A28A-CC2F-767B-832FEF3A72C9}"/>
              </a:ext>
            </a:extLst>
          </p:cNvPr>
          <p:cNvSpPr>
            <a:spLocks noGrp="1"/>
          </p:cNvSpPr>
          <p:nvPr/>
        </p:nvSpPr>
        <p:spPr>
          <a:xfrm>
            <a:off x="3138551" y="2843276"/>
            <a:ext cx="1714500" cy="1104900"/>
          </a:xfrm>
          <a:prstGeom prst="rect">
            <a:avLst/>
          </a:prstGeom>
          <a:solidFill>
            <a:srgbClr val="D9D9D9"/>
          </a:solidFill>
          <a:ln w="12700">
            <a:solidFill>
              <a:srgbClr val="000000"/>
            </a:solidFill>
          </a:ln>
        </p:spPr>
        <p:txBody>
          <a:bodyPr vert="horz" wrap="square" lIns="0" tIns="323215" rIns="0" bIns="0">
            <a:spAutoFit/>
          </a:bodyPr>
          <a:lstStyle/>
          <a:p>
            <a:pPr marL="450850">
              <a:lnSpc>
                <a:spcPct val="100000"/>
              </a:lnSpc>
              <a:spcBef>
                <a:spcPts val="2545"/>
              </a:spcBef>
              <a:buNone/>
              <a:defRPr>
                <a:latin typeface="Aptos"/>
                <a:ea typeface="Aptos"/>
                <a:cs typeface="Aptos"/>
              </a:defRPr>
            </a:pPr>
            <a:r>
              <a:rPr sz="2750" spc="-10">
                <a:latin typeface="Aptos"/>
                <a:ea typeface="Aptos"/>
                <a:cs typeface="Aptos"/>
              </a:rPr>
              <a:t>Client</a:t>
            </a:r>
            <a:endParaRPr sz="2750">
              <a:latin typeface="Calibri"/>
              <a:ea typeface="Calibri"/>
              <a:cs typeface="Calibri"/>
            </a:endParaRPr>
          </a:p>
        </p:txBody>
      </p:sp>
      <p:sp>
        <p:nvSpPr>
          <p:cNvPr id="7" name="object 4">
            <a:extLst>
              <a:ext uri="{FF2B5EF4-FFF2-40B4-BE49-F238E27FC236}">
                <a16:creationId xmlns:a16="http://schemas.microsoft.com/office/drawing/2014/main" id="{F2805528-A4F9-7E40-0B8B-F9A7EC3387B0}"/>
              </a:ext>
            </a:extLst>
          </p:cNvPr>
          <p:cNvSpPr>
            <a:spLocks noGrp="1"/>
          </p:cNvSpPr>
          <p:nvPr/>
        </p:nvSpPr>
        <p:spPr>
          <a:xfrm>
            <a:off x="7158101" y="2843276"/>
            <a:ext cx="1714500" cy="1104900"/>
          </a:xfrm>
          <a:prstGeom prst="rect">
            <a:avLst/>
          </a:prstGeom>
          <a:solidFill>
            <a:srgbClr val="D9D9D9"/>
          </a:solidFill>
          <a:ln w="12700">
            <a:solidFill>
              <a:srgbClr val="000000"/>
            </a:solidFill>
          </a:ln>
        </p:spPr>
        <p:txBody>
          <a:bodyPr vert="horz" wrap="square" lIns="0" tIns="323215" rIns="0" bIns="0">
            <a:spAutoFit/>
          </a:bodyPr>
          <a:lstStyle/>
          <a:p>
            <a:pPr marL="422909">
              <a:lnSpc>
                <a:spcPct val="100000"/>
              </a:lnSpc>
              <a:spcBef>
                <a:spcPts val="2545"/>
              </a:spcBef>
              <a:buNone/>
              <a:defRPr>
                <a:latin typeface="Aptos"/>
                <a:ea typeface="Aptos"/>
                <a:cs typeface="Aptos"/>
              </a:defRPr>
            </a:pPr>
            <a:r>
              <a:rPr sz="2750" spc="-10">
                <a:latin typeface="Aptos"/>
                <a:ea typeface="Aptos"/>
                <a:cs typeface="Aptos"/>
              </a:rPr>
              <a:t>Server</a:t>
            </a:r>
            <a:endParaRPr sz="2750">
              <a:latin typeface="Calibri"/>
              <a:ea typeface="Calibri"/>
              <a:cs typeface="Calibri"/>
            </a:endParaRPr>
          </a:p>
        </p:txBody>
      </p:sp>
      <p:sp>
        <p:nvSpPr>
          <p:cNvPr id="9" name="object 5">
            <a:extLst>
              <a:ext uri="{FF2B5EF4-FFF2-40B4-BE49-F238E27FC236}">
                <a16:creationId xmlns:a16="http://schemas.microsoft.com/office/drawing/2014/main" id="{08949193-135B-4B1E-4331-9CAAC79977AE}"/>
              </a:ext>
            </a:extLst>
          </p:cNvPr>
          <p:cNvSpPr>
            <a:spLocks noGrp="1"/>
          </p:cNvSpPr>
          <p:nvPr/>
        </p:nvSpPr>
        <p:spPr>
          <a:xfrm>
            <a:off x="4962525" y="3059810"/>
            <a:ext cx="2044700" cy="76200"/>
          </a:xfrm>
          <a:custGeom>
            <a:avLst/>
            <a:gdLst/>
            <a:ahLst/>
            <a:cxnLst/>
            <a:rect l="l" t="t" r="r" b="b"/>
            <a:pathLst>
              <a:path w="2044700" h="76200">
                <a:moveTo>
                  <a:pt x="1968246" y="0"/>
                </a:moveTo>
                <a:lnTo>
                  <a:pt x="1968102" y="28625"/>
                </a:lnTo>
                <a:lnTo>
                  <a:pt x="1980819" y="28701"/>
                </a:lnTo>
                <a:lnTo>
                  <a:pt x="1980692" y="47751"/>
                </a:lnTo>
                <a:lnTo>
                  <a:pt x="1968007" y="47751"/>
                </a:lnTo>
                <a:lnTo>
                  <a:pt x="1967865" y="76200"/>
                </a:lnTo>
                <a:lnTo>
                  <a:pt x="2025722" y="47751"/>
                </a:lnTo>
                <a:lnTo>
                  <a:pt x="1980692" y="47751"/>
                </a:lnTo>
                <a:lnTo>
                  <a:pt x="2025877" y="47675"/>
                </a:lnTo>
                <a:lnTo>
                  <a:pt x="2044319" y="38608"/>
                </a:lnTo>
                <a:lnTo>
                  <a:pt x="1968246" y="0"/>
                </a:lnTo>
                <a:close/>
              </a:path>
              <a:path w="2044700" h="76200">
                <a:moveTo>
                  <a:pt x="1968102" y="28625"/>
                </a:moveTo>
                <a:lnTo>
                  <a:pt x="1968007" y="47675"/>
                </a:lnTo>
                <a:lnTo>
                  <a:pt x="1980692" y="47751"/>
                </a:lnTo>
                <a:lnTo>
                  <a:pt x="1980819" y="28701"/>
                </a:lnTo>
                <a:lnTo>
                  <a:pt x="1968102" y="28625"/>
                </a:lnTo>
                <a:close/>
              </a:path>
              <a:path w="2044700" h="76200">
                <a:moveTo>
                  <a:pt x="0" y="16763"/>
                </a:moveTo>
                <a:lnTo>
                  <a:pt x="0" y="35813"/>
                </a:lnTo>
                <a:lnTo>
                  <a:pt x="1968007" y="47675"/>
                </a:lnTo>
                <a:lnTo>
                  <a:pt x="1968102" y="28625"/>
                </a:lnTo>
                <a:lnTo>
                  <a:pt x="0" y="16763"/>
                </a:lnTo>
                <a:close/>
              </a:path>
            </a:pathLst>
          </a:custGeom>
          <a:solidFill>
            <a:srgbClr val="000000"/>
          </a:solidFill>
        </p:spPr>
        <p:txBody>
          <a:bodyPr wrap="square" lIns="0" tIns="0" rIns="0" bIns="0"/>
          <a:lstStyle/>
          <a:p>
            <a:endParaRPr/>
          </a:p>
        </p:txBody>
      </p:sp>
      <p:sp>
        <p:nvSpPr>
          <p:cNvPr id="11" name="object 6">
            <a:extLst>
              <a:ext uri="{FF2B5EF4-FFF2-40B4-BE49-F238E27FC236}">
                <a16:creationId xmlns:a16="http://schemas.microsoft.com/office/drawing/2014/main" id="{9B84B05A-58C2-3101-AF5B-30A38F1423A7}"/>
              </a:ext>
            </a:extLst>
          </p:cNvPr>
          <p:cNvSpPr>
            <a:spLocks noGrp="1"/>
          </p:cNvSpPr>
          <p:nvPr/>
        </p:nvSpPr>
        <p:spPr>
          <a:xfrm>
            <a:off x="4972050" y="3562603"/>
            <a:ext cx="2011045" cy="76200"/>
          </a:xfrm>
          <a:custGeom>
            <a:avLst/>
            <a:gdLst/>
            <a:ahLst/>
            <a:cxnLst/>
            <a:rect l="l" t="t" r="r" b="b"/>
            <a:pathLst>
              <a:path w="2011045" h="76200">
                <a:moveTo>
                  <a:pt x="76326" y="0"/>
                </a:moveTo>
                <a:lnTo>
                  <a:pt x="0" y="37846"/>
                </a:lnTo>
                <a:lnTo>
                  <a:pt x="76073" y="76200"/>
                </a:lnTo>
                <a:lnTo>
                  <a:pt x="76168" y="47531"/>
                </a:lnTo>
                <a:lnTo>
                  <a:pt x="63500" y="47498"/>
                </a:lnTo>
                <a:lnTo>
                  <a:pt x="63500" y="28448"/>
                </a:lnTo>
                <a:lnTo>
                  <a:pt x="76232" y="28448"/>
                </a:lnTo>
                <a:lnTo>
                  <a:pt x="76326" y="0"/>
                </a:lnTo>
                <a:close/>
              </a:path>
              <a:path w="2011045" h="76200">
                <a:moveTo>
                  <a:pt x="76232" y="28481"/>
                </a:moveTo>
                <a:lnTo>
                  <a:pt x="76168" y="47531"/>
                </a:lnTo>
                <a:lnTo>
                  <a:pt x="2010918" y="52578"/>
                </a:lnTo>
                <a:lnTo>
                  <a:pt x="2011045" y="33528"/>
                </a:lnTo>
                <a:lnTo>
                  <a:pt x="76232" y="28481"/>
                </a:lnTo>
                <a:close/>
              </a:path>
              <a:path w="2011045" h="76200">
                <a:moveTo>
                  <a:pt x="63500" y="28448"/>
                </a:moveTo>
                <a:lnTo>
                  <a:pt x="63500" y="47498"/>
                </a:lnTo>
                <a:lnTo>
                  <a:pt x="76168" y="47531"/>
                </a:lnTo>
                <a:lnTo>
                  <a:pt x="76232" y="28481"/>
                </a:lnTo>
                <a:lnTo>
                  <a:pt x="63500" y="28448"/>
                </a:lnTo>
                <a:close/>
              </a:path>
              <a:path w="2011045" h="76200">
                <a:moveTo>
                  <a:pt x="76232" y="28448"/>
                </a:moveTo>
                <a:lnTo>
                  <a:pt x="63500" y="28448"/>
                </a:lnTo>
                <a:lnTo>
                  <a:pt x="76232" y="28481"/>
                </a:lnTo>
                <a:close/>
              </a:path>
            </a:pathLst>
          </a:custGeom>
          <a:solidFill>
            <a:srgbClr val="000000"/>
          </a:solidFill>
        </p:spPr>
        <p:txBody>
          <a:bodyPr wrap="square" lIns="0" tIns="0" rIns="0" bIns="0"/>
          <a:lstStyle/>
          <a:p>
            <a:endParaRPr/>
          </a:p>
        </p:txBody>
      </p:sp>
      <p:sp>
        <p:nvSpPr>
          <p:cNvPr id="14" name="object 7">
            <a:extLst>
              <a:ext uri="{FF2B5EF4-FFF2-40B4-BE49-F238E27FC236}">
                <a16:creationId xmlns:a16="http://schemas.microsoft.com/office/drawing/2014/main" id="{0D547C5A-23B0-C40B-9943-5FC31956611E}"/>
              </a:ext>
            </a:extLst>
          </p:cNvPr>
          <p:cNvSpPr>
            <a:spLocks noGrp="1"/>
          </p:cNvSpPr>
          <p:nvPr/>
        </p:nvSpPr>
        <p:spPr>
          <a:xfrm>
            <a:off x="5458078" y="2747962"/>
            <a:ext cx="744220" cy="300355"/>
          </a:xfrm>
          <a:prstGeom prst="rect">
            <a:avLst/>
          </a:prstGeom>
        </p:spPr>
        <p:txBody>
          <a:bodyPr vert="horz" wrap="square" lIns="0" tIns="12700" rIns="0" bIns="0">
            <a:spAutoFit/>
          </a:bodyPr>
          <a:lstStyle/>
          <a:p>
            <a:pPr marL="12700" algn="ctr">
              <a:lnSpc>
                <a:spcPct val="100000"/>
              </a:lnSpc>
              <a:spcBef>
                <a:spcPts val="100"/>
              </a:spcBef>
              <a:buNone/>
              <a:defRPr>
                <a:latin typeface="Aptos"/>
                <a:ea typeface="Aptos"/>
                <a:cs typeface="Aptos"/>
              </a:defRPr>
            </a:pPr>
            <a:r>
              <a:rPr sz="1350" spc="-45">
                <a:latin typeface="Aptos"/>
                <a:ea typeface="Aptos"/>
                <a:cs typeface="Aptos"/>
              </a:rPr>
              <a:t>Request</a:t>
            </a:r>
            <a:endParaRPr sz="1800">
              <a:latin typeface="Calibri"/>
              <a:ea typeface="Calibri"/>
              <a:cs typeface="Calibri"/>
            </a:endParaRPr>
          </a:p>
        </p:txBody>
      </p:sp>
      <p:sp>
        <p:nvSpPr>
          <p:cNvPr id="16" name="object 8">
            <a:extLst>
              <a:ext uri="{FF2B5EF4-FFF2-40B4-BE49-F238E27FC236}">
                <a16:creationId xmlns:a16="http://schemas.microsoft.com/office/drawing/2014/main" id="{650AD008-9962-1B6C-BA2B-0A1E99B65F37}"/>
              </a:ext>
            </a:extLst>
          </p:cNvPr>
          <p:cNvSpPr>
            <a:spLocks noGrp="1"/>
          </p:cNvSpPr>
          <p:nvPr/>
        </p:nvSpPr>
        <p:spPr>
          <a:xfrm>
            <a:off x="5458078" y="3616261"/>
            <a:ext cx="875030" cy="300355"/>
          </a:xfrm>
          <a:prstGeom prst="rect">
            <a:avLst/>
          </a:prstGeom>
        </p:spPr>
        <p:txBody>
          <a:bodyPr vert="horz" wrap="square" lIns="0" tIns="12700" rIns="0" bIns="0">
            <a:spAutoFit/>
          </a:bodyPr>
          <a:lstStyle/>
          <a:p>
            <a:pPr marL="12700" algn="ctr">
              <a:lnSpc>
                <a:spcPct val="100000"/>
              </a:lnSpc>
              <a:spcBef>
                <a:spcPts val="100"/>
              </a:spcBef>
              <a:buNone/>
              <a:defRPr>
                <a:latin typeface="Aptos"/>
                <a:ea typeface="Aptos"/>
                <a:cs typeface="Aptos"/>
              </a:defRPr>
            </a:pPr>
            <a:r>
              <a:rPr sz="1350" spc="-45">
                <a:latin typeface="Aptos"/>
                <a:ea typeface="Aptos"/>
                <a:cs typeface="Aptos"/>
              </a:rPr>
              <a:t>Response</a:t>
            </a:r>
            <a:endParaRPr sz="1800">
              <a:latin typeface="Calibri"/>
              <a:ea typeface="Calibri"/>
              <a:cs typeface="Calibri"/>
            </a:endParaRPr>
          </a:p>
        </p:txBody>
      </p:sp>
    </p:spTree>
    <p:extLst>
      <p:ext uri="{BB962C8B-B14F-4D97-AF65-F5344CB8AC3E}">
        <p14:creationId xmlns:p14="http://schemas.microsoft.com/office/powerpoint/2010/main" val="2747052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D8082-DB34-1B30-2921-A7B0A25107B4}"/>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380">
                <a:latin typeface="Aptos Display"/>
                <a:ea typeface="Aptos Display"/>
                <a:cs typeface="Aptos Display"/>
              </a:rPr>
              <a:t>HTTP and Web apps</a:t>
            </a:r>
            <a:endParaRPr/>
          </a:p>
        </p:txBody>
      </p:sp>
      <p:sp>
        <p:nvSpPr>
          <p:cNvPr id="5" name="object 3">
            <a:extLst>
              <a:ext uri="{FF2B5EF4-FFF2-40B4-BE49-F238E27FC236}">
                <a16:creationId xmlns:a16="http://schemas.microsoft.com/office/drawing/2014/main" id="{A88C17B3-63E2-D865-3B7F-990190B7861D}"/>
              </a:ext>
            </a:extLst>
          </p:cNvPr>
          <p:cNvSpPr>
            <a:spLocks noGrp="1"/>
          </p:cNvSpPr>
          <p:nvPr/>
        </p:nvSpPr>
        <p:spPr>
          <a:xfrm>
            <a:off x="3138551" y="2843276"/>
            <a:ext cx="1714500" cy="1104900"/>
          </a:xfrm>
          <a:prstGeom prst="rect">
            <a:avLst/>
          </a:prstGeom>
          <a:solidFill>
            <a:srgbClr val="D9D9D9"/>
          </a:solidFill>
          <a:ln w="12700">
            <a:solidFill>
              <a:srgbClr val="000000"/>
            </a:solidFill>
          </a:ln>
        </p:spPr>
        <p:txBody>
          <a:bodyPr vert="horz" wrap="square" lIns="0" tIns="323215" rIns="0" bIns="0">
            <a:spAutoFit/>
          </a:bodyPr>
          <a:lstStyle/>
          <a:p>
            <a:pPr marL="450850">
              <a:lnSpc>
                <a:spcPct val="100000"/>
              </a:lnSpc>
              <a:spcBef>
                <a:spcPts val="2545"/>
              </a:spcBef>
              <a:buNone/>
              <a:defRPr>
                <a:latin typeface="Aptos"/>
                <a:ea typeface="Aptos"/>
                <a:cs typeface="Aptos"/>
              </a:defRPr>
            </a:pPr>
            <a:r>
              <a:rPr sz="2750" spc="-10">
                <a:latin typeface="Aptos"/>
                <a:ea typeface="Aptos"/>
                <a:cs typeface="Aptos"/>
              </a:rPr>
              <a:t>Client</a:t>
            </a:r>
            <a:endParaRPr sz="2750">
              <a:latin typeface="Calibri"/>
              <a:ea typeface="Calibri"/>
              <a:cs typeface="Calibri"/>
            </a:endParaRPr>
          </a:p>
        </p:txBody>
      </p:sp>
      <p:sp>
        <p:nvSpPr>
          <p:cNvPr id="7" name="object 4">
            <a:extLst>
              <a:ext uri="{FF2B5EF4-FFF2-40B4-BE49-F238E27FC236}">
                <a16:creationId xmlns:a16="http://schemas.microsoft.com/office/drawing/2014/main" id="{8AF86192-818C-8B3B-A049-7803D0807528}"/>
              </a:ext>
            </a:extLst>
          </p:cNvPr>
          <p:cNvSpPr>
            <a:spLocks noGrp="1"/>
          </p:cNvSpPr>
          <p:nvPr/>
        </p:nvSpPr>
        <p:spPr>
          <a:xfrm>
            <a:off x="7158101" y="2843276"/>
            <a:ext cx="1714500" cy="1104900"/>
          </a:xfrm>
          <a:prstGeom prst="rect">
            <a:avLst/>
          </a:prstGeom>
          <a:solidFill>
            <a:srgbClr val="D9D9D9"/>
          </a:solidFill>
          <a:ln w="12700">
            <a:solidFill>
              <a:srgbClr val="000000"/>
            </a:solidFill>
          </a:ln>
        </p:spPr>
        <p:txBody>
          <a:bodyPr vert="horz" wrap="square" lIns="0" tIns="323215" rIns="0" bIns="0">
            <a:spAutoFit/>
          </a:bodyPr>
          <a:lstStyle/>
          <a:p>
            <a:pPr marL="422909">
              <a:lnSpc>
                <a:spcPct val="100000"/>
              </a:lnSpc>
              <a:spcBef>
                <a:spcPts val="2545"/>
              </a:spcBef>
              <a:buNone/>
              <a:defRPr>
                <a:latin typeface="Aptos"/>
                <a:ea typeface="Aptos"/>
                <a:cs typeface="Aptos"/>
              </a:defRPr>
            </a:pPr>
            <a:r>
              <a:rPr sz="2750" spc="-10">
                <a:latin typeface="Aptos"/>
                <a:ea typeface="Aptos"/>
                <a:cs typeface="Aptos"/>
              </a:rPr>
              <a:t>Server</a:t>
            </a:r>
            <a:endParaRPr sz="2750">
              <a:latin typeface="Calibri"/>
              <a:ea typeface="Calibri"/>
              <a:cs typeface="Calibri"/>
            </a:endParaRPr>
          </a:p>
        </p:txBody>
      </p:sp>
      <p:sp>
        <p:nvSpPr>
          <p:cNvPr id="9" name="object 5">
            <a:extLst>
              <a:ext uri="{FF2B5EF4-FFF2-40B4-BE49-F238E27FC236}">
                <a16:creationId xmlns:a16="http://schemas.microsoft.com/office/drawing/2014/main" id="{034C5151-9BDA-E1FF-D5FB-A6C4032580A4}"/>
              </a:ext>
            </a:extLst>
          </p:cNvPr>
          <p:cNvSpPr>
            <a:spLocks noGrp="1"/>
          </p:cNvSpPr>
          <p:nvPr/>
        </p:nvSpPr>
        <p:spPr>
          <a:xfrm>
            <a:off x="4962525" y="3059810"/>
            <a:ext cx="2044700" cy="76200"/>
          </a:xfrm>
          <a:custGeom>
            <a:avLst/>
            <a:gdLst/>
            <a:ahLst/>
            <a:cxnLst/>
            <a:rect l="l" t="t" r="r" b="b"/>
            <a:pathLst>
              <a:path w="2044700" h="76200">
                <a:moveTo>
                  <a:pt x="1968246" y="0"/>
                </a:moveTo>
                <a:lnTo>
                  <a:pt x="1968102" y="28625"/>
                </a:lnTo>
                <a:lnTo>
                  <a:pt x="1980819" y="28701"/>
                </a:lnTo>
                <a:lnTo>
                  <a:pt x="1980692" y="47751"/>
                </a:lnTo>
                <a:lnTo>
                  <a:pt x="1968007" y="47751"/>
                </a:lnTo>
                <a:lnTo>
                  <a:pt x="1967865" y="76200"/>
                </a:lnTo>
                <a:lnTo>
                  <a:pt x="2025722" y="47751"/>
                </a:lnTo>
                <a:lnTo>
                  <a:pt x="1980692" y="47751"/>
                </a:lnTo>
                <a:lnTo>
                  <a:pt x="2025877" y="47675"/>
                </a:lnTo>
                <a:lnTo>
                  <a:pt x="2044319" y="38608"/>
                </a:lnTo>
                <a:lnTo>
                  <a:pt x="1968246" y="0"/>
                </a:lnTo>
                <a:close/>
              </a:path>
              <a:path w="2044700" h="76200">
                <a:moveTo>
                  <a:pt x="1968102" y="28625"/>
                </a:moveTo>
                <a:lnTo>
                  <a:pt x="1968007" y="47675"/>
                </a:lnTo>
                <a:lnTo>
                  <a:pt x="1980692" y="47751"/>
                </a:lnTo>
                <a:lnTo>
                  <a:pt x="1980819" y="28701"/>
                </a:lnTo>
                <a:lnTo>
                  <a:pt x="1968102" y="28625"/>
                </a:lnTo>
                <a:close/>
              </a:path>
              <a:path w="2044700" h="76200">
                <a:moveTo>
                  <a:pt x="0" y="16763"/>
                </a:moveTo>
                <a:lnTo>
                  <a:pt x="0" y="35813"/>
                </a:lnTo>
                <a:lnTo>
                  <a:pt x="1968007" y="47675"/>
                </a:lnTo>
                <a:lnTo>
                  <a:pt x="1968102" y="28625"/>
                </a:lnTo>
                <a:lnTo>
                  <a:pt x="0" y="16763"/>
                </a:lnTo>
                <a:close/>
              </a:path>
            </a:pathLst>
          </a:custGeom>
          <a:solidFill>
            <a:srgbClr val="000000"/>
          </a:solidFill>
        </p:spPr>
        <p:txBody>
          <a:bodyPr wrap="square" lIns="0" tIns="0" rIns="0" bIns="0"/>
          <a:lstStyle/>
          <a:p>
            <a:endParaRPr/>
          </a:p>
        </p:txBody>
      </p:sp>
      <p:sp>
        <p:nvSpPr>
          <p:cNvPr id="11" name="object 6">
            <a:extLst>
              <a:ext uri="{FF2B5EF4-FFF2-40B4-BE49-F238E27FC236}">
                <a16:creationId xmlns:a16="http://schemas.microsoft.com/office/drawing/2014/main" id="{B5339134-EEE2-0CF5-2F02-F605D0D02C87}"/>
              </a:ext>
            </a:extLst>
          </p:cNvPr>
          <p:cNvSpPr>
            <a:spLocks noGrp="1"/>
          </p:cNvSpPr>
          <p:nvPr/>
        </p:nvSpPr>
        <p:spPr>
          <a:xfrm>
            <a:off x="4972050" y="3562603"/>
            <a:ext cx="2011045" cy="76200"/>
          </a:xfrm>
          <a:custGeom>
            <a:avLst/>
            <a:gdLst/>
            <a:ahLst/>
            <a:cxnLst/>
            <a:rect l="l" t="t" r="r" b="b"/>
            <a:pathLst>
              <a:path w="2011045" h="76200">
                <a:moveTo>
                  <a:pt x="76326" y="0"/>
                </a:moveTo>
                <a:lnTo>
                  <a:pt x="0" y="37846"/>
                </a:lnTo>
                <a:lnTo>
                  <a:pt x="76073" y="76200"/>
                </a:lnTo>
                <a:lnTo>
                  <a:pt x="76168" y="47531"/>
                </a:lnTo>
                <a:lnTo>
                  <a:pt x="63500" y="47498"/>
                </a:lnTo>
                <a:lnTo>
                  <a:pt x="63500" y="28448"/>
                </a:lnTo>
                <a:lnTo>
                  <a:pt x="76232" y="28448"/>
                </a:lnTo>
                <a:lnTo>
                  <a:pt x="76326" y="0"/>
                </a:lnTo>
                <a:close/>
              </a:path>
              <a:path w="2011045" h="76200">
                <a:moveTo>
                  <a:pt x="76232" y="28481"/>
                </a:moveTo>
                <a:lnTo>
                  <a:pt x="76168" y="47531"/>
                </a:lnTo>
                <a:lnTo>
                  <a:pt x="2010918" y="52578"/>
                </a:lnTo>
                <a:lnTo>
                  <a:pt x="2011045" y="33528"/>
                </a:lnTo>
                <a:lnTo>
                  <a:pt x="76232" y="28481"/>
                </a:lnTo>
                <a:close/>
              </a:path>
              <a:path w="2011045" h="76200">
                <a:moveTo>
                  <a:pt x="63500" y="28448"/>
                </a:moveTo>
                <a:lnTo>
                  <a:pt x="63500" y="47498"/>
                </a:lnTo>
                <a:lnTo>
                  <a:pt x="76168" y="47531"/>
                </a:lnTo>
                <a:lnTo>
                  <a:pt x="76232" y="28481"/>
                </a:lnTo>
                <a:lnTo>
                  <a:pt x="63500" y="28448"/>
                </a:lnTo>
                <a:close/>
              </a:path>
              <a:path w="2011045" h="76200">
                <a:moveTo>
                  <a:pt x="76232" y="28448"/>
                </a:moveTo>
                <a:lnTo>
                  <a:pt x="63500" y="28448"/>
                </a:lnTo>
                <a:lnTo>
                  <a:pt x="76232" y="28481"/>
                </a:lnTo>
                <a:close/>
              </a:path>
            </a:pathLst>
          </a:custGeom>
          <a:solidFill>
            <a:srgbClr val="000000"/>
          </a:solidFill>
        </p:spPr>
        <p:txBody>
          <a:bodyPr wrap="square" lIns="0" tIns="0" rIns="0" bIns="0"/>
          <a:lstStyle/>
          <a:p>
            <a:endParaRPr/>
          </a:p>
        </p:txBody>
      </p:sp>
      <p:sp>
        <p:nvSpPr>
          <p:cNvPr id="14" name="object 7">
            <a:extLst>
              <a:ext uri="{FF2B5EF4-FFF2-40B4-BE49-F238E27FC236}">
                <a16:creationId xmlns:a16="http://schemas.microsoft.com/office/drawing/2014/main" id="{C77237E8-E198-7E69-AE21-861538C324C2}"/>
              </a:ext>
            </a:extLst>
          </p:cNvPr>
          <p:cNvSpPr>
            <a:spLocks noGrp="1"/>
          </p:cNvSpPr>
          <p:nvPr/>
        </p:nvSpPr>
        <p:spPr>
          <a:xfrm>
            <a:off x="5458078" y="2747962"/>
            <a:ext cx="744220" cy="300355"/>
          </a:xfrm>
          <a:prstGeom prst="rect">
            <a:avLst/>
          </a:prstGeom>
        </p:spPr>
        <p:txBody>
          <a:bodyPr vert="horz" wrap="square" lIns="0" tIns="12700" rIns="0" bIns="0">
            <a:spAutoFit/>
          </a:bodyPr>
          <a:lstStyle/>
          <a:p>
            <a:pPr marL="12700" algn="ctr">
              <a:lnSpc>
                <a:spcPct val="100000"/>
              </a:lnSpc>
              <a:spcBef>
                <a:spcPts val="100"/>
              </a:spcBef>
              <a:buNone/>
              <a:defRPr>
                <a:latin typeface="Aptos"/>
                <a:ea typeface="Aptos"/>
                <a:cs typeface="Aptos"/>
              </a:defRPr>
            </a:pPr>
            <a:r>
              <a:rPr sz="1350" spc="-45">
                <a:latin typeface="Aptos"/>
                <a:ea typeface="Aptos"/>
                <a:cs typeface="Aptos"/>
              </a:rPr>
              <a:t>Request</a:t>
            </a:r>
            <a:endParaRPr sz="1800">
              <a:latin typeface="Calibri"/>
              <a:ea typeface="Calibri"/>
              <a:cs typeface="Calibri"/>
            </a:endParaRPr>
          </a:p>
        </p:txBody>
      </p:sp>
      <p:sp>
        <p:nvSpPr>
          <p:cNvPr id="16" name="object 8">
            <a:extLst>
              <a:ext uri="{FF2B5EF4-FFF2-40B4-BE49-F238E27FC236}">
                <a16:creationId xmlns:a16="http://schemas.microsoft.com/office/drawing/2014/main" id="{96D06B13-0132-1718-CDFA-7832FD1BD821}"/>
              </a:ext>
            </a:extLst>
          </p:cNvPr>
          <p:cNvSpPr>
            <a:spLocks noGrp="1"/>
          </p:cNvSpPr>
          <p:nvPr/>
        </p:nvSpPr>
        <p:spPr>
          <a:xfrm>
            <a:off x="5458078" y="3616261"/>
            <a:ext cx="875030" cy="300355"/>
          </a:xfrm>
          <a:prstGeom prst="rect">
            <a:avLst/>
          </a:prstGeom>
        </p:spPr>
        <p:txBody>
          <a:bodyPr vert="horz" wrap="square" lIns="0" tIns="12700" rIns="0" bIns="0">
            <a:spAutoFit/>
          </a:bodyPr>
          <a:lstStyle/>
          <a:p>
            <a:pPr marL="12700" algn="ctr">
              <a:lnSpc>
                <a:spcPct val="100000"/>
              </a:lnSpc>
              <a:spcBef>
                <a:spcPts val="100"/>
              </a:spcBef>
              <a:buNone/>
              <a:defRPr>
                <a:latin typeface="Aptos"/>
                <a:ea typeface="Aptos"/>
                <a:cs typeface="Aptos"/>
              </a:defRPr>
            </a:pPr>
            <a:r>
              <a:rPr sz="1350" spc="-45">
                <a:latin typeface="Aptos"/>
                <a:ea typeface="Aptos"/>
                <a:cs typeface="Aptos"/>
              </a:rPr>
              <a:t>Response</a:t>
            </a:r>
            <a:endParaRPr sz="1800">
              <a:latin typeface="Calibri"/>
              <a:ea typeface="Calibri"/>
              <a:cs typeface="Calibri"/>
            </a:endParaRPr>
          </a:p>
        </p:txBody>
      </p:sp>
      <p:sp>
        <p:nvSpPr>
          <p:cNvPr id="4" name="TextBox 3">
            <a:extLst>
              <a:ext uri="{FF2B5EF4-FFF2-40B4-BE49-F238E27FC236}">
                <a16:creationId xmlns:a16="http://schemas.microsoft.com/office/drawing/2014/main" id="{29147294-6E25-CBEE-3539-6843B97EE585}"/>
              </a:ext>
            </a:extLst>
          </p:cNvPr>
          <p:cNvSpPr>
            <a:spLocks noGrp="1"/>
          </p:cNvSpPr>
          <p:nvPr/>
        </p:nvSpPr>
        <p:spPr>
          <a:xfrm>
            <a:off x="330200" y="1283544"/>
            <a:ext cx="11626850" cy="944880"/>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Software that runs on a remote server that is being accessed via a browser</a:t>
            </a:r>
          </a:p>
        </p:txBody>
      </p:sp>
    </p:spTree>
    <p:extLst>
      <p:ext uri="{BB962C8B-B14F-4D97-AF65-F5344CB8AC3E}">
        <p14:creationId xmlns:p14="http://schemas.microsoft.com/office/powerpoint/2010/main" val="38331384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5D543-139F-FBAB-F9B3-6F9CF856AE35}"/>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380">
                <a:latin typeface="Aptos Display"/>
                <a:ea typeface="Aptos Display"/>
                <a:cs typeface="Aptos Display"/>
              </a:rPr>
              <a:t>HTTP and Web apps</a:t>
            </a:r>
            <a:endParaRPr/>
          </a:p>
        </p:txBody>
      </p:sp>
      <p:sp>
        <p:nvSpPr>
          <p:cNvPr id="5" name="object 3">
            <a:extLst>
              <a:ext uri="{FF2B5EF4-FFF2-40B4-BE49-F238E27FC236}">
                <a16:creationId xmlns:a16="http://schemas.microsoft.com/office/drawing/2014/main" id="{77627C52-FB89-E647-9D4A-1C6883240E8C}"/>
              </a:ext>
            </a:extLst>
          </p:cNvPr>
          <p:cNvSpPr>
            <a:spLocks noGrp="1"/>
          </p:cNvSpPr>
          <p:nvPr/>
        </p:nvSpPr>
        <p:spPr>
          <a:xfrm>
            <a:off x="3138551" y="2843276"/>
            <a:ext cx="1714500" cy="1104900"/>
          </a:xfrm>
          <a:prstGeom prst="rect">
            <a:avLst/>
          </a:prstGeom>
          <a:solidFill>
            <a:srgbClr val="D9D9D9"/>
          </a:solidFill>
          <a:ln w="12700">
            <a:solidFill>
              <a:srgbClr val="000000"/>
            </a:solidFill>
          </a:ln>
        </p:spPr>
        <p:txBody>
          <a:bodyPr vert="horz" wrap="square" lIns="0" tIns="323215" rIns="0" bIns="0">
            <a:spAutoFit/>
          </a:bodyPr>
          <a:lstStyle/>
          <a:p>
            <a:pPr marL="450850">
              <a:lnSpc>
                <a:spcPct val="100000"/>
              </a:lnSpc>
              <a:spcBef>
                <a:spcPts val="2545"/>
              </a:spcBef>
              <a:buNone/>
              <a:defRPr>
                <a:latin typeface="Aptos"/>
                <a:ea typeface="Aptos"/>
                <a:cs typeface="Aptos"/>
              </a:defRPr>
            </a:pPr>
            <a:r>
              <a:rPr sz="2750" spc="-10">
                <a:latin typeface="Aptos"/>
                <a:ea typeface="Aptos"/>
                <a:cs typeface="Aptos"/>
              </a:rPr>
              <a:t>Client</a:t>
            </a:r>
            <a:endParaRPr sz="2750">
              <a:latin typeface="Calibri"/>
              <a:ea typeface="Calibri"/>
              <a:cs typeface="Calibri"/>
            </a:endParaRPr>
          </a:p>
        </p:txBody>
      </p:sp>
      <p:sp>
        <p:nvSpPr>
          <p:cNvPr id="7" name="object 4">
            <a:extLst>
              <a:ext uri="{FF2B5EF4-FFF2-40B4-BE49-F238E27FC236}">
                <a16:creationId xmlns:a16="http://schemas.microsoft.com/office/drawing/2014/main" id="{3FEFD23C-E38B-948D-D245-6D83D8EBF42B}"/>
              </a:ext>
            </a:extLst>
          </p:cNvPr>
          <p:cNvSpPr>
            <a:spLocks noGrp="1"/>
          </p:cNvSpPr>
          <p:nvPr/>
        </p:nvSpPr>
        <p:spPr>
          <a:xfrm>
            <a:off x="7158101" y="2843276"/>
            <a:ext cx="1714500" cy="1104900"/>
          </a:xfrm>
          <a:prstGeom prst="rect">
            <a:avLst/>
          </a:prstGeom>
          <a:solidFill>
            <a:srgbClr val="D9D9D9"/>
          </a:solidFill>
          <a:ln w="12700">
            <a:solidFill>
              <a:srgbClr val="000000"/>
            </a:solidFill>
          </a:ln>
        </p:spPr>
        <p:txBody>
          <a:bodyPr vert="horz" wrap="square" lIns="0" tIns="323215" rIns="0" bIns="0">
            <a:spAutoFit/>
          </a:bodyPr>
          <a:lstStyle/>
          <a:p>
            <a:pPr marL="422909">
              <a:lnSpc>
                <a:spcPct val="100000"/>
              </a:lnSpc>
              <a:spcBef>
                <a:spcPts val="2545"/>
              </a:spcBef>
              <a:buNone/>
              <a:defRPr>
                <a:latin typeface="Aptos"/>
                <a:ea typeface="Aptos"/>
                <a:cs typeface="Aptos"/>
              </a:defRPr>
            </a:pPr>
            <a:r>
              <a:rPr sz="2750" spc="-10">
                <a:latin typeface="Aptos"/>
                <a:ea typeface="Aptos"/>
                <a:cs typeface="Aptos"/>
              </a:rPr>
              <a:t>Server</a:t>
            </a:r>
            <a:endParaRPr sz="2750">
              <a:latin typeface="Calibri"/>
              <a:ea typeface="Calibri"/>
              <a:cs typeface="Calibri"/>
            </a:endParaRPr>
          </a:p>
        </p:txBody>
      </p:sp>
      <p:sp>
        <p:nvSpPr>
          <p:cNvPr id="9" name="object 5">
            <a:extLst>
              <a:ext uri="{FF2B5EF4-FFF2-40B4-BE49-F238E27FC236}">
                <a16:creationId xmlns:a16="http://schemas.microsoft.com/office/drawing/2014/main" id="{4AEF262E-5EE9-3573-1CF9-5F5CD6955349}"/>
              </a:ext>
            </a:extLst>
          </p:cNvPr>
          <p:cNvSpPr>
            <a:spLocks noGrp="1"/>
          </p:cNvSpPr>
          <p:nvPr/>
        </p:nvSpPr>
        <p:spPr>
          <a:xfrm>
            <a:off x="4962525" y="3059810"/>
            <a:ext cx="2044700" cy="76200"/>
          </a:xfrm>
          <a:custGeom>
            <a:avLst/>
            <a:gdLst/>
            <a:ahLst/>
            <a:cxnLst/>
            <a:rect l="l" t="t" r="r" b="b"/>
            <a:pathLst>
              <a:path w="2044700" h="76200">
                <a:moveTo>
                  <a:pt x="1968246" y="0"/>
                </a:moveTo>
                <a:lnTo>
                  <a:pt x="1968102" y="28625"/>
                </a:lnTo>
                <a:lnTo>
                  <a:pt x="1980819" y="28701"/>
                </a:lnTo>
                <a:lnTo>
                  <a:pt x="1980692" y="47751"/>
                </a:lnTo>
                <a:lnTo>
                  <a:pt x="1968007" y="47751"/>
                </a:lnTo>
                <a:lnTo>
                  <a:pt x="1967865" y="76200"/>
                </a:lnTo>
                <a:lnTo>
                  <a:pt x="2025722" y="47751"/>
                </a:lnTo>
                <a:lnTo>
                  <a:pt x="1980692" y="47751"/>
                </a:lnTo>
                <a:lnTo>
                  <a:pt x="2025877" y="47675"/>
                </a:lnTo>
                <a:lnTo>
                  <a:pt x="2044319" y="38608"/>
                </a:lnTo>
                <a:lnTo>
                  <a:pt x="1968246" y="0"/>
                </a:lnTo>
                <a:close/>
              </a:path>
              <a:path w="2044700" h="76200">
                <a:moveTo>
                  <a:pt x="1968102" y="28625"/>
                </a:moveTo>
                <a:lnTo>
                  <a:pt x="1968007" y="47675"/>
                </a:lnTo>
                <a:lnTo>
                  <a:pt x="1980692" y="47751"/>
                </a:lnTo>
                <a:lnTo>
                  <a:pt x="1980819" y="28701"/>
                </a:lnTo>
                <a:lnTo>
                  <a:pt x="1968102" y="28625"/>
                </a:lnTo>
                <a:close/>
              </a:path>
              <a:path w="2044700" h="76200">
                <a:moveTo>
                  <a:pt x="0" y="16763"/>
                </a:moveTo>
                <a:lnTo>
                  <a:pt x="0" y="35813"/>
                </a:lnTo>
                <a:lnTo>
                  <a:pt x="1968007" y="47675"/>
                </a:lnTo>
                <a:lnTo>
                  <a:pt x="1968102" y="28625"/>
                </a:lnTo>
                <a:lnTo>
                  <a:pt x="0" y="16763"/>
                </a:lnTo>
                <a:close/>
              </a:path>
            </a:pathLst>
          </a:custGeom>
          <a:solidFill>
            <a:srgbClr val="000000"/>
          </a:solidFill>
        </p:spPr>
        <p:txBody>
          <a:bodyPr wrap="square" lIns="0" tIns="0" rIns="0" bIns="0"/>
          <a:lstStyle/>
          <a:p>
            <a:endParaRPr/>
          </a:p>
        </p:txBody>
      </p:sp>
      <p:sp>
        <p:nvSpPr>
          <p:cNvPr id="11" name="object 6">
            <a:extLst>
              <a:ext uri="{FF2B5EF4-FFF2-40B4-BE49-F238E27FC236}">
                <a16:creationId xmlns:a16="http://schemas.microsoft.com/office/drawing/2014/main" id="{D19D98CD-7E07-3819-679D-36713E4BD784}"/>
              </a:ext>
            </a:extLst>
          </p:cNvPr>
          <p:cNvSpPr>
            <a:spLocks noGrp="1"/>
          </p:cNvSpPr>
          <p:nvPr/>
        </p:nvSpPr>
        <p:spPr>
          <a:xfrm>
            <a:off x="4972050" y="3562603"/>
            <a:ext cx="2011045" cy="76200"/>
          </a:xfrm>
          <a:custGeom>
            <a:avLst/>
            <a:gdLst/>
            <a:ahLst/>
            <a:cxnLst/>
            <a:rect l="l" t="t" r="r" b="b"/>
            <a:pathLst>
              <a:path w="2011045" h="76200">
                <a:moveTo>
                  <a:pt x="76326" y="0"/>
                </a:moveTo>
                <a:lnTo>
                  <a:pt x="0" y="37846"/>
                </a:lnTo>
                <a:lnTo>
                  <a:pt x="76073" y="76200"/>
                </a:lnTo>
                <a:lnTo>
                  <a:pt x="76168" y="47531"/>
                </a:lnTo>
                <a:lnTo>
                  <a:pt x="63500" y="47498"/>
                </a:lnTo>
                <a:lnTo>
                  <a:pt x="63500" y="28448"/>
                </a:lnTo>
                <a:lnTo>
                  <a:pt x="76232" y="28448"/>
                </a:lnTo>
                <a:lnTo>
                  <a:pt x="76326" y="0"/>
                </a:lnTo>
                <a:close/>
              </a:path>
              <a:path w="2011045" h="76200">
                <a:moveTo>
                  <a:pt x="76232" y="28481"/>
                </a:moveTo>
                <a:lnTo>
                  <a:pt x="76168" y="47531"/>
                </a:lnTo>
                <a:lnTo>
                  <a:pt x="2010918" y="52578"/>
                </a:lnTo>
                <a:lnTo>
                  <a:pt x="2011045" y="33528"/>
                </a:lnTo>
                <a:lnTo>
                  <a:pt x="76232" y="28481"/>
                </a:lnTo>
                <a:close/>
              </a:path>
              <a:path w="2011045" h="76200">
                <a:moveTo>
                  <a:pt x="63500" y="28448"/>
                </a:moveTo>
                <a:lnTo>
                  <a:pt x="63500" y="47498"/>
                </a:lnTo>
                <a:lnTo>
                  <a:pt x="76168" y="47531"/>
                </a:lnTo>
                <a:lnTo>
                  <a:pt x="76232" y="28481"/>
                </a:lnTo>
                <a:lnTo>
                  <a:pt x="63500" y="28448"/>
                </a:lnTo>
                <a:close/>
              </a:path>
              <a:path w="2011045" h="76200">
                <a:moveTo>
                  <a:pt x="76232" y="28448"/>
                </a:moveTo>
                <a:lnTo>
                  <a:pt x="63500" y="28448"/>
                </a:lnTo>
                <a:lnTo>
                  <a:pt x="76232" y="28481"/>
                </a:lnTo>
                <a:close/>
              </a:path>
            </a:pathLst>
          </a:custGeom>
          <a:solidFill>
            <a:srgbClr val="000000"/>
          </a:solidFill>
        </p:spPr>
        <p:txBody>
          <a:bodyPr wrap="square" lIns="0" tIns="0" rIns="0" bIns="0"/>
          <a:lstStyle/>
          <a:p>
            <a:endParaRPr/>
          </a:p>
        </p:txBody>
      </p:sp>
      <p:sp>
        <p:nvSpPr>
          <p:cNvPr id="14" name="object 7">
            <a:extLst>
              <a:ext uri="{FF2B5EF4-FFF2-40B4-BE49-F238E27FC236}">
                <a16:creationId xmlns:a16="http://schemas.microsoft.com/office/drawing/2014/main" id="{9B287CE6-4C36-91CC-183E-71A727E4DDA3}"/>
              </a:ext>
            </a:extLst>
          </p:cNvPr>
          <p:cNvSpPr>
            <a:spLocks noGrp="1"/>
          </p:cNvSpPr>
          <p:nvPr/>
        </p:nvSpPr>
        <p:spPr>
          <a:xfrm>
            <a:off x="5458078" y="2747962"/>
            <a:ext cx="744220" cy="300355"/>
          </a:xfrm>
          <a:prstGeom prst="rect">
            <a:avLst/>
          </a:prstGeom>
        </p:spPr>
        <p:txBody>
          <a:bodyPr vert="horz" wrap="square" lIns="0" tIns="12700" rIns="0" bIns="0">
            <a:spAutoFit/>
          </a:bodyPr>
          <a:lstStyle/>
          <a:p>
            <a:pPr marL="12700" algn="ctr">
              <a:lnSpc>
                <a:spcPct val="100000"/>
              </a:lnSpc>
              <a:spcBef>
                <a:spcPts val="100"/>
              </a:spcBef>
              <a:buNone/>
              <a:defRPr>
                <a:latin typeface="Aptos"/>
                <a:ea typeface="Aptos"/>
                <a:cs typeface="Aptos"/>
              </a:defRPr>
            </a:pPr>
            <a:r>
              <a:rPr sz="1350" spc="-45">
                <a:latin typeface="Aptos"/>
                <a:ea typeface="Aptos"/>
                <a:cs typeface="Aptos"/>
              </a:rPr>
              <a:t>Request</a:t>
            </a:r>
            <a:endParaRPr sz="1800">
              <a:latin typeface="Calibri"/>
              <a:ea typeface="Calibri"/>
              <a:cs typeface="Calibri"/>
            </a:endParaRPr>
          </a:p>
        </p:txBody>
      </p:sp>
      <p:sp>
        <p:nvSpPr>
          <p:cNvPr id="16" name="object 8">
            <a:extLst>
              <a:ext uri="{FF2B5EF4-FFF2-40B4-BE49-F238E27FC236}">
                <a16:creationId xmlns:a16="http://schemas.microsoft.com/office/drawing/2014/main" id="{DD49DC3D-C5BB-5746-FE14-640B26F115C4}"/>
              </a:ext>
            </a:extLst>
          </p:cNvPr>
          <p:cNvSpPr>
            <a:spLocks noGrp="1"/>
          </p:cNvSpPr>
          <p:nvPr/>
        </p:nvSpPr>
        <p:spPr>
          <a:xfrm>
            <a:off x="5458078" y="3616261"/>
            <a:ext cx="875030" cy="300355"/>
          </a:xfrm>
          <a:prstGeom prst="rect">
            <a:avLst/>
          </a:prstGeom>
        </p:spPr>
        <p:txBody>
          <a:bodyPr vert="horz" wrap="square" lIns="0" tIns="12700" rIns="0" bIns="0">
            <a:spAutoFit/>
          </a:bodyPr>
          <a:lstStyle/>
          <a:p>
            <a:pPr marL="12700" algn="ctr">
              <a:lnSpc>
                <a:spcPct val="100000"/>
              </a:lnSpc>
              <a:spcBef>
                <a:spcPts val="100"/>
              </a:spcBef>
              <a:buNone/>
              <a:defRPr>
                <a:latin typeface="Aptos"/>
                <a:ea typeface="Aptos"/>
                <a:cs typeface="Aptos"/>
              </a:defRPr>
            </a:pPr>
            <a:r>
              <a:rPr sz="1350" spc="-45">
                <a:latin typeface="Aptos"/>
                <a:ea typeface="Aptos"/>
                <a:cs typeface="Aptos"/>
              </a:rPr>
              <a:t>Response</a:t>
            </a:r>
            <a:endParaRPr sz="1800">
              <a:latin typeface="Calibri"/>
              <a:ea typeface="Calibri"/>
              <a:cs typeface="Calibri"/>
            </a:endParaRPr>
          </a:p>
        </p:txBody>
      </p:sp>
      <p:sp>
        <p:nvSpPr>
          <p:cNvPr id="4" name="TextBox 3">
            <a:extLst>
              <a:ext uri="{FF2B5EF4-FFF2-40B4-BE49-F238E27FC236}">
                <a16:creationId xmlns:a16="http://schemas.microsoft.com/office/drawing/2014/main" id="{FEC33A27-F9BB-4513-D31A-B5430745CE08}"/>
              </a:ext>
            </a:extLst>
          </p:cNvPr>
          <p:cNvSpPr>
            <a:spLocks noGrp="1"/>
          </p:cNvSpPr>
          <p:nvPr/>
        </p:nvSpPr>
        <p:spPr>
          <a:xfrm>
            <a:off x="330200" y="1283544"/>
            <a:ext cx="11626850" cy="944880"/>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Software that runs on a remote server that is being accessed via a browser</a:t>
            </a:r>
          </a:p>
        </p:txBody>
      </p:sp>
      <p:sp>
        <p:nvSpPr>
          <p:cNvPr id="6" name="TextBox 5">
            <a:extLst>
              <a:ext uri="{FF2B5EF4-FFF2-40B4-BE49-F238E27FC236}">
                <a16:creationId xmlns:a16="http://schemas.microsoft.com/office/drawing/2014/main" id="{2354ED85-1C41-6FEA-92D6-A20ED55B4B69}"/>
              </a:ext>
            </a:extLst>
          </p:cNvPr>
          <p:cNvSpPr>
            <a:spLocks noGrp="1"/>
          </p:cNvSpPr>
          <p:nvPr/>
        </p:nvSpPr>
        <p:spPr>
          <a:xfrm>
            <a:off x="1021016" y="3013501"/>
            <a:ext cx="2073148" cy="830997"/>
          </a:xfrm>
          <a:prstGeom prst="rect">
            <a:avLst/>
          </a:prstGeom>
          <a:noFill/>
        </p:spPr>
        <p:txBody>
          <a:bodyPr wrap="square">
            <a:spAutoFit/>
          </a:bodyPr>
          <a:lstStyle/>
          <a:p>
            <a:pPr>
              <a:buNone/>
              <a:defRPr>
                <a:latin typeface="Aptos"/>
                <a:ea typeface="Aptos"/>
                <a:cs typeface="Aptos"/>
              </a:defRPr>
            </a:pPr>
            <a:r>
              <a:rPr sz="2400">
                <a:latin typeface="Aptos"/>
                <a:ea typeface="Aptos"/>
                <a:cs typeface="Aptos"/>
              </a:rPr>
              <a:t>Browser Front-end: UI</a:t>
            </a:r>
          </a:p>
        </p:txBody>
      </p:sp>
      <p:sp>
        <p:nvSpPr>
          <p:cNvPr id="8" name="TextBox 7">
            <a:extLst>
              <a:ext uri="{FF2B5EF4-FFF2-40B4-BE49-F238E27FC236}">
                <a16:creationId xmlns:a16="http://schemas.microsoft.com/office/drawing/2014/main" id="{FBE92C2F-D448-2B63-A926-36C7F95A576C}"/>
              </a:ext>
            </a:extLst>
          </p:cNvPr>
          <p:cNvSpPr>
            <a:spLocks noGrp="1"/>
          </p:cNvSpPr>
          <p:nvPr/>
        </p:nvSpPr>
        <p:spPr>
          <a:xfrm>
            <a:off x="8879587" y="2980227"/>
            <a:ext cx="1801113" cy="830997"/>
          </a:xfrm>
          <a:prstGeom prst="rect">
            <a:avLst/>
          </a:prstGeom>
          <a:noFill/>
        </p:spPr>
        <p:txBody>
          <a:bodyPr wrap="square">
            <a:spAutoFit/>
          </a:bodyPr>
          <a:lstStyle/>
          <a:p>
            <a:pPr>
              <a:buNone/>
              <a:defRPr>
                <a:latin typeface="Aptos"/>
                <a:ea typeface="Aptos"/>
                <a:cs typeface="Aptos"/>
              </a:defRPr>
            </a:pPr>
            <a:r>
              <a:rPr sz="2400">
                <a:latin typeface="Aptos"/>
                <a:ea typeface="Aptos"/>
                <a:cs typeface="Aptos"/>
              </a:rPr>
              <a:t>Server</a:t>
            </a:r>
          </a:p>
          <a:p>
            <a:pPr>
              <a:buNone/>
              <a:defRPr>
                <a:latin typeface="Aptos"/>
                <a:ea typeface="Aptos"/>
                <a:cs typeface="Aptos"/>
              </a:defRPr>
            </a:pPr>
            <a:r>
              <a:rPr sz="2400">
                <a:latin typeface="Aptos"/>
                <a:ea typeface="Aptos"/>
                <a:cs typeface="Aptos"/>
              </a:rPr>
              <a:t>Back-end</a:t>
            </a:r>
          </a:p>
        </p:txBody>
      </p:sp>
    </p:spTree>
    <p:extLst>
      <p:ext uri="{BB962C8B-B14F-4D97-AF65-F5344CB8AC3E}">
        <p14:creationId xmlns:p14="http://schemas.microsoft.com/office/powerpoint/2010/main" val="7186207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EA397-1F9D-2B96-198D-86C50D836A6A}"/>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380">
                <a:latin typeface="Aptos Display"/>
                <a:ea typeface="Aptos Display"/>
                <a:cs typeface="Aptos Display"/>
              </a:rPr>
              <a:t>HTTP</a:t>
            </a:r>
            <a:endParaRPr/>
          </a:p>
        </p:txBody>
      </p:sp>
      <p:sp>
        <p:nvSpPr>
          <p:cNvPr id="4" name="TextBox 3">
            <a:extLst>
              <a:ext uri="{FF2B5EF4-FFF2-40B4-BE49-F238E27FC236}">
                <a16:creationId xmlns:a16="http://schemas.microsoft.com/office/drawing/2014/main" id="{81EBDE11-14D7-80CF-267F-DDDE54BB1FCD}"/>
              </a:ext>
            </a:extLst>
          </p:cNvPr>
          <p:cNvSpPr>
            <a:spLocks noGrp="1"/>
          </p:cNvSpPr>
          <p:nvPr/>
        </p:nvSpPr>
        <p:spPr>
          <a:xfrm>
            <a:off x="330200" y="1283544"/>
            <a:ext cx="11626850" cy="3677412"/>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Request/Response pattern </a:t>
            </a:r>
          </a:p>
          <a:p>
            <a:pPr marL="533400" lvl="1" indent="-152400" algn="l">
              <a:lnSpc>
                <a:spcPct val="108000"/>
              </a:lnSpc>
              <a:spcAft>
                <a:spcPts val="3"/>
              </a:spcAft>
              <a:buFont typeface="Wingdings"/>
              <a:buChar char="Ø"/>
              <a:defRPr>
                <a:latin typeface="Aptos"/>
                <a:ea typeface="Aptos"/>
                <a:cs typeface="Aptos"/>
              </a:defRPr>
            </a:pPr>
            <a:r>
              <a:rPr sz="2800">
                <a:latin typeface="Aptos"/>
                <a:ea typeface="Aptos"/>
                <a:cs typeface="Aptos"/>
              </a:rPr>
              <a:t>Client asks to the server: </a:t>
            </a:r>
            <a:r>
              <a:rPr sz="2800" b="1">
                <a:latin typeface="Aptos"/>
                <a:ea typeface="Aptos"/>
                <a:cs typeface="Aptos"/>
              </a:rPr>
              <a:t>request</a:t>
            </a:r>
            <a:r>
              <a:rPr sz="2800">
                <a:latin typeface="Aptos"/>
                <a:ea typeface="Aptos"/>
                <a:cs typeface="Aptos"/>
              </a:rPr>
              <a:t> </a:t>
            </a:r>
          </a:p>
          <a:p>
            <a:pPr marL="533400" lvl="1" indent="-152400" algn="l">
              <a:lnSpc>
                <a:spcPct val="108000"/>
              </a:lnSpc>
              <a:spcAft>
                <a:spcPts val="3"/>
              </a:spcAft>
              <a:buFont typeface="Wingdings"/>
              <a:buChar char="Ø"/>
              <a:defRPr>
                <a:latin typeface="Aptos"/>
                <a:ea typeface="Aptos"/>
                <a:cs typeface="Aptos"/>
              </a:defRPr>
            </a:pPr>
            <a:r>
              <a:rPr sz="2800">
                <a:latin typeface="Aptos"/>
                <a:ea typeface="Aptos"/>
                <a:cs typeface="Aptos"/>
              </a:rPr>
              <a:t>Server answers to client: </a:t>
            </a:r>
            <a:r>
              <a:rPr sz="2800" b="1">
                <a:latin typeface="Aptos"/>
                <a:ea typeface="Aptos"/>
                <a:cs typeface="Aptos"/>
              </a:rPr>
              <a:t>response</a:t>
            </a:r>
            <a:r>
              <a:rPr sz="2800">
                <a:latin typeface="Aptos"/>
                <a:ea typeface="Aptos"/>
                <a:cs typeface="Aptos"/>
              </a:rPr>
              <a:t> </a:t>
            </a:r>
          </a:p>
          <a:p>
            <a:pPr>
              <a:buNone/>
              <a:defRPr>
                <a:latin typeface="Aptos"/>
                <a:ea typeface="Aptos"/>
                <a:cs typeface="Aptos"/>
              </a:defRPr>
            </a:pPr>
            <a:endParaRPr sz="2800"/>
          </a:p>
          <a:p>
            <a:pPr algn="l">
              <a:buNone/>
              <a:defRPr>
                <a:latin typeface="Aptos"/>
                <a:ea typeface="Aptos"/>
                <a:cs typeface="Aptos"/>
              </a:defRPr>
            </a:pPr>
            <a:r>
              <a:rPr sz="2800">
                <a:latin typeface="Aptos"/>
                <a:ea typeface="Aptos"/>
                <a:cs typeface="Aptos"/>
              </a:rPr>
              <a:t>HTTP is asymmetric </a:t>
            </a:r>
          </a:p>
          <a:p>
            <a:pPr marL="533400" lvl="1" indent="-152400" algn="l">
              <a:lnSpc>
                <a:spcPct val="108000"/>
              </a:lnSpc>
              <a:spcAft>
                <a:spcPts val="3"/>
              </a:spcAft>
              <a:buFont typeface="Wingdings"/>
              <a:buChar char="Ø"/>
              <a:defRPr>
                <a:latin typeface="Aptos"/>
                <a:ea typeface="Aptos"/>
                <a:cs typeface="Aptos"/>
              </a:defRPr>
            </a:pPr>
            <a:r>
              <a:rPr sz="2800">
                <a:latin typeface="Aptos"/>
                <a:ea typeface="Aptos"/>
                <a:cs typeface="Aptos"/>
              </a:rPr>
              <a:t>Client initiates the communication </a:t>
            </a:r>
          </a:p>
          <a:p>
            <a:pPr marL="533400" lvl="1" indent="-152400" algn="l">
              <a:lnSpc>
                <a:spcPct val="108000"/>
              </a:lnSpc>
              <a:spcAft>
                <a:spcPts val="3"/>
              </a:spcAft>
              <a:buFont typeface="Wingdings"/>
              <a:buChar char="Ø"/>
              <a:defRPr>
                <a:latin typeface="Aptos"/>
                <a:ea typeface="Aptos"/>
                <a:cs typeface="Aptos"/>
              </a:defRPr>
            </a:pPr>
            <a:r>
              <a:rPr sz="2800">
                <a:latin typeface="Aptos"/>
                <a:ea typeface="Aptos"/>
                <a:cs typeface="Aptos"/>
              </a:rPr>
              <a:t>Server waits for a request </a:t>
            </a:r>
          </a:p>
          <a:p>
            <a:pPr marL="533400" lvl="1" indent="-152400" algn="l">
              <a:lnSpc>
                <a:spcPct val="108000"/>
              </a:lnSpc>
              <a:spcAft>
                <a:spcPts val="3"/>
              </a:spcAft>
              <a:buFont typeface="Wingdings"/>
              <a:buChar char="Ø"/>
              <a:defRPr>
                <a:latin typeface="Aptos"/>
                <a:ea typeface="Aptos"/>
                <a:cs typeface="Aptos"/>
              </a:defRPr>
            </a:pPr>
            <a:r>
              <a:rPr sz="2800">
                <a:latin typeface="Aptos"/>
                <a:ea typeface="Aptos"/>
                <a:cs typeface="Aptos"/>
              </a:rPr>
              <a:t>Server cannot send anything to a client without the client asked </a:t>
            </a:r>
          </a:p>
        </p:txBody>
      </p:sp>
    </p:spTree>
    <p:extLst>
      <p:ext uri="{BB962C8B-B14F-4D97-AF65-F5344CB8AC3E}">
        <p14:creationId xmlns:p14="http://schemas.microsoft.com/office/powerpoint/2010/main" val="2490984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B2A81-6ECF-5EA1-584A-8959B553D2B0}"/>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380">
                <a:latin typeface="Aptos Display"/>
                <a:ea typeface="Aptos Display"/>
                <a:cs typeface="Aptos Display"/>
              </a:rPr>
              <a:t>Methods</a:t>
            </a:r>
            <a:endParaRPr/>
          </a:p>
        </p:txBody>
      </p:sp>
      <p:sp>
        <p:nvSpPr>
          <p:cNvPr id="4" name="TextBox 3">
            <a:extLst>
              <a:ext uri="{FF2B5EF4-FFF2-40B4-BE49-F238E27FC236}">
                <a16:creationId xmlns:a16="http://schemas.microsoft.com/office/drawing/2014/main" id="{6680D563-5286-5FA7-E0D5-0D1ECB002B09}"/>
              </a:ext>
            </a:extLst>
          </p:cNvPr>
          <p:cNvSpPr>
            <a:spLocks noGrp="1"/>
          </p:cNvSpPr>
          <p:nvPr/>
        </p:nvSpPr>
        <p:spPr>
          <a:xfrm>
            <a:off x="330200" y="1283544"/>
            <a:ext cx="11626850" cy="523220"/>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HTTP defines different types of requests: methods</a:t>
            </a:r>
          </a:p>
        </p:txBody>
      </p:sp>
      <p:graphicFrame>
        <p:nvGraphicFramePr>
          <p:cNvPr id="8" name="object 3"/>
          <p:cNvGraphicFramePr/>
          <p:nvPr/>
        </p:nvGraphicFramePr>
        <p:xfrm>
          <a:off x="2139950" y="2316424"/>
          <a:ext cx="7543800" cy="3940810"/>
        </p:xfrm>
        <a:graphic>
          <a:graphicData uri="http://schemas.openxmlformats.org/drawingml/2006/table">
            <a:tbl>
              <a:tblPr firstRow="1" bandRow="1">
                <a:tableStyleId>{2D5ABB26-0587-4C30-8999-92F81FD0307C}</a:tableStyleId>
              </a:tblPr>
              <a:tblGrid>
                <a:gridCol w="1476477">
                  <a:extLst>
                    <a:ext uri="{9D8B030D-6E8A-4147-A177-3AD203B41FA5}">
                      <a16:colId xmlns:a16="http://schemas.microsoft.com/office/drawing/2014/main" val="20000"/>
                    </a:ext>
                  </a:extLst>
                </a:gridCol>
                <a:gridCol w="6067323">
                  <a:extLst>
                    <a:ext uri="{9D8B030D-6E8A-4147-A177-3AD203B41FA5}">
                      <a16:colId xmlns:a16="http://schemas.microsoft.com/office/drawing/2014/main" val="20001"/>
                    </a:ext>
                  </a:extLst>
                </a:gridCol>
              </a:tblGrid>
              <a:tr h="365125">
                <a:tc>
                  <a:txBody>
                    <a:bodyPr/>
                    <a:lstStyle/>
                    <a:p>
                      <a:pPr marL="31750">
                        <a:lnSpc>
                          <a:spcPts val="2090"/>
                        </a:lnSpc>
                        <a:buNone/>
                      </a:pPr>
                      <a:r>
                        <a:rPr sz="2400" spc="-25">
                          <a:latin typeface="Courier New"/>
                          <a:ea typeface="Courier New"/>
                          <a:cs typeface="Courier New"/>
                        </a:rPr>
                        <a:t>GET</a:t>
                      </a:r>
                      <a:endParaRPr sz="2400">
                        <a:latin typeface="Courier New"/>
                        <a:ea typeface="Courier New"/>
                        <a:cs typeface="Courier New"/>
                      </a:endParaRPr>
                    </a:p>
                  </a:txBody>
                  <a:tcPr marL="0" marR="0" marT="0" marB="0"/>
                </a:tc>
                <a:tc>
                  <a:txBody>
                    <a:bodyPr/>
                    <a:lstStyle/>
                    <a:p>
                      <a:pPr marL="205740">
                        <a:lnSpc>
                          <a:spcPct val="100000"/>
                        </a:lnSpc>
                        <a:spcBef>
                          <a:spcPts val="30"/>
                        </a:spcBef>
                        <a:buNone/>
                      </a:pPr>
                      <a:r>
                        <a:rPr sz="2400" spc="-40">
                          <a:latin typeface="Aptos (Body)"/>
                          <a:ea typeface="Aptos (Body)"/>
                          <a:cs typeface="Aptos (Body)"/>
                        </a:rPr>
                        <a:t>Request </a:t>
                      </a:r>
                      <a:r>
                        <a:rPr sz="2400">
                          <a:latin typeface="Aptos (Body)"/>
                          <a:ea typeface="Aptos (Body)"/>
                          <a:cs typeface="Aptos (Body)"/>
                        </a:rPr>
                        <a:t>a</a:t>
                      </a:r>
                      <a:r>
                        <a:rPr sz="2400" spc="20">
                          <a:latin typeface="Aptos (Body)"/>
                          <a:ea typeface="Aptos (Body)"/>
                          <a:cs typeface="Aptos (Body)"/>
                        </a:rPr>
                        <a:t> </a:t>
                      </a:r>
                      <a:r>
                        <a:rPr sz="2400" spc="-60">
                          <a:latin typeface="Aptos (Body)"/>
                          <a:ea typeface="Aptos (Body)"/>
                          <a:cs typeface="Aptos (Body)"/>
                        </a:rPr>
                        <a:t>resource:</a:t>
                      </a:r>
                      <a:r>
                        <a:rPr sz="2400" spc="-55">
                          <a:latin typeface="Aptos (Body)"/>
                          <a:ea typeface="Aptos (Body)"/>
                          <a:cs typeface="Aptos (Body)"/>
                        </a:rPr>
                        <a:t> </a:t>
                      </a:r>
                      <a:r>
                        <a:rPr sz="2400" spc="-45">
                          <a:latin typeface="Aptos (Body)"/>
                          <a:ea typeface="Aptos (Body)"/>
                          <a:cs typeface="Aptos (Body)"/>
                        </a:rPr>
                        <a:t>retrieve</a:t>
                      </a:r>
                      <a:r>
                        <a:rPr sz="2400" spc="-55">
                          <a:latin typeface="Aptos (Body)"/>
                          <a:ea typeface="Aptos (Body)"/>
                          <a:cs typeface="Aptos (Body)"/>
                        </a:rPr>
                        <a:t> </a:t>
                      </a:r>
                      <a:r>
                        <a:rPr sz="2400" spc="-20">
                          <a:latin typeface="Aptos (Body)"/>
                          <a:ea typeface="Aptos (Body)"/>
                          <a:cs typeface="Aptos (Body)"/>
                        </a:rPr>
                        <a:t>data</a:t>
                      </a:r>
                      <a:endParaRPr sz="2400">
                        <a:latin typeface="Aptos (Body)"/>
                        <a:ea typeface="Aptos (Body)"/>
                        <a:cs typeface="Aptos (Body)"/>
                      </a:endParaRPr>
                    </a:p>
                  </a:txBody>
                  <a:tcPr marL="0" marR="0" marT="3810" marB="0"/>
                </a:tc>
                <a:extLst>
                  <a:ext uri="{0D108BD9-81ED-4DB2-BD59-A6C34878D82A}">
                    <a16:rowId xmlns:a16="http://schemas.microsoft.com/office/drawing/2014/main" val="10000"/>
                  </a:ext>
                </a:extLst>
              </a:tr>
              <a:tr h="396875">
                <a:tc>
                  <a:txBody>
                    <a:bodyPr/>
                    <a:lstStyle/>
                    <a:p>
                      <a:pPr marL="31750">
                        <a:lnSpc>
                          <a:spcPct val="100000"/>
                        </a:lnSpc>
                        <a:spcBef>
                          <a:spcPts val="175"/>
                        </a:spcBef>
                        <a:buNone/>
                      </a:pPr>
                      <a:r>
                        <a:rPr sz="2400" spc="-20">
                          <a:latin typeface="Courier New"/>
                          <a:ea typeface="Courier New"/>
                          <a:cs typeface="Courier New"/>
                        </a:rPr>
                        <a:t>HEAD</a:t>
                      </a:r>
                      <a:endParaRPr sz="2400">
                        <a:latin typeface="Courier New"/>
                        <a:ea typeface="Courier New"/>
                        <a:cs typeface="Courier New"/>
                      </a:endParaRPr>
                    </a:p>
                  </a:txBody>
                  <a:tcPr marL="0" marR="0" marT="22225" marB="0"/>
                </a:tc>
                <a:tc>
                  <a:txBody>
                    <a:bodyPr/>
                    <a:lstStyle/>
                    <a:p>
                      <a:pPr marL="205740">
                        <a:lnSpc>
                          <a:spcPct val="100000"/>
                        </a:lnSpc>
                        <a:spcBef>
                          <a:spcPts val="275"/>
                        </a:spcBef>
                        <a:buNone/>
                      </a:pPr>
                      <a:r>
                        <a:rPr sz="2400" spc="-45">
                          <a:latin typeface="Aptos (Body)"/>
                          <a:ea typeface="Aptos (Body)"/>
                          <a:cs typeface="Aptos (Body)"/>
                        </a:rPr>
                        <a:t>Request</a:t>
                      </a:r>
                      <a:r>
                        <a:rPr sz="2400">
                          <a:latin typeface="Aptos (Body)"/>
                          <a:ea typeface="Aptos (Body)"/>
                          <a:cs typeface="Aptos (Body)"/>
                        </a:rPr>
                        <a:t> </a:t>
                      </a:r>
                      <a:r>
                        <a:rPr sz="2400" spc="-35">
                          <a:latin typeface="Aptos (Body)"/>
                          <a:ea typeface="Aptos (Body)"/>
                          <a:cs typeface="Aptos (Body)"/>
                        </a:rPr>
                        <a:t>only</a:t>
                      </a:r>
                      <a:r>
                        <a:rPr sz="2400" spc="-65">
                          <a:latin typeface="Aptos (Body)"/>
                          <a:ea typeface="Aptos (Body)"/>
                          <a:cs typeface="Aptos (Body)"/>
                        </a:rPr>
                        <a:t> </a:t>
                      </a:r>
                      <a:r>
                        <a:rPr sz="2400" spc="-10">
                          <a:latin typeface="Aptos (Body)"/>
                          <a:ea typeface="Aptos (Body)"/>
                          <a:cs typeface="Aptos (Body)"/>
                        </a:rPr>
                        <a:t>header</a:t>
                      </a:r>
                      <a:endParaRPr sz="2400">
                        <a:latin typeface="Aptos (Body)"/>
                        <a:ea typeface="Aptos (Body)"/>
                        <a:cs typeface="Aptos (Body)"/>
                      </a:endParaRPr>
                    </a:p>
                  </a:txBody>
                  <a:tcPr marL="0" marR="0" marT="34925" marB="0"/>
                </a:tc>
                <a:extLst>
                  <a:ext uri="{0D108BD9-81ED-4DB2-BD59-A6C34878D82A}">
                    <a16:rowId xmlns:a16="http://schemas.microsoft.com/office/drawing/2014/main" val="10001"/>
                  </a:ext>
                </a:extLst>
              </a:tr>
              <a:tr h="396240">
                <a:tc>
                  <a:txBody>
                    <a:bodyPr/>
                    <a:lstStyle/>
                    <a:p>
                      <a:pPr marL="31750">
                        <a:lnSpc>
                          <a:spcPct val="100000"/>
                        </a:lnSpc>
                        <a:spcBef>
                          <a:spcPts val="175"/>
                        </a:spcBef>
                        <a:buNone/>
                      </a:pPr>
                      <a:r>
                        <a:rPr sz="2400" spc="-25">
                          <a:latin typeface="Courier New"/>
                          <a:ea typeface="Courier New"/>
                          <a:cs typeface="Courier New"/>
                        </a:rPr>
                        <a:t>PUT</a:t>
                      </a:r>
                      <a:endParaRPr sz="2400">
                        <a:latin typeface="Courier New"/>
                        <a:ea typeface="Courier New"/>
                        <a:cs typeface="Courier New"/>
                      </a:endParaRPr>
                    </a:p>
                  </a:txBody>
                  <a:tcPr marL="0" marR="0" marT="22225" marB="0"/>
                </a:tc>
                <a:tc>
                  <a:txBody>
                    <a:bodyPr/>
                    <a:lstStyle/>
                    <a:p>
                      <a:pPr marL="205740">
                        <a:lnSpc>
                          <a:spcPct val="100000"/>
                        </a:lnSpc>
                        <a:spcBef>
                          <a:spcPts val="275"/>
                        </a:spcBef>
                        <a:buNone/>
                      </a:pPr>
                      <a:r>
                        <a:rPr sz="2400" spc="-45">
                          <a:latin typeface="Aptos (Body)"/>
                          <a:ea typeface="Aptos (Body)"/>
                          <a:cs typeface="Aptos (Body)"/>
                        </a:rPr>
                        <a:t>Replace</a:t>
                      </a:r>
                      <a:r>
                        <a:rPr sz="2400" spc="-70">
                          <a:latin typeface="Aptos (Body)"/>
                          <a:ea typeface="Aptos (Body)"/>
                          <a:cs typeface="Aptos (Body)"/>
                        </a:rPr>
                        <a:t> </a:t>
                      </a:r>
                      <a:r>
                        <a:rPr sz="2400" spc="-55">
                          <a:latin typeface="Aptos (Body)"/>
                          <a:ea typeface="Aptos (Body)"/>
                          <a:cs typeface="Aptos (Body)"/>
                        </a:rPr>
                        <a:t>entity</a:t>
                      </a:r>
                      <a:r>
                        <a:rPr sz="2400" spc="-35">
                          <a:latin typeface="Aptos (Body)"/>
                          <a:ea typeface="Aptos (Body)"/>
                          <a:cs typeface="Aptos (Body)"/>
                        </a:rPr>
                        <a:t> </a:t>
                      </a:r>
                      <a:r>
                        <a:rPr sz="2400" spc="-25">
                          <a:latin typeface="Aptos (Body)"/>
                          <a:ea typeface="Aptos (Body)"/>
                          <a:cs typeface="Aptos (Body)"/>
                        </a:rPr>
                        <a:t>with</a:t>
                      </a:r>
                      <a:r>
                        <a:rPr sz="2400" spc="-65">
                          <a:latin typeface="Aptos (Body)"/>
                          <a:ea typeface="Aptos (Body)"/>
                          <a:cs typeface="Aptos (Body)"/>
                        </a:rPr>
                        <a:t> </a:t>
                      </a:r>
                      <a:r>
                        <a:rPr sz="2400" spc="-45">
                          <a:latin typeface="Aptos (Body)"/>
                          <a:ea typeface="Aptos (Body)"/>
                          <a:cs typeface="Aptos (Body)"/>
                        </a:rPr>
                        <a:t>request</a:t>
                      </a:r>
                      <a:r>
                        <a:rPr sz="2400" spc="-70">
                          <a:latin typeface="Aptos (Body)"/>
                          <a:ea typeface="Aptos (Body)"/>
                          <a:cs typeface="Aptos (Body)"/>
                        </a:rPr>
                        <a:t> </a:t>
                      </a:r>
                      <a:r>
                        <a:rPr sz="2400" spc="-10">
                          <a:latin typeface="Aptos (Body)"/>
                          <a:ea typeface="Aptos (Body)"/>
                          <a:cs typeface="Aptos (Body)"/>
                        </a:rPr>
                        <a:t>payload</a:t>
                      </a:r>
                      <a:endParaRPr sz="2400">
                        <a:latin typeface="Aptos (Body)"/>
                        <a:ea typeface="Aptos (Body)"/>
                        <a:cs typeface="Aptos (Body)"/>
                      </a:endParaRPr>
                    </a:p>
                  </a:txBody>
                  <a:tcPr marL="0" marR="0" marT="34925" marB="0"/>
                </a:tc>
                <a:extLst>
                  <a:ext uri="{0D108BD9-81ED-4DB2-BD59-A6C34878D82A}">
                    <a16:rowId xmlns:a16="http://schemas.microsoft.com/office/drawing/2014/main" val="10002"/>
                  </a:ext>
                </a:extLst>
              </a:tr>
              <a:tr h="396875">
                <a:tc>
                  <a:txBody>
                    <a:bodyPr/>
                    <a:lstStyle/>
                    <a:p>
                      <a:pPr marL="31750">
                        <a:lnSpc>
                          <a:spcPct val="100000"/>
                        </a:lnSpc>
                        <a:spcBef>
                          <a:spcPts val="175"/>
                        </a:spcBef>
                        <a:buNone/>
                      </a:pPr>
                      <a:r>
                        <a:rPr sz="2400" spc="-20">
                          <a:latin typeface="Courier New"/>
                          <a:ea typeface="Courier New"/>
                          <a:cs typeface="Courier New"/>
                        </a:rPr>
                        <a:t>POST</a:t>
                      </a:r>
                      <a:endParaRPr sz="2400">
                        <a:latin typeface="Courier New"/>
                        <a:ea typeface="Courier New"/>
                        <a:cs typeface="Courier New"/>
                      </a:endParaRPr>
                    </a:p>
                  </a:txBody>
                  <a:tcPr marL="0" marR="0" marT="22225" marB="0"/>
                </a:tc>
                <a:tc>
                  <a:txBody>
                    <a:bodyPr/>
                    <a:lstStyle/>
                    <a:p>
                      <a:pPr marL="205740">
                        <a:lnSpc>
                          <a:spcPct val="100000"/>
                        </a:lnSpc>
                        <a:spcBef>
                          <a:spcPts val="275"/>
                        </a:spcBef>
                        <a:buNone/>
                      </a:pPr>
                      <a:r>
                        <a:rPr sz="2400" spc="-50">
                          <a:latin typeface="Aptos (Body)"/>
                          <a:ea typeface="Aptos (Body)"/>
                          <a:cs typeface="Aptos (Body)"/>
                        </a:rPr>
                        <a:t>Submit</a:t>
                      </a:r>
                      <a:r>
                        <a:rPr sz="2400" spc="-60">
                          <a:latin typeface="Aptos (Body)"/>
                          <a:ea typeface="Aptos (Body)"/>
                          <a:cs typeface="Aptos (Body)"/>
                        </a:rPr>
                        <a:t> </a:t>
                      </a:r>
                      <a:r>
                        <a:rPr sz="2400">
                          <a:latin typeface="Aptos (Body)"/>
                          <a:ea typeface="Aptos (Body)"/>
                          <a:cs typeface="Aptos (Body)"/>
                        </a:rPr>
                        <a:t>a</a:t>
                      </a:r>
                      <a:r>
                        <a:rPr sz="2400" spc="-65">
                          <a:latin typeface="Aptos (Body)"/>
                          <a:ea typeface="Aptos (Body)"/>
                          <a:cs typeface="Aptos (Body)"/>
                        </a:rPr>
                        <a:t> </a:t>
                      </a:r>
                      <a:r>
                        <a:rPr sz="2400">
                          <a:latin typeface="Aptos (Body)"/>
                          <a:ea typeface="Aptos (Body)"/>
                          <a:cs typeface="Aptos (Body)"/>
                        </a:rPr>
                        <a:t>new</a:t>
                      </a:r>
                      <a:r>
                        <a:rPr sz="2400" spc="-15">
                          <a:latin typeface="Aptos (Body)"/>
                          <a:ea typeface="Aptos (Body)"/>
                          <a:cs typeface="Aptos (Body)"/>
                        </a:rPr>
                        <a:t> </a:t>
                      </a:r>
                      <a:r>
                        <a:rPr sz="2400" spc="-10">
                          <a:latin typeface="Aptos (Body)"/>
                          <a:ea typeface="Aptos (Body)"/>
                          <a:cs typeface="Aptos (Body)"/>
                        </a:rPr>
                        <a:t>entity</a:t>
                      </a:r>
                      <a:endParaRPr sz="2400">
                        <a:latin typeface="Aptos (Body)"/>
                        <a:ea typeface="Aptos (Body)"/>
                        <a:cs typeface="Aptos (Body)"/>
                      </a:endParaRPr>
                    </a:p>
                  </a:txBody>
                  <a:tcPr marL="0" marR="0" marT="34925" marB="0"/>
                </a:tc>
                <a:extLst>
                  <a:ext uri="{0D108BD9-81ED-4DB2-BD59-A6C34878D82A}">
                    <a16:rowId xmlns:a16="http://schemas.microsoft.com/office/drawing/2014/main" val="10003"/>
                  </a:ext>
                </a:extLst>
              </a:tr>
              <a:tr h="396240">
                <a:tc>
                  <a:txBody>
                    <a:bodyPr/>
                    <a:lstStyle/>
                    <a:p>
                      <a:pPr marL="31750">
                        <a:lnSpc>
                          <a:spcPct val="100000"/>
                        </a:lnSpc>
                        <a:spcBef>
                          <a:spcPts val="175"/>
                        </a:spcBef>
                        <a:buNone/>
                      </a:pPr>
                      <a:r>
                        <a:rPr sz="2400" spc="-10">
                          <a:latin typeface="Courier New"/>
                          <a:ea typeface="Courier New"/>
                          <a:cs typeface="Courier New"/>
                        </a:rPr>
                        <a:t>DELETE</a:t>
                      </a:r>
                      <a:endParaRPr sz="2400">
                        <a:latin typeface="Courier New"/>
                        <a:ea typeface="Courier New"/>
                        <a:cs typeface="Courier New"/>
                      </a:endParaRPr>
                    </a:p>
                  </a:txBody>
                  <a:tcPr marL="0" marR="0" marT="22225" marB="0"/>
                </a:tc>
                <a:tc>
                  <a:txBody>
                    <a:bodyPr/>
                    <a:lstStyle/>
                    <a:p>
                      <a:pPr marL="205740">
                        <a:lnSpc>
                          <a:spcPct val="100000"/>
                        </a:lnSpc>
                        <a:spcBef>
                          <a:spcPts val="275"/>
                        </a:spcBef>
                        <a:buNone/>
                      </a:pPr>
                      <a:r>
                        <a:rPr sz="2400">
                          <a:latin typeface="Aptos (Body)"/>
                          <a:ea typeface="Aptos (Body)"/>
                          <a:cs typeface="Aptos (Body)"/>
                        </a:rPr>
                        <a:t>Delete</a:t>
                      </a:r>
                      <a:r>
                        <a:rPr sz="2400" spc="-80">
                          <a:latin typeface="Aptos (Body)"/>
                          <a:ea typeface="Aptos (Body)"/>
                          <a:cs typeface="Aptos (Body)"/>
                        </a:rPr>
                        <a:t> </a:t>
                      </a:r>
                      <a:r>
                        <a:rPr sz="2400" spc="-10">
                          <a:latin typeface="Aptos (Body)"/>
                          <a:ea typeface="Aptos (Body)"/>
                          <a:cs typeface="Aptos (Body)"/>
                        </a:rPr>
                        <a:t>entity</a:t>
                      </a:r>
                      <a:endParaRPr sz="2400">
                        <a:latin typeface="Aptos (Body)"/>
                        <a:ea typeface="Aptos (Body)"/>
                        <a:cs typeface="Aptos (Body)"/>
                      </a:endParaRPr>
                    </a:p>
                  </a:txBody>
                  <a:tcPr marL="0" marR="0" marT="34925" marB="0"/>
                </a:tc>
                <a:extLst>
                  <a:ext uri="{0D108BD9-81ED-4DB2-BD59-A6C34878D82A}">
                    <a16:rowId xmlns:a16="http://schemas.microsoft.com/office/drawing/2014/main" val="10004"/>
                  </a:ext>
                </a:extLst>
              </a:tr>
              <a:tr h="396240">
                <a:tc>
                  <a:txBody>
                    <a:bodyPr/>
                    <a:lstStyle/>
                    <a:p>
                      <a:pPr marL="31750">
                        <a:lnSpc>
                          <a:spcPct val="100000"/>
                        </a:lnSpc>
                        <a:spcBef>
                          <a:spcPts val="175"/>
                        </a:spcBef>
                        <a:buNone/>
                      </a:pPr>
                      <a:r>
                        <a:rPr sz="2400" spc="-10">
                          <a:latin typeface="Courier New"/>
                          <a:ea typeface="Courier New"/>
                          <a:cs typeface="Courier New"/>
                        </a:rPr>
                        <a:t>TRACE</a:t>
                      </a:r>
                      <a:endParaRPr sz="2400">
                        <a:latin typeface="Courier New"/>
                        <a:ea typeface="Courier New"/>
                        <a:cs typeface="Courier New"/>
                      </a:endParaRPr>
                    </a:p>
                  </a:txBody>
                  <a:tcPr marL="0" marR="0" marT="22225" marB="0"/>
                </a:tc>
                <a:tc>
                  <a:txBody>
                    <a:bodyPr/>
                    <a:lstStyle/>
                    <a:p>
                      <a:pPr marL="205740">
                        <a:lnSpc>
                          <a:spcPct val="100000"/>
                        </a:lnSpc>
                        <a:spcBef>
                          <a:spcPts val="275"/>
                        </a:spcBef>
                        <a:buNone/>
                      </a:pPr>
                      <a:r>
                        <a:rPr sz="2400">
                          <a:latin typeface="Aptos (Body)"/>
                          <a:ea typeface="Aptos (Body)"/>
                          <a:cs typeface="Aptos (Body)"/>
                        </a:rPr>
                        <a:t>Echo</a:t>
                      </a:r>
                      <a:r>
                        <a:rPr sz="2400" spc="-45">
                          <a:latin typeface="Aptos (Body)"/>
                          <a:ea typeface="Aptos (Body)"/>
                          <a:cs typeface="Aptos (Body)"/>
                        </a:rPr>
                        <a:t> </a:t>
                      </a:r>
                      <a:r>
                        <a:rPr sz="2400" spc="-10">
                          <a:latin typeface="Aptos (Body)"/>
                          <a:ea typeface="Aptos (Body)"/>
                          <a:cs typeface="Aptos (Body)"/>
                        </a:rPr>
                        <a:t>request</a:t>
                      </a:r>
                      <a:endParaRPr sz="2400">
                        <a:latin typeface="Aptos (Body)"/>
                        <a:ea typeface="Aptos (Body)"/>
                        <a:cs typeface="Aptos (Body)"/>
                      </a:endParaRPr>
                    </a:p>
                  </a:txBody>
                  <a:tcPr marL="0" marR="0" marT="34925" marB="0"/>
                </a:tc>
                <a:extLst>
                  <a:ext uri="{0D108BD9-81ED-4DB2-BD59-A6C34878D82A}">
                    <a16:rowId xmlns:a16="http://schemas.microsoft.com/office/drawing/2014/main" val="10005"/>
                  </a:ext>
                </a:extLst>
              </a:tr>
              <a:tr h="396875">
                <a:tc>
                  <a:txBody>
                    <a:bodyPr/>
                    <a:lstStyle/>
                    <a:p>
                      <a:pPr marL="31750">
                        <a:lnSpc>
                          <a:spcPct val="100000"/>
                        </a:lnSpc>
                        <a:spcBef>
                          <a:spcPts val="175"/>
                        </a:spcBef>
                        <a:buNone/>
                      </a:pPr>
                      <a:r>
                        <a:rPr sz="2400" spc="-10">
                          <a:latin typeface="Courier New"/>
                          <a:ea typeface="Courier New"/>
                          <a:cs typeface="Courier New"/>
                        </a:rPr>
                        <a:t>CONNECT</a:t>
                      </a:r>
                      <a:endParaRPr sz="2400">
                        <a:latin typeface="Courier New"/>
                        <a:ea typeface="Courier New"/>
                        <a:cs typeface="Courier New"/>
                      </a:endParaRPr>
                    </a:p>
                  </a:txBody>
                  <a:tcPr marL="0" marR="0" marT="22225" marB="0"/>
                </a:tc>
                <a:tc>
                  <a:txBody>
                    <a:bodyPr/>
                    <a:lstStyle/>
                    <a:p>
                      <a:pPr marL="205740">
                        <a:lnSpc>
                          <a:spcPct val="100000"/>
                        </a:lnSpc>
                        <a:spcBef>
                          <a:spcPts val="275"/>
                        </a:spcBef>
                        <a:buNone/>
                      </a:pPr>
                      <a:r>
                        <a:rPr sz="2400" spc="-10">
                          <a:latin typeface="Aptos (Body)"/>
                          <a:ea typeface="Aptos (Body)"/>
                          <a:cs typeface="Aptos (Body)"/>
                        </a:rPr>
                        <a:t>Start</a:t>
                      </a:r>
                      <a:r>
                        <a:rPr sz="2400" spc="-90">
                          <a:latin typeface="Aptos (Body)"/>
                          <a:ea typeface="Aptos (Body)"/>
                          <a:cs typeface="Aptos (Body)"/>
                        </a:rPr>
                        <a:t> </a:t>
                      </a:r>
                      <a:r>
                        <a:rPr sz="2400">
                          <a:latin typeface="Aptos (Body)"/>
                          <a:ea typeface="Aptos (Body)"/>
                          <a:cs typeface="Aptos (Body)"/>
                        </a:rPr>
                        <a:t>a</a:t>
                      </a:r>
                      <a:r>
                        <a:rPr sz="2400" spc="-90">
                          <a:latin typeface="Aptos (Body)"/>
                          <a:ea typeface="Aptos (Body)"/>
                          <a:cs typeface="Aptos (Body)"/>
                        </a:rPr>
                        <a:t> </a:t>
                      </a:r>
                      <a:r>
                        <a:rPr sz="2400" spc="-10">
                          <a:latin typeface="Aptos (Body)"/>
                          <a:ea typeface="Aptos (Body)"/>
                          <a:cs typeface="Aptos (Body)"/>
                        </a:rPr>
                        <a:t>two-way</a:t>
                      </a:r>
                      <a:r>
                        <a:rPr sz="2400" spc="-40">
                          <a:latin typeface="Aptos (Body)"/>
                          <a:ea typeface="Aptos (Body)"/>
                          <a:cs typeface="Aptos (Body)"/>
                        </a:rPr>
                        <a:t> </a:t>
                      </a:r>
                      <a:r>
                        <a:rPr sz="2400" spc="-10">
                          <a:latin typeface="Aptos (Body)"/>
                          <a:ea typeface="Aptos (Body)"/>
                          <a:cs typeface="Aptos (Body)"/>
                        </a:rPr>
                        <a:t>communications</a:t>
                      </a:r>
                      <a:endParaRPr sz="2400">
                        <a:latin typeface="Aptos (Body)"/>
                        <a:ea typeface="Aptos (Body)"/>
                        <a:cs typeface="Aptos (Body)"/>
                      </a:endParaRPr>
                    </a:p>
                  </a:txBody>
                  <a:tcPr marL="0" marR="0" marT="34925" marB="0"/>
                </a:tc>
                <a:extLst>
                  <a:ext uri="{0D108BD9-81ED-4DB2-BD59-A6C34878D82A}">
                    <a16:rowId xmlns:a16="http://schemas.microsoft.com/office/drawing/2014/main" val="10006"/>
                  </a:ext>
                </a:extLst>
              </a:tr>
              <a:tr h="396240">
                <a:tc>
                  <a:txBody>
                    <a:bodyPr/>
                    <a:lstStyle/>
                    <a:p>
                      <a:pPr marL="31750">
                        <a:lnSpc>
                          <a:spcPct val="100000"/>
                        </a:lnSpc>
                        <a:spcBef>
                          <a:spcPts val="175"/>
                        </a:spcBef>
                        <a:buNone/>
                      </a:pPr>
                      <a:r>
                        <a:rPr sz="2400" spc="-10">
                          <a:latin typeface="Courier New"/>
                          <a:ea typeface="Courier New"/>
                          <a:cs typeface="Courier New"/>
                        </a:rPr>
                        <a:t>OPTIONS</a:t>
                      </a:r>
                      <a:endParaRPr sz="2400">
                        <a:latin typeface="Courier New"/>
                        <a:ea typeface="Courier New"/>
                        <a:cs typeface="Courier New"/>
                      </a:endParaRPr>
                    </a:p>
                  </a:txBody>
                  <a:tcPr marL="0" marR="0" marT="22225" marB="0"/>
                </a:tc>
                <a:tc>
                  <a:txBody>
                    <a:bodyPr/>
                    <a:lstStyle/>
                    <a:p>
                      <a:pPr marL="205740">
                        <a:lnSpc>
                          <a:spcPct val="100000"/>
                        </a:lnSpc>
                        <a:spcBef>
                          <a:spcPts val="275"/>
                        </a:spcBef>
                        <a:buNone/>
                      </a:pPr>
                      <a:r>
                        <a:rPr sz="2400">
                          <a:latin typeface="Aptos (Body)"/>
                          <a:ea typeface="Aptos (Body)"/>
                          <a:cs typeface="Aptos (Body)"/>
                        </a:rPr>
                        <a:t>Query</a:t>
                      </a:r>
                      <a:r>
                        <a:rPr sz="2400" spc="-25">
                          <a:latin typeface="Aptos (Body)"/>
                          <a:ea typeface="Aptos (Body)"/>
                          <a:cs typeface="Aptos (Body)"/>
                        </a:rPr>
                        <a:t> </a:t>
                      </a:r>
                      <a:r>
                        <a:rPr sz="2400" spc="-60">
                          <a:latin typeface="Aptos (Body)"/>
                          <a:ea typeface="Aptos (Body)"/>
                          <a:cs typeface="Aptos (Body)"/>
                        </a:rPr>
                        <a:t>communication</a:t>
                      </a:r>
                      <a:r>
                        <a:rPr sz="2400" spc="-55">
                          <a:latin typeface="Aptos (Body)"/>
                          <a:ea typeface="Aptos (Body)"/>
                          <a:cs typeface="Aptos (Body)"/>
                        </a:rPr>
                        <a:t> </a:t>
                      </a:r>
                      <a:r>
                        <a:rPr sz="2400" spc="-30">
                          <a:latin typeface="Aptos (Body)"/>
                          <a:ea typeface="Aptos (Body)"/>
                          <a:cs typeface="Aptos (Body)"/>
                        </a:rPr>
                        <a:t>options</a:t>
                      </a:r>
                      <a:r>
                        <a:rPr sz="2400" spc="45">
                          <a:latin typeface="Aptos (Body)"/>
                          <a:ea typeface="Aptos (Body)"/>
                          <a:cs typeface="Aptos (Body)"/>
                        </a:rPr>
                        <a:t> </a:t>
                      </a:r>
                      <a:r>
                        <a:rPr sz="2400">
                          <a:latin typeface="Aptos (Body)"/>
                          <a:ea typeface="Aptos (Body)"/>
                          <a:cs typeface="Aptos (Body)"/>
                        </a:rPr>
                        <a:t>of</a:t>
                      </a:r>
                      <a:r>
                        <a:rPr sz="2400" spc="15">
                          <a:latin typeface="Aptos (Body)"/>
                          <a:ea typeface="Aptos (Body)"/>
                          <a:cs typeface="Aptos (Body)"/>
                        </a:rPr>
                        <a:t> </a:t>
                      </a:r>
                      <a:r>
                        <a:rPr sz="2400" spc="-10">
                          <a:latin typeface="Aptos (Body)"/>
                          <a:ea typeface="Aptos (Body)"/>
                          <a:cs typeface="Aptos (Body)"/>
                        </a:rPr>
                        <a:t>the</a:t>
                      </a:r>
                      <a:r>
                        <a:rPr sz="2400" spc="50">
                          <a:latin typeface="Aptos (Body)"/>
                          <a:ea typeface="Aptos (Body)"/>
                          <a:cs typeface="Aptos (Body)"/>
                        </a:rPr>
                        <a:t> </a:t>
                      </a:r>
                      <a:r>
                        <a:rPr sz="2400" spc="-10">
                          <a:latin typeface="Aptos (Body)"/>
                          <a:ea typeface="Aptos (Body)"/>
                          <a:cs typeface="Aptos (Body)"/>
                        </a:rPr>
                        <a:t>resource</a:t>
                      </a:r>
                      <a:endParaRPr sz="2400">
                        <a:latin typeface="Aptos (Body)"/>
                        <a:ea typeface="Aptos (Body)"/>
                        <a:cs typeface="Aptos (Body)"/>
                      </a:endParaRPr>
                    </a:p>
                  </a:txBody>
                  <a:tcPr marL="0" marR="0" marT="34925" marB="0"/>
                </a:tc>
                <a:extLst>
                  <a:ext uri="{0D108BD9-81ED-4DB2-BD59-A6C34878D82A}">
                    <a16:rowId xmlns:a16="http://schemas.microsoft.com/office/drawing/2014/main" val="10007"/>
                  </a:ext>
                </a:extLst>
              </a:tr>
              <a:tr h="365760">
                <a:tc>
                  <a:txBody>
                    <a:bodyPr/>
                    <a:lstStyle/>
                    <a:p>
                      <a:pPr marL="31750">
                        <a:lnSpc>
                          <a:spcPct val="100000"/>
                        </a:lnSpc>
                        <a:spcBef>
                          <a:spcPts val="175"/>
                        </a:spcBef>
                        <a:buNone/>
                      </a:pPr>
                      <a:r>
                        <a:rPr sz="2400" spc="-10">
                          <a:latin typeface="Courier New"/>
                          <a:ea typeface="Courier New"/>
                          <a:cs typeface="Courier New"/>
                        </a:rPr>
                        <a:t>PATCH</a:t>
                      </a:r>
                      <a:endParaRPr sz="2400">
                        <a:latin typeface="Courier New"/>
                        <a:ea typeface="Courier New"/>
                        <a:cs typeface="Courier New"/>
                      </a:endParaRPr>
                    </a:p>
                  </a:txBody>
                  <a:tcPr marL="0" marR="0" marT="22225" marB="0"/>
                </a:tc>
                <a:tc>
                  <a:txBody>
                    <a:bodyPr/>
                    <a:lstStyle/>
                    <a:p>
                      <a:pPr marL="205740">
                        <a:lnSpc>
                          <a:spcPct val="100000"/>
                        </a:lnSpc>
                        <a:spcBef>
                          <a:spcPts val="275"/>
                        </a:spcBef>
                        <a:buNone/>
                      </a:pPr>
                      <a:r>
                        <a:rPr sz="2400" spc="-65">
                          <a:latin typeface="Aptos (Body)"/>
                          <a:ea typeface="Aptos (Body)"/>
                          <a:cs typeface="Aptos (Body)"/>
                        </a:rPr>
                        <a:t>Partial</a:t>
                      </a:r>
                      <a:r>
                        <a:rPr sz="2400" spc="-50">
                          <a:latin typeface="Aptos (Body)"/>
                          <a:ea typeface="Aptos (Body)"/>
                          <a:cs typeface="Aptos (Body)"/>
                        </a:rPr>
                        <a:t> </a:t>
                      </a:r>
                      <a:r>
                        <a:rPr sz="2400" spc="-60">
                          <a:latin typeface="Aptos (Body)"/>
                          <a:ea typeface="Aptos (Body)"/>
                          <a:cs typeface="Aptos (Body)"/>
                        </a:rPr>
                        <a:t>modification</a:t>
                      </a:r>
                      <a:r>
                        <a:rPr sz="2400" spc="-50">
                          <a:latin typeface="Aptos (Body)"/>
                          <a:ea typeface="Aptos (Body)"/>
                          <a:cs typeface="Aptos (Body)"/>
                        </a:rPr>
                        <a:t> </a:t>
                      </a:r>
                      <a:r>
                        <a:rPr sz="2400">
                          <a:latin typeface="Aptos (Body)"/>
                          <a:ea typeface="Aptos (Body)"/>
                          <a:cs typeface="Aptos (Body)"/>
                        </a:rPr>
                        <a:t>to</a:t>
                      </a:r>
                      <a:r>
                        <a:rPr sz="2400" spc="-45">
                          <a:latin typeface="Aptos (Body)"/>
                          <a:ea typeface="Aptos (Body)"/>
                          <a:cs typeface="Aptos (Body)"/>
                        </a:rPr>
                        <a:t> </a:t>
                      </a:r>
                      <a:r>
                        <a:rPr sz="2400" spc="-10">
                          <a:latin typeface="Aptos (Body)"/>
                          <a:ea typeface="Aptos (Body)"/>
                          <a:cs typeface="Aptos (Body)"/>
                        </a:rPr>
                        <a:t>an</a:t>
                      </a:r>
                      <a:r>
                        <a:rPr sz="2400" spc="35">
                          <a:latin typeface="Aptos (Body)"/>
                          <a:ea typeface="Aptos (Body)"/>
                          <a:cs typeface="Aptos (Body)"/>
                        </a:rPr>
                        <a:t> </a:t>
                      </a:r>
                      <a:r>
                        <a:rPr sz="2400" spc="-10">
                          <a:latin typeface="Aptos (Body)"/>
                          <a:ea typeface="Aptos (Body)"/>
                          <a:cs typeface="Aptos (Body)"/>
                        </a:rPr>
                        <a:t>entity</a:t>
                      </a:r>
                      <a:endParaRPr sz="2400">
                        <a:latin typeface="Aptos (Body)"/>
                        <a:ea typeface="Aptos (Body)"/>
                        <a:cs typeface="Aptos (Body)"/>
                      </a:endParaRPr>
                    </a:p>
                  </a:txBody>
                  <a:tcPr marL="0" marR="0" marT="34925" marB="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5066101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C72C4-5932-B477-6543-E49B0D2B66F1}"/>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Response</a:t>
            </a:r>
            <a:r>
              <a:rPr spc="-80">
                <a:latin typeface="Aptos Display"/>
                <a:ea typeface="Aptos Display"/>
                <a:cs typeface="Aptos Display"/>
              </a:rPr>
              <a:t> </a:t>
            </a:r>
            <a:r>
              <a:t>status</a:t>
            </a:r>
            <a:r>
              <a:rPr spc="-50">
                <a:latin typeface="Aptos Display"/>
                <a:ea typeface="Aptos Display"/>
                <a:cs typeface="Aptos Display"/>
              </a:rPr>
              <a:t> </a:t>
            </a:r>
            <a:r>
              <a:rPr spc="-20">
                <a:latin typeface="Aptos Display"/>
                <a:ea typeface="Aptos Display"/>
                <a:cs typeface="Aptos Display"/>
              </a:rPr>
              <a:t>code</a:t>
            </a:r>
            <a:endParaRPr/>
          </a:p>
        </p:txBody>
      </p:sp>
      <p:sp>
        <p:nvSpPr>
          <p:cNvPr id="4" name="TextBox 3">
            <a:extLst>
              <a:ext uri="{FF2B5EF4-FFF2-40B4-BE49-F238E27FC236}">
                <a16:creationId xmlns:a16="http://schemas.microsoft.com/office/drawing/2014/main" id="{E85E2D1F-9F80-11D6-8663-10285E72A377}"/>
              </a:ext>
            </a:extLst>
          </p:cNvPr>
          <p:cNvSpPr>
            <a:spLocks noGrp="1"/>
          </p:cNvSpPr>
          <p:nvPr/>
        </p:nvSpPr>
        <p:spPr>
          <a:xfrm>
            <a:off x="660400" y="1081826"/>
            <a:ext cx="11626850" cy="954107"/>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A request triggers a response, which containts a status code to indicate how the server handled the request.</a:t>
            </a:r>
          </a:p>
        </p:txBody>
      </p:sp>
      <p:sp>
        <p:nvSpPr>
          <p:cNvPr id="6" name="object 6">
            <a:extLst>
              <a:ext uri="{FF2B5EF4-FFF2-40B4-BE49-F238E27FC236}">
                <a16:creationId xmlns:a16="http://schemas.microsoft.com/office/drawing/2014/main" id="{C2E504AD-7E55-CCEB-1911-83A7D71C140D}"/>
              </a:ext>
            </a:extLst>
          </p:cNvPr>
          <p:cNvSpPr>
            <a:spLocks noGrp="1"/>
          </p:cNvSpPr>
          <p:nvPr/>
        </p:nvSpPr>
        <p:spPr>
          <a:xfrm>
            <a:off x="742314" y="6317297"/>
            <a:ext cx="1201420" cy="334645"/>
          </a:xfrm>
          <a:prstGeom prst="rect">
            <a:avLst/>
          </a:prstGeom>
        </p:spPr>
        <p:txBody>
          <a:bodyPr vert="horz" wrap="square" lIns="0" tIns="15875" rIns="0" bIns="0">
            <a:spAutoFit/>
          </a:bodyPr>
          <a:lstStyle/>
          <a:p>
            <a:pPr marL="12700">
              <a:lnSpc>
                <a:spcPct val="100000"/>
              </a:lnSpc>
              <a:spcBef>
                <a:spcPts val="125"/>
              </a:spcBef>
              <a:buNone/>
              <a:defRPr>
                <a:latin typeface="Aptos"/>
                <a:ea typeface="Aptos"/>
                <a:cs typeface="Aptos"/>
              </a:defRPr>
            </a:pPr>
            <a:r>
              <a:rPr sz="2000" spc="-270">
                <a:latin typeface="Aptos"/>
                <a:ea typeface="Aptos"/>
                <a:cs typeface="Aptos"/>
              </a:rPr>
              <a:t>https://http.cat/</a:t>
            </a:r>
            <a:endParaRPr sz="2000">
              <a:latin typeface="Aptos (Body)"/>
              <a:ea typeface="Aptos (Body)"/>
              <a:cs typeface="Aptos (Body)"/>
            </a:endParaRPr>
          </a:p>
        </p:txBody>
      </p:sp>
      <p:graphicFrame>
        <p:nvGraphicFramePr>
          <p:cNvPr id="11" name="object 4"/>
          <p:cNvGraphicFramePr/>
          <p:nvPr/>
        </p:nvGraphicFramePr>
        <p:xfrm>
          <a:off x="940752" y="3102427"/>
          <a:ext cx="2489833" cy="1920875"/>
        </p:xfrm>
        <a:graphic>
          <a:graphicData uri="http://schemas.openxmlformats.org/drawingml/2006/table">
            <a:tbl>
              <a:tblPr firstRow="1" bandRow="1">
                <a:tableStyleId>{2D5ABB26-0587-4C30-8999-92F81FD0307C}</a:tableStyleId>
              </a:tblPr>
              <a:tblGrid>
                <a:gridCol w="826769">
                  <a:extLst>
                    <a:ext uri="{9D8B030D-6E8A-4147-A177-3AD203B41FA5}">
                      <a16:colId xmlns:a16="http://schemas.microsoft.com/office/drawing/2014/main" val="20000"/>
                    </a:ext>
                  </a:extLst>
                </a:gridCol>
                <a:gridCol w="1663064">
                  <a:extLst>
                    <a:ext uri="{9D8B030D-6E8A-4147-A177-3AD203B41FA5}">
                      <a16:colId xmlns:a16="http://schemas.microsoft.com/office/drawing/2014/main" val="20001"/>
                    </a:ext>
                  </a:extLst>
                </a:gridCol>
              </a:tblGrid>
              <a:tr h="365125">
                <a:tc>
                  <a:txBody>
                    <a:bodyPr/>
                    <a:lstStyle/>
                    <a:p>
                      <a:pPr marL="31750">
                        <a:lnSpc>
                          <a:spcPts val="2095"/>
                        </a:lnSpc>
                        <a:buNone/>
                      </a:pPr>
                      <a:r>
                        <a:rPr sz="1800" spc="-25">
                          <a:latin typeface="Courier New"/>
                          <a:ea typeface="Courier New"/>
                          <a:cs typeface="Courier New"/>
                        </a:rPr>
                        <a:t>1xx</a:t>
                      </a:r>
                      <a:endParaRPr sz="1800">
                        <a:latin typeface="Courier New"/>
                        <a:ea typeface="Courier New"/>
                        <a:cs typeface="Courier New"/>
                      </a:endParaRPr>
                    </a:p>
                  </a:txBody>
                  <a:tcPr marL="0" marR="0" marT="0" marB="0"/>
                </a:tc>
                <a:tc>
                  <a:txBody>
                    <a:bodyPr/>
                    <a:lstStyle/>
                    <a:p>
                      <a:pPr marL="394970">
                        <a:lnSpc>
                          <a:spcPct val="100000"/>
                        </a:lnSpc>
                        <a:spcBef>
                          <a:spcPts val="30"/>
                        </a:spcBef>
                        <a:buNone/>
                      </a:pPr>
                      <a:r>
                        <a:rPr sz="2000" spc="-10">
                          <a:latin typeface="Aptos (Body)"/>
                          <a:ea typeface="Aptos (Body)"/>
                          <a:cs typeface="Aptos (Body)"/>
                        </a:rPr>
                        <a:t>Information</a:t>
                      </a:r>
                      <a:endParaRPr sz="2000">
                        <a:latin typeface="Aptos (Body)"/>
                        <a:ea typeface="Aptos (Body)"/>
                        <a:cs typeface="Aptos (Body)"/>
                      </a:endParaRPr>
                    </a:p>
                  </a:txBody>
                  <a:tcPr marL="0" marR="0" marT="3810" marB="0"/>
                </a:tc>
                <a:extLst>
                  <a:ext uri="{0D108BD9-81ED-4DB2-BD59-A6C34878D82A}">
                    <a16:rowId xmlns:a16="http://schemas.microsoft.com/office/drawing/2014/main" val="10000"/>
                  </a:ext>
                </a:extLst>
              </a:tr>
              <a:tr h="396875">
                <a:tc>
                  <a:txBody>
                    <a:bodyPr/>
                    <a:lstStyle/>
                    <a:p>
                      <a:pPr marL="31750">
                        <a:lnSpc>
                          <a:spcPct val="100000"/>
                        </a:lnSpc>
                        <a:spcBef>
                          <a:spcPts val="175"/>
                        </a:spcBef>
                        <a:buNone/>
                      </a:pPr>
                      <a:r>
                        <a:rPr sz="1800" spc="-25">
                          <a:latin typeface="Courier New"/>
                          <a:ea typeface="Courier New"/>
                          <a:cs typeface="Courier New"/>
                        </a:rPr>
                        <a:t>2xx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10">
                          <a:latin typeface="Aptos (Body)"/>
                          <a:ea typeface="Aptos (Body)"/>
                          <a:cs typeface="Aptos (Body)"/>
                        </a:rPr>
                        <a:t>Success</a:t>
                      </a:r>
                      <a:endParaRPr sz="2000">
                        <a:latin typeface="Aptos (Body)"/>
                        <a:ea typeface="Aptos (Body)"/>
                        <a:cs typeface="Aptos (Body)"/>
                      </a:endParaRPr>
                    </a:p>
                  </a:txBody>
                  <a:tcPr marL="0" marR="0" marT="34925" marB="0"/>
                </a:tc>
                <a:extLst>
                  <a:ext uri="{0D108BD9-81ED-4DB2-BD59-A6C34878D82A}">
                    <a16:rowId xmlns:a16="http://schemas.microsoft.com/office/drawing/2014/main" val="10001"/>
                  </a:ext>
                </a:extLst>
              </a:tr>
              <a:tr h="396240">
                <a:tc>
                  <a:txBody>
                    <a:bodyPr/>
                    <a:lstStyle/>
                    <a:p>
                      <a:pPr marL="31750">
                        <a:lnSpc>
                          <a:spcPct val="100000"/>
                        </a:lnSpc>
                        <a:spcBef>
                          <a:spcPts val="175"/>
                        </a:spcBef>
                        <a:buNone/>
                      </a:pPr>
                      <a:r>
                        <a:rPr sz="1800" spc="-25">
                          <a:latin typeface="Courier New"/>
                          <a:ea typeface="Courier New"/>
                          <a:cs typeface="Courier New"/>
                        </a:rPr>
                        <a:t>3xx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10">
                          <a:latin typeface="Aptos (Body)"/>
                          <a:ea typeface="Aptos (Body)"/>
                          <a:cs typeface="Aptos (Body)"/>
                        </a:rPr>
                        <a:t>Redirection</a:t>
                      </a:r>
                      <a:endParaRPr sz="2000">
                        <a:latin typeface="Aptos (Body)"/>
                        <a:ea typeface="Aptos (Body)"/>
                        <a:cs typeface="Aptos (Body)"/>
                      </a:endParaRPr>
                    </a:p>
                  </a:txBody>
                  <a:tcPr marL="0" marR="0" marT="34925" marB="0"/>
                </a:tc>
                <a:extLst>
                  <a:ext uri="{0D108BD9-81ED-4DB2-BD59-A6C34878D82A}">
                    <a16:rowId xmlns:a16="http://schemas.microsoft.com/office/drawing/2014/main" val="10002"/>
                  </a:ext>
                </a:extLst>
              </a:tr>
              <a:tr h="396875">
                <a:tc>
                  <a:txBody>
                    <a:bodyPr/>
                    <a:lstStyle/>
                    <a:p>
                      <a:pPr marL="31750">
                        <a:lnSpc>
                          <a:spcPct val="100000"/>
                        </a:lnSpc>
                        <a:spcBef>
                          <a:spcPts val="175"/>
                        </a:spcBef>
                        <a:buNone/>
                      </a:pPr>
                      <a:r>
                        <a:rPr sz="1800" spc="-25">
                          <a:latin typeface="Courier New"/>
                          <a:ea typeface="Courier New"/>
                          <a:cs typeface="Courier New"/>
                        </a:rPr>
                        <a:t>4xx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a:latin typeface="Aptos (Body)"/>
                          <a:ea typeface="Aptos (Body)"/>
                          <a:cs typeface="Aptos (Body)"/>
                        </a:rPr>
                        <a:t>Client</a:t>
                      </a:r>
                      <a:r>
                        <a:rPr sz="2000" spc="-95">
                          <a:latin typeface="Aptos (Body)"/>
                          <a:ea typeface="Aptos (Body)"/>
                          <a:cs typeface="Aptos (Body)"/>
                        </a:rPr>
                        <a:t> </a:t>
                      </a:r>
                      <a:r>
                        <a:rPr sz="2000" spc="-20">
                          <a:latin typeface="Aptos (Body)"/>
                          <a:ea typeface="Aptos (Body)"/>
                          <a:cs typeface="Aptos (Body)"/>
                        </a:rPr>
                        <a:t>error</a:t>
                      </a:r>
                      <a:endParaRPr sz="2000">
                        <a:latin typeface="Aptos (Body)"/>
                        <a:ea typeface="Aptos (Body)"/>
                        <a:cs typeface="Aptos (Body)"/>
                      </a:endParaRPr>
                    </a:p>
                  </a:txBody>
                  <a:tcPr marL="0" marR="0" marT="34925" marB="0"/>
                </a:tc>
                <a:extLst>
                  <a:ext uri="{0D108BD9-81ED-4DB2-BD59-A6C34878D82A}">
                    <a16:rowId xmlns:a16="http://schemas.microsoft.com/office/drawing/2014/main" val="10003"/>
                  </a:ext>
                </a:extLst>
              </a:tr>
              <a:tr h="365760">
                <a:tc>
                  <a:txBody>
                    <a:bodyPr/>
                    <a:lstStyle/>
                    <a:p>
                      <a:pPr marL="31750">
                        <a:lnSpc>
                          <a:spcPct val="100000"/>
                        </a:lnSpc>
                        <a:spcBef>
                          <a:spcPts val="175"/>
                        </a:spcBef>
                        <a:buNone/>
                      </a:pPr>
                      <a:r>
                        <a:rPr sz="1800" spc="-25">
                          <a:latin typeface="Courier New"/>
                          <a:ea typeface="Courier New"/>
                          <a:cs typeface="Courier New"/>
                        </a:rPr>
                        <a:t>5xx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20">
                          <a:latin typeface="Aptos (Body)"/>
                          <a:ea typeface="Aptos (Body)"/>
                          <a:cs typeface="Aptos (Body)"/>
                        </a:rPr>
                        <a:t>Server</a:t>
                      </a:r>
                      <a:r>
                        <a:rPr sz="2000" spc="-45">
                          <a:latin typeface="Aptos (Body)"/>
                          <a:ea typeface="Aptos (Body)"/>
                          <a:cs typeface="Aptos (Body)"/>
                        </a:rPr>
                        <a:t> </a:t>
                      </a:r>
                      <a:r>
                        <a:rPr sz="2000" spc="-20">
                          <a:latin typeface="Aptos (Body)"/>
                          <a:ea typeface="Aptos (Body)"/>
                          <a:cs typeface="Aptos (Body)"/>
                        </a:rPr>
                        <a:t>error</a:t>
                      </a:r>
                      <a:endParaRPr sz="2000">
                        <a:latin typeface="Aptos (Body)"/>
                        <a:ea typeface="Aptos (Body)"/>
                        <a:cs typeface="Aptos (Body)"/>
                      </a:endParaRPr>
                    </a:p>
                  </a:txBody>
                  <a:tcPr marL="0" marR="0" marT="34925"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945959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021C0-C035-B976-4F49-463822C2A6EE}"/>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Response</a:t>
            </a:r>
            <a:r>
              <a:rPr spc="-80">
                <a:latin typeface="Aptos Display"/>
                <a:ea typeface="Aptos Display"/>
                <a:cs typeface="Aptos Display"/>
              </a:rPr>
              <a:t> </a:t>
            </a:r>
            <a:r>
              <a:t>status</a:t>
            </a:r>
            <a:r>
              <a:rPr spc="-50">
                <a:latin typeface="Aptos Display"/>
                <a:ea typeface="Aptos Display"/>
                <a:cs typeface="Aptos Display"/>
              </a:rPr>
              <a:t> </a:t>
            </a:r>
            <a:r>
              <a:rPr spc="-20">
                <a:latin typeface="Aptos Display"/>
                <a:ea typeface="Aptos Display"/>
                <a:cs typeface="Aptos Display"/>
              </a:rPr>
              <a:t>code</a:t>
            </a:r>
            <a:endParaRPr/>
          </a:p>
        </p:txBody>
      </p:sp>
      <p:sp>
        <p:nvSpPr>
          <p:cNvPr id="4" name="TextBox 3">
            <a:extLst>
              <a:ext uri="{FF2B5EF4-FFF2-40B4-BE49-F238E27FC236}">
                <a16:creationId xmlns:a16="http://schemas.microsoft.com/office/drawing/2014/main" id="{D2E19A73-CDBA-280E-7C04-78EC76BB03BB}"/>
              </a:ext>
            </a:extLst>
          </p:cNvPr>
          <p:cNvSpPr>
            <a:spLocks noGrp="1"/>
          </p:cNvSpPr>
          <p:nvPr/>
        </p:nvSpPr>
        <p:spPr>
          <a:xfrm>
            <a:off x="660400" y="1081826"/>
            <a:ext cx="11626850" cy="954107"/>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A request triggers a response, which containts a status code to indicate how the server handled the request.</a:t>
            </a:r>
          </a:p>
        </p:txBody>
      </p:sp>
      <p:sp>
        <p:nvSpPr>
          <p:cNvPr id="6" name="object 6">
            <a:extLst>
              <a:ext uri="{FF2B5EF4-FFF2-40B4-BE49-F238E27FC236}">
                <a16:creationId xmlns:a16="http://schemas.microsoft.com/office/drawing/2014/main" id="{F9EC0BAC-10E5-CA28-3C1F-0F98B50F370C}"/>
              </a:ext>
            </a:extLst>
          </p:cNvPr>
          <p:cNvSpPr>
            <a:spLocks noGrp="1"/>
          </p:cNvSpPr>
          <p:nvPr/>
        </p:nvSpPr>
        <p:spPr>
          <a:xfrm>
            <a:off x="742314" y="6317297"/>
            <a:ext cx="1201420" cy="334645"/>
          </a:xfrm>
          <a:prstGeom prst="rect">
            <a:avLst/>
          </a:prstGeom>
        </p:spPr>
        <p:txBody>
          <a:bodyPr vert="horz" wrap="square" lIns="0" tIns="15875" rIns="0" bIns="0">
            <a:spAutoFit/>
          </a:bodyPr>
          <a:lstStyle/>
          <a:p>
            <a:pPr marL="12700">
              <a:lnSpc>
                <a:spcPct val="100000"/>
              </a:lnSpc>
              <a:spcBef>
                <a:spcPts val="125"/>
              </a:spcBef>
              <a:buNone/>
              <a:defRPr>
                <a:latin typeface="Aptos"/>
                <a:ea typeface="Aptos"/>
                <a:cs typeface="Aptos"/>
              </a:defRPr>
            </a:pPr>
            <a:r>
              <a:rPr sz="2000" spc="-270">
                <a:latin typeface="Aptos"/>
                <a:ea typeface="Aptos"/>
                <a:cs typeface="Aptos"/>
              </a:rPr>
              <a:t>https://http.cat/</a:t>
            </a:r>
            <a:endParaRPr sz="2000">
              <a:latin typeface="Aptos (Body)"/>
              <a:ea typeface="Aptos (Body)"/>
              <a:cs typeface="Aptos (Body)"/>
            </a:endParaRPr>
          </a:p>
        </p:txBody>
      </p:sp>
      <p:pic>
        <p:nvPicPr>
          <p:cNvPr id="12" name="object 5"/>
          <p:cNvPicPr>
            <a:picLocks noChangeAspect="1"/>
          </p:cNvPicPr>
          <p:nvPr/>
        </p:nvPicPr>
        <p:blipFill>
          <a:blip r:embed="rId3"/>
          <a:stretch>
            <a:fillRect/>
          </a:stretch>
        </p:blipFill>
        <p:spPr>
          <a:xfrm>
            <a:off x="7117927" y="2347595"/>
            <a:ext cx="4848225" cy="3867150"/>
          </a:xfrm>
          <a:prstGeom prst="rect">
            <a:avLst/>
          </a:prstGeom>
        </p:spPr>
      </p:pic>
      <p:graphicFrame>
        <p:nvGraphicFramePr>
          <p:cNvPr id="13" name="object 4"/>
          <p:cNvGraphicFramePr/>
          <p:nvPr/>
        </p:nvGraphicFramePr>
        <p:xfrm>
          <a:off x="940752" y="3102427"/>
          <a:ext cx="2489833" cy="1920875"/>
        </p:xfrm>
        <a:graphic>
          <a:graphicData uri="http://schemas.openxmlformats.org/drawingml/2006/table">
            <a:tbl>
              <a:tblPr firstRow="1" bandRow="1">
                <a:tableStyleId>{2D5ABB26-0587-4C30-8999-92F81FD0307C}</a:tableStyleId>
              </a:tblPr>
              <a:tblGrid>
                <a:gridCol w="826769">
                  <a:extLst>
                    <a:ext uri="{9D8B030D-6E8A-4147-A177-3AD203B41FA5}">
                      <a16:colId xmlns:a16="http://schemas.microsoft.com/office/drawing/2014/main" val="20000"/>
                    </a:ext>
                  </a:extLst>
                </a:gridCol>
                <a:gridCol w="1663064">
                  <a:extLst>
                    <a:ext uri="{9D8B030D-6E8A-4147-A177-3AD203B41FA5}">
                      <a16:colId xmlns:a16="http://schemas.microsoft.com/office/drawing/2014/main" val="20001"/>
                    </a:ext>
                  </a:extLst>
                </a:gridCol>
              </a:tblGrid>
              <a:tr h="365125">
                <a:tc>
                  <a:txBody>
                    <a:bodyPr/>
                    <a:lstStyle/>
                    <a:p>
                      <a:pPr marL="31750">
                        <a:lnSpc>
                          <a:spcPts val="2095"/>
                        </a:lnSpc>
                        <a:buNone/>
                      </a:pPr>
                      <a:r>
                        <a:rPr sz="1800" spc="-25">
                          <a:latin typeface="Courier New"/>
                          <a:ea typeface="Courier New"/>
                          <a:cs typeface="Courier New"/>
                        </a:rPr>
                        <a:t>1xx</a:t>
                      </a:r>
                      <a:endParaRPr sz="1800">
                        <a:latin typeface="Courier New"/>
                        <a:ea typeface="Courier New"/>
                        <a:cs typeface="Courier New"/>
                      </a:endParaRPr>
                    </a:p>
                  </a:txBody>
                  <a:tcPr marL="0" marR="0" marT="0" marB="0"/>
                </a:tc>
                <a:tc>
                  <a:txBody>
                    <a:bodyPr/>
                    <a:lstStyle/>
                    <a:p>
                      <a:pPr marL="394970">
                        <a:lnSpc>
                          <a:spcPct val="100000"/>
                        </a:lnSpc>
                        <a:spcBef>
                          <a:spcPts val="30"/>
                        </a:spcBef>
                        <a:buNone/>
                      </a:pPr>
                      <a:r>
                        <a:rPr sz="2000" spc="-10">
                          <a:latin typeface="Aptos (Body)"/>
                          <a:ea typeface="Aptos (Body)"/>
                          <a:cs typeface="Aptos (Body)"/>
                        </a:rPr>
                        <a:t>Information</a:t>
                      </a:r>
                      <a:endParaRPr sz="2000">
                        <a:latin typeface="Aptos (Body)"/>
                        <a:ea typeface="Aptos (Body)"/>
                        <a:cs typeface="Aptos (Body)"/>
                      </a:endParaRPr>
                    </a:p>
                  </a:txBody>
                  <a:tcPr marL="0" marR="0" marT="3810" marB="0"/>
                </a:tc>
                <a:extLst>
                  <a:ext uri="{0D108BD9-81ED-4DB2-BD59-A6C34878D82A}">
                    <a16:rowId xmlns:a16="http://schemas.microsoft.com/office/drawing/2014/main" val="10000"/>
                  </a:ext>
                </a:extLst>
              </a:tr>
              <a:tr h="396875">
                <a:tc>
                  <a:txBody>
                    <a:bodyPr/>
                    <a:lstStyle/>
                    <a:p>
                      <a:pPr marL="31750">
                        <a:lnSpc>
                          <a:spcPct val="100000"/>
                        </a:lnSpc>
                        <a:spcBef>
                          <a:spcPts val="175"/>
                        </a:spcBef>
                        <a:buNone/>
                      </a:pPr>
                      <a:r>
                        <a:rPr sz="1800" spc="-25">
                          <a:latin typeface="Courier New"/>
                          <a:ea typeface="Courier New"/>
                          <a:cs typeface="Courier New"/>
                        </a:rPr>
                        <a:t>2xx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10">
                          <a:latin typeface="Aptos (Body)"/>
                          <a:ea typeface="Aptos (Body)"/>
                          <a:cs typeface="Aptos (Body)"/>
                        </a:rPr>
                        <a:t>Success</a:t>
                      </a:r>
                      <a:endParaRPr sz="2000">
                        <a:latin typeface="Aptos (Body)"/>
                        <a:ea typeface="Aptos (Body)"/>
                        <a:cs typeface="Aptos (Body)"/>
                      </a:endParaRPr>
                    </a:p>
                  </a:txBody>
                  <a:tcPr marL="0" marR="0" marT="34925" marB="0"/>
                </a:tc>
                <a:extLst>
                  <a:ext uri="{0D108BD9-81ED-4DB2-BD59-A6C34878D82A}">
                    <a16:rowId xmlns:a16="http://schemas.microsoft.com/office/drawing/2014/main" val="10001"/>
                  </a:ext>
                </a:extLst>
              </a:tr>
              <a:tr h="396240">
                <a:tc>
                  <a:txBody>
                    <a:bodyPr/>
                    <a:lstStyle/>
                    <a:p>
                      <a:pPr marL="31750">
                        <a:lnSpc>
                          <a:spcPct val="100000"/>
                        </a:lnSpc>
                        <a:spcBef>
                          <a:spcPts val="175"/>
                        </a:spcBef>
                        <a:buNone/>
                      </a:pPr>
                      <a:r>
                        <a:rPr sz="1800" spc="-25">
                          <a:latin typeface="Courier New"/>
                          <a:ea typeface="Courier New"/>
                          <a:cs typeface="Courier New"/>
                        </a:rPr>
                        <a:t>3xx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10">
                          <a:latin typeface="Aptos (Body)"/>
                          <a:ea typeface="Aptos (Body)"/>
                          <a:cs typeface="Aptos (Body)"/>
                        </a:rPr>
                        <a:t>Redirection</a:t>
                      </a:r>
                      <a:endParaRPr sz="2000">
                        <a:latin typeface="Aptos (Body)"/>
                        <a:ea typeface="Aptos (Body)"/>
                        <a:cs typeface="Aptos (Body)"/>
                      </a:endParaRPr>
                    </a:p>
                  </a:txBody>
                  <a:tcPr marL="0" marR="0" marT="34925" marB="0"/>
                </a:tc>
                <a:extLst>
                  <a:ext uri="{0D108BD9-81ED-4DB2-BD59-A6C34878D82A}">
                    <a16:rowId xmlns:a16="http://schemas.microsoft.com/office/drawing/2014/main" val="10002"/>
                  </a:ext>
                </a:extLst>
              </a:tr>
              <a:tr h="396875">
                <a:tc>
                  <a:txBody>
                    <a:bodyPr/>
                    <a:lstStyle/>
                    <a:p>
                      <a:pPr marL="31750">
                        <a:lnSpc>
                          <a:spcPct val="100000"/>
                        </a:lnSpc>
                        <a:spcBef>
                          <a:spcPts val="175"/>
                        </a:spcBef>
                        <a:buNone/>
                      </a:pPr>
                      <a:r>
                        <a:rPr sz="1800" spc="-25">
                          <a:latin typeface="Courier New"/>
                          <a:ea typeface="Courier New"/>
                          <a:cs typeface="Courier New"/>
                        </a:rPr>
                        <a:t>4xx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a:latin typeface="Aptos (Body)"/>
                          <a:ea typeface="Aptos (Body)"/>
                          <a:cs typeface="Aptos (Body)"/>
                        </a:rPr>
                        <a:t>Client</a:t>
                      </a:r>
                      <a:r>
                        <a:rPr sz="2000" spc="-95">
                          <a:latin typeface="Aptos (Body)"/>
                          <a:ea typeface="Aptos (Body)"/>
                          <a:cs typeface="Aptos (Body)"/>
                        </a:rPr>
                        <a:t> </a:t>
                      </a:r>
                      <a:r>
                        <a:rPr sz="2000" spc="-20">
                          <a:latin typeface="Aptos (Body)"/>
                          <a:ea typeface="Aptos (Body)"/>
                          <a:cs typeface="Aptos (Body)"/>
                        </a:rPr>
                        <a:t>error</a:t>
                      </a:r>
                      <a:endParaRPr sz="2000">
                        <a:latin typeface="Aptos (Body)"/>
                        <a:ea typeface="Aptos (Body)"/>
                        <a:cs typeface="Aptos (Body)"/>
                      </a:endParaRPr>
                    </a:p>
                  </a:txBody>
                  <a:tcPr marL="0" marR="0" marT="34925" marB="0"/>
                </a:tc>
                <a:extLst>
                  <a:ext uri="{0D108BD9-81ED-4DB2-BD59-A6C34878D82A}">
                    <a16:rowId xmlns:a16="http://schemas.microsoft.com/office/drawing/2014/main" val="10003"/>
                  </a:ext>
                </a:extLst>
              </a:tr>
              <a:tr h="365760">
                <a:tc>
                  <a:txBody>
                    <a:bodyPr/>
                    <a:lstStyle/>
                    <a:p>
                      <a:pPr marL="31750">
                        <a:lnSpc>
                          <a:spcPct val="100000"/>
                        </a:lnSpc>
                        <a:spcBef>
                          <a:spcPts val="175"/>
                        </a:spcBef>
                        <a:buNone/>
                      </a:pPr>
                      <a:r>
                        <a:rPr sz="1800" spc="-25">
                          <a:latin typeface="Courier New"/>
                          <a:ea typeface="Courier New"/>
                          <a:cs typeface="Courier New"/>
                        </a:rPr>
                        <a:t>5xx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20">
                          <a:latin typeface="Aptos (Body)"/>
                          <a:ea typeface="Aptos (Body)"/>
                          <a:cs typeface="Aptos (Body)"/>
                        </a:rPr>
                        <a:t>Server</a:t>
                      </a:r>
                      <a:r>
                        <a:rPr sz="2000" spc="-45">
                          <a:latin typeface="Aptos (Body)"/>
                          <a:ea typeface="Aptos (Body)"/>
                          <a:cs typeface="Aptos (Body)"/>
                        </a:rPr>
                        <a:t> </a:t>
                      </a:r>
                      <a:r>
                        <a:rPr sz="2000" spc="-20">
                          <a:latin typeface="Aptos (Body)"/>
                          <a:ea typeface="Aptos (Body)"/>
                          <a:cs typeface="Aptos (Body)"/>
                        </a:rPr>
                        <a:t>error</a:t>
                      </a:r>
                      <a:endParaRPr sz="2000">
                        <a:latin typeface="Aptos (Body)"/>
                        <a:ea typeface="Aptos (Body)"/>
                        <a:cs typeface="Aptos (Body)"/>
                      </a:endParaRPr>
                    </a:p>
                  </a:txBody>
                  <a:tcPr marL="0" marR="0" marT="34925"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3063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BD644-17E9-E335-B3AD-5C0A2079C4E8}"/>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Response</a:t>
            </a:r>
            <a:r>
              <a:rPr spc="-80">
                <a:latin typeface="Aptos Display"/>
                <a:ea typeface="Aptos Display"/>
                <a:cs typeface="Aptos Display"/>
              </a:rPr>
              <a:t> </a:t>
            </a:r>
            <a:r>
              <a:t>status</a:t>
            </a:r>
            <a:r>
              <a:rPr spc="-50">
                <a:latin typeface="Aptos Display"/>
                <a:ea typeface="Aptos Display"/>
                <a:cs typeface="Aptos Display"/>
              </a:rPr>
              <a:t> </a:t>
            </a:r>
            <a:r>
              <a:rPr spc="-20">
                <a:latin typeface="Aptos Display"/>
                <a:ea typeface="Aptos Display"/>
                <a:cs typeface="Aptos Display"/>
              </a:rPr>
              <a:t>code</a:t>
            </a:r>
            <a:endParaRPr/>
          </a:p>
        </p:txBody>
      </p:sp>
      <p:sp>
        <p:nvSpPr>
          <p:cNvPr id="4" name="TextBox 3">
            <a:extLst>
              <a:ext uri="{FF2B5EF4-FFF2-40B4-BE49-F238E27FC236}">
                <a16:creationId xmlns:a16="http://schemas.microsoft.com/office/drawing/2014/main" id="{C1EAB882-9D7E-90EF-B55F-9BDF67D102E0}"/>
              </a:ext>
            </a:extLst>
          </p:cNvPr>
          <p:cNvSpPr>
            <a:spLocks noGrp="1"/>
          </p:cNvSpPr>
          <p:nvPr/>
        </p:nvSpPr>
        <p:spPr>
          <a:xfrm>
            <a:off x="660400" y="1081826"/>
            <a:ext cx="11626850" cy="954107"/>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A request triggers a response, which containts a status code to indicate how the server handled the request.</a:t>
            </a:r>
          </a:p>
        </p:txBody>
      </p:sp>
      <p:sp>
        <p:nvSpPr>
          <p:cNvPr id="6" name="object 6">
            <a:extLst>
              <a:ext uri="{FF2B5EF4-FFF2-40B4-BE49-F238E27FC236}">
                <a16:creationId xmlns:a16="http://schemas.microsoft.com/office/drawing/2014/main" id="{D5B843A8-8372-4155-3A09-87BE51EC1786}"/>
              </a:ext>
            </a:extLst>
          </p:cNvPr>
          <p:cNvSpPr>
            <a:spLocks noGrp="1"/>
          </p:cNvSpPr>
          <p:nvPr/>
        </p:nvSpPr>
        <p:spPr>
          <a:xfrm>
            <a:off x="742314" y="6317297"/>
            <a:ext cx="1201420" cy="334645"/>
          </a:xfrm>
          <a:prstGeom prst="rect">
            <a:avLst/>
          </a:prstGeom>
        </p:spPr>
        <p:txBody>
          <a:bodyPr vert="horz" wrap="square" lIns="0" tIns="15875" rIns="0" bIns="0">
            <a:spAutoFit/>
          </a:bodyPr>
          <a:lstStyle/>
          <a:p>
            <a:pPr marL="12700">
              <a:lnSpc>
                <a:spcPct val="100000"/>
              </a:lnSpc>
              <a:spcBef>
                <a:spcPts val="125"/>
              </a:spcBef>
              <a:buNone/>
              <a:defRPr>
                <a:latin typeface="Aptos"/>
                <a:ea typeface="Aptos"/>
                <a:cs typeface="Aptos"/>
              </a:defRPr>
            </a:pPr>
            <a:r>
              <a:rPr sz="2000" spc="-270">
                <a:latin typeface="Aptos"/>
                <a:ea typeface="Aptos"/>
                <a:cs typeface="Aptos"/>
              </a:rPr>
              <a:t>https://http.cat/</a:t>
            </a:r>
            <a:endParaRPr sz="2000">
              <a:latin typeface="Aptos (Body)"/>
              <a:ea typeface="Aptos (Body)"/>
              <a:cs typeface="Aptos (Body)"/>
            </a:endParaRPr>
          </a:p>
        </p:txBody>
      </p:sp>
      <p:graphicFrame>
        <p:nvGraphicFramePr>
          <p:cNvPr id="12" name="object 4"/>
          <p:cNvGraphicFramePr/>
          <p:nvPr/>
        </p:nvGraphicFramePr>
        <p:xfrm>
          <a:off x="940752" y="3102427"/>
          <a:ext cx="2489833" cy="1920875"/>
        </p:xfrm>
        <a:graphic>
          <a:graphicData uri="http://schemas.openxmlformats.org/drawingml/2006/table">
            <a:tbl>
              <a:tblPr firstRow="1" bandRow="1">
                <a:tableStyleId>{2D5ABB26-0587-4C30-8999-92F81FD0307C}</a:tableStyleId>
              </a:tblPr>
              <a:tblGrid>
                <a:gridCol w="826769">
                  <a:extLst>
                    <a:ext uri="{9D8B030D-6E8A-4147-A177-3AD203B41FA5}">
                      <a16:colId xmlns:a16="http://schemas.microsoft.com/office/drawing/2014/main" val="20000"/>
                    </a:ext>
                  </a:extLst>
                </a:gridCol>
                <a:gridCol w="1663064">
                  <a:extLst>
                    <a:ext uri="{9D8B030D-6E8A-4147-A177-3AD203B41FA5}">
                      <a16:colId xmlns:a16="http://schemas.microsoft.com/office/drawing/2014/main" val="20001"/>
                    </a:ext>
                  </a:extLst>
                </a:gridCol>
              </a:tblGrid>
              <a:tr h="365125">
                <a:tc>
                  <a:txBody>
                    <a:bodyPr/>
                    <a:lstStyle/>
                    <a:p>
                      <a:pPr marL="31750">
                        <a:lnSpc>
                          <a:spcPts val="2095"/>
                        </a:lnSpc>
                        <a:buNone/>
                      </a:pPr>
                      <a:r>
                        <a:rPr sz="1800" spc="-25">
                          <a:latin typeface="Courier New"/>
                          <a:ea typeface="Courier New"/>
                          <a:cs typeface="Courier New"/>
                        </a:rPr>
                        <a:t>1xx</a:t>
                      </a:r>
                      <a:endParaRPr sz="1800">
                        <a:latin typeface="Courier New"/>
                        <a:ea typeface="Courier New"/>
                        <a:cs typeface="Courier New"/>
                      </a:endParaRPr>
                    </a:p>
                  </a:txBody>
                  <a:tcPr marL="0" marR="0" marT="0" marB="0"/>
                </a:tc>
                <a:tc>
                  <a:txBody>
                    <a:bodyPr/>
                    <a:lstStyle/>
                    <a:p>
                      <a:pPr marL="394970">
                        <a:lnSpc>
                          <a:spcPct val="100000"/>
                        </a:lnSpc>
                        <a:spcBef>
                          <a:spcPts val="30"/>
                        </a:spcBef>
                        <a:buNone/>
                      </a:pPr>
                      <a:r>
                        <a:rPr sz="2000" spc="-10">
                          <a:latin typeface="Aptos (Body)"/>
                          <a:ea typeface="Aptos (Body)"/>
                          <a:cs typeface="Aptos (Body)"/>
                        </a:rPr>
                        <a:t>Information</a:t>
                      </a:r>
                      <a:endParaRPr sz="2000">
                        <a:latin typeface="Aptos (Body)"/>
                        <a:ea typeface="Aptos (Body)"/>
                        <a:cs typeface="Aptos (Body)"/>
                      </a:endParaRPr>
                    </a:p>
                  </a:txBody>
                  <a:tcPr marL="0" marR="0" marT="3810" marB="0"/>
                </a:tc>
                <a:extLst>
                  <a:ext uri="{0D108BD9-81ED-4DB2-BD59-A6C34878D82A}">
                    <a16:rowId xmlns:a16="http://schemas.microsoft.com/office/drawing/2014/main" val="10000"/>
                  </a:ext>
                </a:extLst>
              </a:tr>
              <a:tr h="396875">
                <a:tc>
                  <a:txBody>
                    <a:bodyPr/>
                    <a:lstStyle/>
                    <a:p>
                      <a:pPr marL="31750">
                        <a:lnSpc>
                          <a:spcPct val="100000"/>
                        </a:lnSpc>
                        <a:spcBef>
                          <a:spcPts val="175"/>
                        </a:spcBef>
                        <a:buNone/>
                      </a:pPr>
                      <a:r>
                        <a:rPr sz="1800" spc="-25">
                          <a:latin typeface="Courier New"/>
                          <a:ea typeface="Courier New"/>
                          <a:cs typeface="Courier New"/>
                        </a:rPr>
                        <a:t>2xx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10">
                          <a:latin typeface="Aptos (Body)"/>
                          <a:ea typeface="Aptos (Body)"/>
                          <a:cs typeface="Aptos (Body)"/>
                        </a:rPr>
                        <a:t>Success</a:t>
                      </a:r>
                      <a:endParaRPr sz="2000">
                        <a:latin typeface="Aptos (Body)"/>
                        <a:ea typeface="Aptos (Body)"/>
                        <a:cs typeface="Aptos (Body)"/>
                      </a:endParaRPr>
                    </a:p>
                  </a:txBody>
                  <a:tcPr marL="0" marR="0" marT="34925" marB="0"/>
                </a:tc>
                <a:extLst>
                  <a:ext uri="{0D108BD9-81ED-4DB2-BD59-A6C34878D82A}">
                    <a16:rowId xmlns:a16="http://schemas.microsoft.com/office/drawing/2014/main" val="10001"/>
                  </a:ext>
                </a:extLst>
              </a:tr>
              <a:tr h="396240">
                <a:tc>
                  <a:txBody>
                    <a:bodyPr/>
                    <a:lstStyle/>
                    <a:p>
                      <a:pPr marL="31750">
                        <a:lnSpc>
                          <a:spcPct val="100000"/>
                        </a:lnSpc>
                        <a:spcBef>
                          <a:spcPts val="175"/>
                        </a:spcBef>
                        <a:buNone/>
                      </a:pPr>
                      <a:r>
                        <a:rPr sz="1800" spc="-25">
                          <a:latin typeface="Courier New"/>
                          <a:ea typeface="Courier New"/>
                          <a:cs typeface="Courier New"/>
                        </a:rPr>
                        <a:t>3xx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10">
                          <a:latin typeface="Aptos (Body)"/>
                          <a:ea typeface="Aptos (Body)"/>
                          <a:cs typeface="Aptos (Body)"/>
                        </a:rPr>
                        <a:t>Redirection</a:t>
                      </a:r>
                      <a:endParaRPr sz="2000">
                        <a:latin typeface="Aptos (Body)"/>
                        <a:ea typeface="Aptos (Body)"/>
                        <a:cs typeface="Aptos (Body)"/>
                      </a:endParaRPr>
                    </a:p>
                  </a:txBody>
                  <a:tcPr marL="0" marR="0" marT="34925" marB="0"/>
                </a:tc>
                <a:extLst>
                  <a:ext uri="{0D108BD9-81ED-4DB2-BD59-A6C34878D82A}">
                    <a16:rowId xmlns:a16="http://schemas.microsoft.com/office/drawing/2014/main" val="10002"/>
                  </a:ext>
                </a:extLst>
              </a:tr>
              <a:tr h="396875">
                <a:tc>
                  <a:txBody>
                    <a:bodyPr/>
                    <a:lstStyle/>
                    <a:p>
                      <a:pPr marL="31750">
                        <a:lnSpc>
                          <a:spcPct val="100000"/>
                        </a:lnSpc>
                        <a:spcBef>
                          <a:spcPts val="175"/>
                        </a:spcBef>
                        <a:buNone/>
                      </a:pPr>
                      <a:r>
                        <a:rPr sz="1800" spc="-25">
                          <a:latin typeface="Courier New"/>
                          <a:ea typeface="Courier New"/>
                          <a:cs typeface="Courier New"/>
                        </a:rPr>
                        <a:t>4xx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a:latin typeface="Aptos (Body)"/>
                          <a:ea typeface="Aptos (Body)"/>
                          <a:cs typeface="Aptos (Body)"/>
                        </a:rPr>
                        <a:t>Client</a:t>
                      </a:r>
                      <a:r>
                        <a:rPr sz="2000" spc="-95">
                          <a:latin typeface="Aptos (Body)"/>
                          <a:ea typeface="Aptos (Body)"/>
                          <a:cs typeface="Aptos (Body)"/>
                        </a:rPr>
                        <a:t> </a:t>
                      </a:r>
                      <a:r>
                        <a:rPr sz="2000" spc="-20">
                          <a:latin typeface="Aptos (Body)"/>
                          <a:ea typeface="Aptos (Body)"/>
                          <a:cs typeface="Aptos (Body)"/>
                        </a:rPr>
                        <a:t>error</a:t>
                      </a:r>
                      <a:endParaRPr sz="2000">
                        <a:latin typeface="Aptos (Body)"/>
                        <a:ea typeface="Aptos (Body)"/>
                        <a:cs typeface="Aptos (Body)"/>
                      </a:endParaRPr>
                    </a:p>
                  </a:txBody>
                  <a:tcPr marL="0" marR="0" marT="34925" marB="0"/>
                </a:tc>
                <a:extLst>
                  <a:ext uri="{0D108BD9-81ED-4DB2-BD59-A6C34878D82A}">
                    <a16:rowId xmlns:a16="http://schemas.microsoft.com/office/drawing/2014/main" val="10003"/>
                  </a:ext>
                </a:extLst>
              </a:tr>
              <a:tr h="365760">
                <a:tc>
                  <a:txBody>
                    <a:bodyPr/>
                    <a:lstStyle/>
                    <a:p>
                      <a:pPr marL="31750">
                        <a:lnSpc>
                          <a:spcPct val="100000"/>
                        </a:lnSpc>
                        <a:spcBef>
                          <a:spcPts val="175"/>
                        </a:spcBef>
                        <a:buNone/>
                      </a:pPr>
                      <a:r>
                        <a:rPr sz="1800" spc="-25">
                          <a:latin typeface="Courier New"/>
                          <a:ea typeface="Courier New"/>
                          <a:cs typeface="Courier New"/>
                        </a:rPr>
                        <a:t>5xx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20">
                          <a:latin typeface="Aptos (Body)"/>
                          <a:ea typeface="Aptos (Body)"/>
                          <a:cs typeface="Aptos (Body)"/>
                        </a:rPr>
                        <a:t>Server</a:t>
                      </a:r>
                      <a:r>
                        <a:rPr sz="2000" spc="-45">
                          <a:latin typeface="Aptos (Body)"/>
                          <a:ea typeface="Aptos (Body)"/>
                          <a:cs typeface="Aptos (Body)"/>
                        </a:rPr>
                        <a:t> </a:t>
                      </a:r>
                      <a:r>
                        <a:rPr sz="2000" spc="-20">
                          <a:latin typeface="Aptos (Body)"/>
                          <a:ea typeface="Aptos (Body)"/>
                          <a:cs typeface="Aptos (Body)"/>
                        </a:rPr>
                        <a:t>error</a:t>
                      </a:r>
                      <a:endParaRPr sz="2000">
                        <a:latin typeface="Aptos (Body)"/>
                        <a:ea typeface="Aptos (Body)"/>
                        <a:cs typeface="Aptos (Body)"/>
                      </a:endParaRPr>
                    </a:p>
                  </a:txBody>
                  <a:tcPr marL="0" marR="0" marT="34925" marB="0"/>
                </a:tc>
                <a:extLst>
                  <a:ext uri="{0D108BD9-81ED-4DB2-BD59-A6C34878D82A}">
                    <a16:rowId xmlns:a16="http://schemas.microsoft.com/office/drawing/2014/main" val="10004"/>
                  </a:ext>
                </a:extLst>
              </a:tr>
            </a:tbl>
          </a:graphicData>
        </a:graphic>
      </p:graphicFrame>
      <p:pic>
        <p:nvPicPr>
          <p:cNvPr id="13" name="object 2"/>
          <p:cNvPicPr>
            <a:picLocks noChangeAspect="1"/>
          </p:cNvPicPr>
          <p:nvPr/>
        </p:nvPicPr>
        <p:blipFill>
          <a:blip r:embed="rId3"/>
          <a:stretch>
            <a:fillRect/>
          </a:stretch>
        </p:blipFill>
        <p:spPr>
          <a:xfrm>
            <a:off x="6718300" y="2243040"/>
            <a:ext cx="4848225" cy="3867150"/>
          </a:xfrm>
          <a:prstGeom prst="rect">
            <a:avLst/>
          </a:prstGeom>
        </p:spPr>
      </p:pic>
    </p:spTree>
    <p:extLst>
      <p:ext uri="{BB962C8B-B14F-4D97-AF65-F5344CB8AC3E}">
        <p14:creationId xmlns:p14="http://schemas.microsoft.com/office/powerpoint/2010/main" val="8737441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756CE-9776-2ABC-14A8-EA8B6C2C81D0}"/>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Response</a:t>
            </a:r>
            <a:r>
              <a:rPr spc="-80">
                <a:latin typeface="Aptos Display"/>
                <a:ea typeface="Aptos Display"/>
                <a:cs typeface="Aptos Display"/>
              </a:rPr>
              <a:t> </a:t>
            </a:r>
            <a:r>
              <a:t>status</a:t>
            </a:r>
            <a:r>
              <a:rPr spc="-50">
                <a:latin typeface="Aptos Display"/>
                <a:ea typeface="Aptos Display"/>
                <a:cs typeface="Aptos Display"/>
              </a:rPr>
              <a:t> </a:t>
            </a:r>
            <a:r>
              <a:rPr spc="-20">
                <a:latin typeface="Aptos Display"/>
                <a:ea typeface="Aptos Display"/>
                <a:cs typeface="Aptos Display"/>
              </a:rPr>
              <a:t>code</a:t>
            </a:r>
            <a:endParaRPr/>
          </a:p>
        </p:txBody>
      </p:sp>
      <p:sp>
        <p:nvSpPr>
          <p:cNvPr id="4" name="TextBox 3">
            <a:extLst>
              <a:ext uri="{FF2B5EF4-FFF2-40B4-BE49-F238E27FC236}">
                <a16:creationId xmlns:a16="http://schemas.microsoft.com/office/drawing/2014/main" id="{0FA71400-DF58-63F6-8BE6-33614B0217C2}"/>
              </a:ext>
            </a:extLst>
          </p:cNvPr>
          <p:cNvSpPr>
            <a:spLocks noGrp="1"/>
          </p:cNvSpPr>
          <p:nvPr/>
        </p:nvSpPr>
        <p:spPr>
          <a:xfrm>
            <a:off x="660400" y="1081826"/>
            <a:ext cx="11626850" cy="954107"/>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A request triggers a response, which containts a status code to indicate how the server handled the request.</a:t>
            </a:r>
          </a:p>
        </p:txBody>
      </p:sp>
      <p:sp>
        <p:nvSpPr>
          <p:cNvPr id="6" name="object 6">
            <a:extLst>
              <a:ext uri="{FF2B5EF4-FFF2-40B4-BE49-F238E27FC236}">
                <a16:creationId xmlns:a16="http://schemas.microsoft.com/office/drawing/2014/main" id="{33576A74-2FD5-1EBD-347F-BAF1FA254B7A}"/>
              </a:ext>
            </a:extLst>
          </p:cNvPr>
          <p:cNvSpPr>
            <a:spLocks noGrp="1"/>
          </p:cNvSpPr>
          <p:nvPr/>
        </p:nvSpPr>
        <p:spPr>
          <a:xfrm>
            <a:off x="742314" y="6317297"/>
            <a:ext cx="1201420" cy="334645"/>
          </a:xfrm>
          <a:prstGeom prst="rect">
            <a:avLst/>
          </a:prstGeom>
        </p:spPr>
        <p:txBody>
          <a:bodyPr vert="horz" wrap="square" lIns="0" tIns="15875" rIns="0" bIns="0">
            <a:spAutoFit/>
          </a:bodyPr>
          <a:lstStyle/>
          <a:p>
            <a:pPr marL="12700">
              <a:lnSpc>
                <a:spcPct val="100000"/>
              </a:lnSpc>
              <a:spcBef>
                <a:spcPts val="125"/>
              </a:spcBef>
              <a:buNone/>
              <a:defRPr>
                <a:latin typeface="Aptos"/>
                <a:ea typeface="Aptos"/>
                <a:cs typeface="Aptos"/>
              </a:defRPr>
            </a:pPr>
            <a:r>
              <a:rPr sz="2000" spc="-270">
                <a:latin typeface="Aptos"/>
                <a:ea typeface="Aptos"/>
                <a:cs typeface="Aptos"/>
              </a:rPr>
              <a:t>https://http.cat/</a:t>
            </a:r>
            <a:endParaRPr sz="2000">
              <a:latin typeface="Aptos (Body)"/>
              <a:ea typeface="Aptos (Body)"/>
              <a:cs typeface="Aptos (Body)"/>
            </a:endParaRPr>
          </a:p>
        </p:txBody>
      </p:sp>
      <p:graphicFrame>
        <p:nvGraphicFramePr>
          <p:cNvPr id="12" name="object 4"/>
          <p:cNvGraphicFramePr/>
          <p:nvPr/>
        </p:nvGraphicFramePr>
        <p:xfrm>
          <a:off x="940752" y="3102427"/>
          <a:ext cx="2489833" cy="1920875"/>
        </p:xfrm>
        <a:graphic>
          <a:graphicData uri="http://schemas.openxmlformats.org/drawingml/2006/table">
            <a:tbl>
              <a:tblPr firstRow="1" bandRow="1">
                <a:tableStyleId>{2D5ABB26-0587-4C30-8999-92F81FD0307C}</a:tableStyleId>
              </a:tblPr>
              <a:tblGrid>
                <a:gridCol w="826769">
                  <a:extLst>
                    <a:ext uri="{9D8B030D-6E8A-4147-A177-3AD203B41FA5}">
                      <a16:colId xmlns:a16="http://schemas.microsoft.com/office/drawing/2014/main" val="20000"/>
                    </a:ext>
                  </a:extLst>
                </a:gridCol>
                <a:gridCol w="1663064">
                  <a:extLst>
                    <a:ext uri="{9D8B030D-6E8A-4147-A177-3AD203B41FA5}">
                      <a16:colId xmlns:a16="http://schemas.microsoft.com/office/drawing/2014/main" val="20001"/>
                    </a:ext>
                  </a:extLst>
                </a:gridCol>
              </a:tblGrid>
              <a:tr h="365125">
                <a:tc>
                  <a:txBody>
                    <a:bodyPr/>
                    <a:lstStyle/>
                    <a:p>
                      <a:pPr marL="31750">
                        <a:lnSpc>
                          <a:spcPts val="2095"/>
                        </a:lnSpc>
                        <a:buNone/>
                      </a:pPr>
                      <a:r>
                        <a:rPr sz="1800" spc="-25">
                          <a:latin typeface="Courier New"/>
                          <a:ea typeface="Courier New"/>
                          <a:cs typeface="Courier New"/>
                        </a:rPr>
                        <a:t>1xx</a:t>
                      </a:r>
                      <a:endParaRPr sz="1800">
                        <a:latin typeface="Courier New"/>
                        <a:ea typeface="Courier New"/>
                        <a:cs typeface="Courier New"/>
                      </a:endParaRPr>
                    </a:p>
                  </a:txBody>
                  <a:tcPr marL="0" marR="0" marT="0" marB="0"/>
                </a:tc>
                <a:tc>
                  <a:txBody>
                    <a:bodyPr/>
                    <a:lstStyle/>
                    <a:p>
                      <a:pPr marL="394970">
                        <a:lnSpc>
                          <a:spcPct val="100000"/>
                        </a:lnSpc>
                        <a:spcBef>
                          <a:spcPts val="30"/>
                        </a:spcBef>
                        <a:buNone/>
                      </a:pPr>
                      <a:r>
                        <a:rPr sz="2000" spc="-10">
                          <a:latin typeface="Aptos (Body)"/>
                          <a:ea typeface="Aptos (Body)"/>
                          <a:cs typeface="Aptos (Body)"/>
                        </a:rPr>
                        <a:t>Information</a:t>
                      </a:r>
                      <a:endParaRPr sz="2000">
                        <a:latin typeface="Aptos (Body)"/>
                        <a:ea typeface="Aptos (Body)"/>
                        <a:cs typeface="Aptos (Body)"/>
                      </a:endParaRPr>
                    </a:p>
                  </a:txBody>
                  <a:tcPr marL="0" marR="0" marT="3810" marB="0"/>
                </a:tc>
                <a:extLst>
                  <a:ext uri="{0D108BD9-81ED-4DB2-BD59-A6C34878D82A}">
                    <a16:rowId xmlns:a16="http://schemas.microsoft.com/office/drawing/2014/main" val="10000"/>
                  </a:ext>
                </a:extLst>
              </a:tr>
              <a:tr h="396875">
                <a:tc>
                  <a:txBody>
                    <a:bodyPr/>
                    <a:lstStyle/>
                    <a:p>
                      <a:pPr marL="31750">
                        <a:lnSpc>
                          <a:spcPct val="100000"/>
                        </a:lnSpc>
                        <a:spcBef>
                          <a:spcPts val="175"/>
                        </a:spcBef>
                        <a:buNone/>
                      </a:pPr>
                      <a:r>
                        <a:rPr sz="1800" spc="-25">
                          <a:latin typeface="Courier New"/>
                          <a:ea typeface="Courier New"/>
                          <a:cs typeface="Courier New"/>
                        </a:rPr>
                        <a:t>2xx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10">
                          <a:latin typeface="Aptos (Body)"/>
                          <a:ea typeface="Aptos (Body)"/>
                          <a:cs typeface="Aptos (Body)"/>
                        </a:rPr>
                        <a:t>Success</a:t>
                      </a:r>
                      <a:endParaRPr sz="2000">
                        <a:latin typeface="Aptos (Body)"/>
                        <a:ea typeface="Aptos (Body)"/>
                        <a:cs typeface="Aptos (Body)"/>
                      </a:endParaRPr>
                    </a:p>
                  </a:txBody>
                  <a:tcPr marL="0" marR="0" marT="34925" marB="0"/>
                </a:tc>
                <a:extLst>
                  <a:ext uri="{0D108BD9-81ED-4DB2-BD59-A6C34878D82A}">
                    <a16:rowId xmlns:a16="http://schemas.microsoft.com/office/drawing/2014/main" val="10001"/>
                  </a:ext>
                </a:extLst>
              </a:tr>
              <a:tr h="396240">
                <a:tc>
                  <a:txBody>
                    <a:bodyPr/>
                    <a:lstStyle/>
                    <a:p>
                      <a:pPr marL="31750">
                        <a:lnSpc>
                          <a:spcPct val="100000"/>
                        </a:lnSpc>
                        <a:spcBef>
                          <a:spcPts val="175"/>
                        </a:spcBef>
                        <a:buNone/>
                      </a:pPr>
                      <a:r>
                        <a:rPr sz="1800" spc="-25">
                          <a:latin typeface="Courier New"/>
                          <a:ea typeface="Courier New"/>
                          <a:cs typeface="Courier New"/>
                        </a:rPr>
                        <a:t>3xx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10">
                          <a:latin typeface="Aptos (Body)"/>
                          <a:ea typeface="Aptos (Body)"/>
                          <a:cs typeface="Aptos (Body)"/>
                        </a:rPr>
                        <a:t>Redirection</a:t>
                      </a:r>
                      <a:endParaRPr sz="2000">
                        <a:latin typeface="Aptos (Body)"/>
                        <a:ea typeface="Aptos (Body)"/>
                        <a:cs typeface="Aptos (Body)"/>
                      </a:endParaRPr>
                    </a:p>
                  </a:txBody>
                  <a:tcPr marL="0" marR="0" marT="34925" marB="0"/>
                </a:tc>
                <a:extLst>
                  <a:ext uri="{0D108BD9-81ED-4DB2-BD59-A6C34878D82A}">
                    <a16:rowId xmlns:a16="http://schemas.microsoft.com/office/drawing/2014/main" val="10002"/>
                  </a:ext>
                </a:extLst>
              </a:tr>
              <a:tr h="396875">
                <a:tc>
                  <a:txBody>
                    <a:bodyPr/>
                    <a:lstStyle/>
                    <a:p>
                      <a:pPr marL="31750">
                        <a:lnSpc>
                          <a:spcPct val="100000"/>
                        </a:lnSpc>
                        <a:spcBef>
                          <a:spcPts val="175"/>
                        </a:spcBef>
                        <a:buNone/>
                      </a:pPr>
                      <a:r>
                        <a:rPr sz="1800" spc="-25">
                          <a:latin typeface="Courier New"/>
                          <a:ea typeface="Courier New"/>
                          <a:cs typeface="Courier New"/>
                        </a:rPr>
                        <a:t>4xx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a:latin typeface="Aptos (Body)"/>
                          <a:ea typeface="Aptos (Body)"/>
                          <a:cs typeface="Aptos (Body)"/>
                        </a:rPr>
                        <a:t>Client</a:t>
                      </a:r>
                      <a:r>
                        <a:rPr sz="2000" spc="-95">
                          <a:latin typeface="Aptos (Body)"/>
                          <a:ea typeface="Aptos (Body)"/>
                          <a:cs typeface="Aptos (Body)"/>
                        </a:rPr>
                        <a:t> </a:t>
                      </a:r>
                      <a:r>
                        <a:rPr sz="2000" spc="-20">
                          <a:latin typeface="Aptos (Body)"/>
                          <a:ea typeface="Aptos (Body)"/>
                          <a:cs typeface="Aptos (Body)"/>
                        </a:rPr>
                        <a:t>error</a:t>
                      </a:r>
                      <a:endParaRPr sz="2000">
                        <a:latin typeface="Aptos (Body)"/>
                        <a:ea typeface="Aptos (Body)"/>
                        <a:cs typeface="Aptos (Body)"/>
                      </a:endParaRPr>
                    </a:p>
                  </a:txBody>
                  <a:tcPr marL="0" marR="0" marT="34925" marB="0"/>
                </a:tc>
                <a:extLst>
                  <a:ext uri="{0D108BD9-81ED-4DB2-BD59-A6C34878D82A}">
                    <a16:rowId xmlns:a16="http://schemas.microsoft.com/office/drawing/2014/main" val="10003"/>
                  </a:ext>
                </a:extLst>
              </a:tr>
              <a:tr h="365760">
                <a:tc>
                  <a:txBody>
                    <a:bodyPr/>
                    <a:lstStyle/>
                    <a:p>
                      <a:pPr marL="31750">
                        <a:lnSpc>
                          <a:spcPct val="100000"/>
                        </a:lnSpc>
                        <a:spcBef>
                          <a:spcPts val="175"/>
                        </a:spcBef>
                        <a:buNone/>
                      </a:pPr>
                      <a:r>
                        <a:rPr sz="1800" spc="-25">
                          <a:latin typeface="Courier New"/>
                          <a:ea typeface="Courier New"/>
                          <a:cs typeface="Courier New"/>
                        </a:rPr>
                        <a:t>5xx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20">
                          <a:latin typeface="Aptos (Body)"/>
                          <a:ea typeface="Aptos (Body)"/>
                          <a:cs typeface="Aptos (Body)"/>
                        </a:rPr>
                        <a:t>Server</a:t>
                      </a:r>
                      <a:r>
                        <a:rPr sz="2000" spc="-45">
                          <a:latin typeface="Aptos (Body)"/>
                          <a:ea typeface="Aptos (Body)"/>
                          <a:cs typeface="Aptos (Body)"/>
                        </a:rPr>
                        <a:t> </a:t>
                      </a:r>
                      <a:r>
                        <a:rPr sz="2000" spc="-20">
                          <a:latin typeface="Aptos (Body)"/>
                          <a:ea typeface="Aptos (Body)"/>
                          <a:cs typeface="Aptos (Body)"/>
                        </a:rPr>
                        <a:t>error</a:t>
                      </a:r>
                      <a:endParaRPr sz="2000">
                        <a:latin typeface="Aptos (Body)"/>
                        <a:ea typeface="Aptos (Body)"/>
                        <a:cs typeface="Aptos (Body)"/>
                      </a:endParaRPr>
                    </a:p>
                  </a:txBody>
                  <a:tcPr marL="0" marR="0" marT="34925" marB="0"/>
                </a:tc>
                <a:extLst>
                  <a:ext uri="{0D108BD9-81ED-4DB2-BD59-A6C34878D82A}">
                    <a16:rowId xmlns:a16="http://schemas.microsoft.com/office/drawing/2014/main" val="10004"/>
                  </a:ext>
                </a:extLst>
              </a:tr>
            </a:tbl>
          </a:graphicData>
        </a:graphic>
      </p:graphicFrame>
      <p:pic>
        <p:nvPicPr>
          <p:cNvPr id="13" name="object 6"/>
          <p:cNvPicPr>
            <a:picLocks noChangeAspect="1"/>
          </p:cNvPicPr>
          <p:nvPr/>
        </p:nvPicPr>
        <p:blipFill>
          <a:blip r:embed="rId3"/>
          <a:stretch>
            <a:fillRect/>
          </a:stretch>
        </p:blipFill>
        <p:spPr>
          <a:xfrm>
            <a:off x="6578600" y="2333625"/>
            <a:ext cx="4848225" cy="3876675"/>
          </a:xfrm>
          <a:prstGeom prst="rect">
            <a:avLst/>
          </a:prstGeom>
        </p:spPr>
      </p:pic>
    </p:spTree>
    <p:extLst>
      <p:ext uri="{BB962C8B-B14F-4D97-AF65-F5344CB8AC3E}">
        <p14:creationId xmlns:p14="http://schemas.microsoft.com/office/powerpoint/2010/main" val="36240158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A428B-3D6F-8625-F43E-A719EEE2F5B0}"/>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Response</a:t>
            </a:r>
            <a:r>
              <a:rPr spc="-80">
                <a:latin typeface="Aptos Display"/>
                <a:ea typeface="Aptos Display"/>
                <a:cs typeface="Aptos Display"/>
              </a:rPr>
              <a:t> </a:t>
            </a:r>
            <a:r>
              <a:t>status</a:t>
            </a:r>
            <a:r>
              <a:rPr spc="-50">
                <a:latin typeface="Aptos Display"/>
                <a:ea typeface="Aptos Display"/>
                <a:cs typeface="Aptos Display"/>
              </a:rPr>
              <a:t> </a:t>
            </a:r>
            <a:r>
              <a:rPr spc="-20">
                <a:latin typeface="Aptos Display"/>
                <a:ea typeface="Aptos Display"/>
                <a:cs typeface="Aptos Display"/>
              </a:rPr>
              <a:t>code</a:t>
            </a:r>
            <a:endParaRPr/>
          </a:p>
        </p:txBody>
      </p:sp>
      <p:sp>
        <p:nvSpPr>
          <p:cNvPr id="4" name="TextBox 3">
            <a:extLst>
              <a:ext uri="{FF2B5EF4-FFF2-40B4-BE49-F238E27FC236}">
                <a16:creationId xmlns:a16="http://schemas.microsoft.com/office/drawing/2014/main" id="{444B35BD-4E3F-257E-8C77-F67266727047}"/>
              </a:ext>
            </a:extLst>
          </p:cNvPr>
          <p:cNvSpPr>
            <a:spLocks noGrp="1"/>
          </p:cNvSpPr>
          <p:nvPr/>
        </p:nvSpPr>
        <p:spPr>
          <a:xfrm>
            <a:off x="660400" y="1081826"/>
            <a:ext cx="11626850" cy="954107"/>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A request triggers a response, which containts a status code to indicate how the server handled the request.</a:t>
            </a:r>
          </a:p>
        </p:txBody>
      </p:sp>
      <p:sp>
        <p:nvSpPr>
          <p:cNvPr id="6" name="object 6">
            <a:extLst>
              <a:ext uri="{FF2B5EF4-FFF2-40B4-BE49-F238E27FC236}">
                <a16:creationId xmlns:a16="http://schemas.microsoft.com/office/drawing/2014/main" id="{B6041245-81DC-32AE-BB28-A5B8378DC1A9}"/>
              </a:ext>
            </a:extLst>
          </p:cNvPr>
          <p:cNvSpPr>
            <a:spLocks noGrp="1"/>
          </p:cNvSpPr>
          <p:nvPr/>
        </p:nvSpPr>
        <p:spPr>
          <a:xfrm>
            <a:off x="742314" y="6317297"/>
            <a:ext cx="1201420" cy="334645"/>
          </a:xfrm>
          <a:prstGeom prst="rect">
            <a:avLst/>
          </a:prstGeom>
        </p:spPr>
        <p:txBody>
          <a:bodyPr vert="horz" wrap="square" lIns="0" tIns="15875" rIns="0" bIns="0">
            <a:spAutoFit/>
          </a:bodyPr>
          <a:lstStyle/>
          <a:p>
            <a:pPr marL="12700">
              <a:lnSpc>
                <a:spcPct val="100000"/>
              </a:lnSpc>
              <a:spcBef>
                <a:spcPts val="125"/>
              </a:spcBef>
              <a:buNone/>
              <a:defRPr>
                <a:latin typeface="Aptos"/>
                <a:ea typeface="Aptos"/>
                <a:cs typeface="Aptos"/>
              </a:defRPr>
            </a:pPr>
            <a:r>
              <a:rPr sz="2000" spc="-270">
                <a:latin typeface="Aptos"/>
                <a:ea typeface="Aptos"/>
                <a:cs typeface="Aptos"/>
              </a:rPr>
              <a:t>https://http.cat/</a:t>
            </a:r>
            <a:endParaRPr sz="2000">
              <a:latin typeface="Aptos (Body)"/>
              <a:ea typeface="Aptos (Body)"/>
              <a:cs typeface="Aptos (Body)"/>
            </a:endParaRPr>
          </a:p>
        </p:txBody>
      </p:sp>
      <p:graphicFrame>
        <p:nvGraphicFramePr>
          <p:cNvPr id="12" name="object 4"/>
          <p:cNvGraphicFramePr/>
          <p:nvPr/>
        </p:nvGraphicFramePr>
        <p:xfrm>
          <a:off x="940752" y="3102427"/>
          <a:ext cx="2489833" cy="1920875"/>
        </p:xfrm>
        <a:graphic>
          <a:graphicData uri="http://schemas.openxmlformats.org/drawingml/2006/table">
            <a:tbl>
              <a:tblPr firstRow="1" bandRow="1">
                <a:tableStyleId>{2D5ABB26-0587-4C30-8999-92F81FD0307C}</a:tableStyleId>
              </a:tblPr>
              <a:tblGrid>
                <a:gridCol w="826769">
                  <a:extLst>
                    <a:ext uri="{9D8B030D-6E8A-4147-A177-3AD203B41FA5}">
                      <a16:colId xmlns:a16="http://schemas.microsoft.com/office/drawing/2014/main" val="20000"/>
                    </a:ext>
                  </a:extLst>
                </a:gridCol>
                <a:gridCol w="1663064">
                  <a:extLst>
                    <a:ext uri="{9D8B030D-6E8A-4147-A177-3AD203B41FA5}">
                      <a16:colId xmlns:a16="http://schemas.microsoft.com/office/drawing/2014/main" val="20001"/>
                    </a:ext>
                  </a:extLst>
                </a:gridCol>
              </a:tblGrid>
              <a:tr h="365125">
                <a:tc>
                  <a:txBody>
                    <a:bodyPr/>
                    <a:lstStyle/>
                    <a:p>
                      <a:pPr marL="31750">
                        <a:lnSpc>
                          <a:spcPts val="2095"/>
                        </a:lnSpc>
                        <a:buNone/>
                      </a:pPr>
                      <a:r>
                        <a:rPr sz="1800" spc="-25">
                          <a:latin typeface="Courier New"/>
                          <a:ea typeface="Courier New"/>
                          <a:cs typeface="Courier New"/>
                        </a:rPr>
                        <a:t>1xx</a:t>
                      </a:r>
                      <a:endParaRPr sz="1800">
                        <a:latin typeface="Courier New"/>
                        <a:ea typeface="Courier New"/>
                        <a:cs typeface="Courier New"/>
                      </a:endParaRPr>
                    </a:p>
                  </a:txBody>
                  <a:tcPr marL="0" marR="0" marT="0" marB="0"/>
                </a:tc>
                <a:tc>
                  <a:txBody>
                    <a:bodyPr/>
                    <a:lstStyle/>
                    <a:p>
                      <a:pPr marL="394970">
                        <a:lnSpc>
                          <a:spcPct val="100000"/>
                        </a:lnSpc>
                        <a:spcBef>
                          <a:spcPts val="30"/>
                        </a:spcBef>
                        <a:buNone/>
                      </a:pPr>
                      <a:r>
                        <a:rPr sz="2000" spc="-10">
                          <a:latin typeface="Aptos (Body)"/>
                          <a:ea typeface="Aptos (Body)"/>
                          <a:cs typeface="Aptos (Body)"/>
                        </a:rPr>
                        <a:t>Information</a:t>
                      </a:r>
                      <a:endParaRPr sz="2000">
                        <a:latin typeface="Aptos (Body)"/>
                        <a:ea typeface="Aptos (Body)"/>
                        <a:cs typeface="Aptos (Body)"/>
                      </a:endParaRPr>
                    </a:p>
                  </a:txBody>
                  <a:tcPr marL="0" marR="0" marT="3810" marB="0"/>
                </a:tc>
                <a:extLst>
                  <a:ext uri="{0D108BD9-81ED-4DB2-BD59-A6C34878D82A}">
                    <a16:rowId xmlns:a16="http://schemas.microsoft.com/office/drawing/2014/main" val="10000"/>
                  </a:ext>
                </a:extLst>
              </a:tr>
              <a:tr h="396875">
                <a:tc>
                  <a:txBody>
                    <a:bodyPr/>
                    <a:lstStyle/>
                    <a:p>
                      <a:pPr marL="31750">
                        <a:lnSpc>
                          <a:spcPct val="100000"/>
                        </a:lnSpc>
                        <a:spcBef>
                          <a:spcPts val="175"/>
                        </a:spcBef>
                        <a:buNone/>
                      </a:pPr>
                      <a:r>
                        <a:rPr sz="1800" spc="-25">
                          <a:latin typeface="Courier New"/>
                          <a:ea typeface="Courier New"/>
                          <a:cs typeface="Courier New"/>
                        </a:rPr>
                        <a:t>2xx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10">
                          <a:latin typeface="Aptos (Body)"/>
                          <a:ea typeface="Aptos (Body)"/>
                          <a:cs typeface="Aptos (Body)"/>
                        </a:rPr>
                        <a:t>Success</a:t>
                      </a:r>
                      <a:endParaRPr sz="2000">
                        <a:latin typeface="Aptos (Body)"/>
                        <a:ea typeface="Aptos (Body)"/>
                        <a:cs typeface="Aptos (Body)"/>
                      </a:endParaRPr>
                    </a:p>
                  </a:txBody>
                  <a:tcPr marL="0" marR="0" marT="34925" marB="0"/>
                </a:tc>
                <a:extLst>
                  <a:ext uri="{0D108BD9-81ED-4DB2-BD59-A6C34878D82A}">
                    <a16:rowId xmlns:a16="http://schemas.microsoft.com/office/drawing/2014/main" val="10001"/>
                  </a:ext>
                </a:extLst>
              </a:tr>
              <a:tr h="396240">
                <a:tc>
                  <a:txBody>
                    <a:bodyPr/>
                    <a:lstStyle/>
                    <a:p>
                      <a:pPr marL="31750">
                        <a:lnSpc>
                          <a:spcPct val="100000"/>
                        </a:lnSpc>
                        <a:spcBef>
                          <a:spcPts val="175"/>
                        </a:spcBef>
                        <a:buNone/>
                      </a:pPr>
                      <a:r>
                        <a:rPr sz="1800" spc="-25">
                          <a:latin typeface="Courier New"/>
                          <a:ea typeface="Courier New"/>
                          <a:cs typeface="Courier New"/>
                        </a:rPr>
                        <a:t>3xx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10">
                          <a:latin typeface="Aptos (Body)"/>
                          <a:ea typeface="Aptos (Body)"/>
                          <a:cs typeface="Aptos (Body)"/>
                        </a:rPr>
                        <a:t>Redirection</a:t>
                      </a:r>
                      <a:endParaRPr sz="2000">
                        <a:latin typeface="Aptos (Body)"/>
                        <a:ea typeface="Aptos (Body)"/>
                        <a:cs typeface="Aptos (Body)"/>
                      </a:endParaRPr>
                    </a:p>
                  </a:txBody>
                  <a:tcPr marL="0" marR="0" marT="34925" marB="0"/>
                </a:tc>
                <a:extLst>
                  <a:ext uri="{0D108BD9-81ED-4DB2-BD59-A6C34878D82A}">
                    <a16:rowId xmlns:a16="http://schemas.microsoft.com/office/drawing/2014/main" val="10002"/>
                  </a:ext>
                </a:extLst>
              </a:tr>
              <a:tr h="396875">
                <a:tc>
                  <a:txBody>
                    <a:bodyPr/>
                    <a:lstStyle/>
                    <a:p>
                      <a:pPr marL="31750">
                        <a:lnSpc>
                          <a:spcPct val="100000"/>
                        </a:lnSpc>
                        <a:spcBef>
                          <a:spcPts val="175"/>
                        </a:spcBef>
                        <a:buNone/>
                      </a:pPr>
                      <a:r>
                        <a:rPr sz="1800" spc="-25">
                          <a:latin typeface="Courier New"/>
                          <a:ea typeface="Courier New"/>
                          <a:cs typeface="Courier New"/>
                        </a:rPr>
                        <a:t>4xx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a:latin typeface="Aptos (Body)"/>
                          <a:ea typeface="Aptos (Body)"/>
                          <a:cs typeface="Aptos (Body)"/>
                        </a:rPr>
                        <a:t>Client</a:t>
                      </a:r>
                      <a:r>
                        <a:rPr sz="2000" spc="-95">
                          <a:latin typeface="Aptos (Body)"/>
                          <a:ea typeface="Aptos (Body)"/>
                          <a:cs typeface="Aptos (Body)"/>
                        </a:rPr>
                        <a:t> </a:t>
                      </a:r>
                      <a:r>
                        <a:rPr sz="2000" spc="-20">
                          <a:latin typeface="Aptos (Body)"/>
                          <a:ea typeface="Aptos (Body)"/>
                          <a:cs typeface="Aptos (Body)"/>
                        </a:rPr>
                        <a:t>error</a:t>
                      </a:r>
                      <a:endParaRPr sz="2000">
                        <a:latin typeface="Aptos (Body)"/>
                        <a:ea typeface="Aptos (Body)"/>
                        <a:cs typeface="Aptos (Body)"/>
                      </a:endParaRPr>
                    </a:p>
                  </a:txBody>
                  <a:tcPr marL="0" marR="0" marT="34925" marB="0"/>
                </a:tc>
                <a:extLst>
                  <a:ext uri="{0D108BD9-81ED-4DB2-BD59-A6C34878D82A}">
                    <a16:rowId xmlns:a16="http://schemas.microsoft.com/office/drawing/2014/main" val="10003"/>
                  </a:ext>
                </a:extLst>
              </a:tr>
              <a:tr h="365760">
                <a:tc>
                  <a:txBody>
                    <a:bodyPr/>
                    <a:lstStyle/>
                    <a:p>
                      <a:pPr marL="31750">
                        <a:lnSpc>
                          <a:spcPct val="100000"/>
                        </a:lnSpc>
                        <a:spcBef>
                          <a:spcPts val="175"/>
                        </a:spcBef>
                        <a:buNone/>
                      </a:pPr>
                      <a:r>
                        <a:rPr sz="1800" spc="-25">
                          <a:latin typeface="Courier New"/>
                          <a:ea typeface="Courier New"/>
                          <a:cs typeface="Courier New"/>
                        </a:rPr>
                        <a:t>5xx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20">
                          <a:latin typeface="Aptos (Body)"/>
                          <a:ea typeface="Aptos (Body)"/>
                          <a:cs typeface="Aptos (Body)"/>
                        </a:rPr>
                        <a:t>Server</a:t>
                      </a:r>
                      <a:r>
                        <a:rPr sz="2000" spc="-45">
                          <a:latin typeface="Aptos (Body)"/>
                          <a:ea typeface="Aptos (Body)"/>
                          <a:cs typeface="Aptos (Body)"/>
                        </a:rPr>
                        <a:t> </a:t>
                      </a:r>
                      <a:r>
                        <a:rPr sz="2000" spc="-20">
                          <a:latin typeface="Aptos (Body)"/>
                          <a:ea typeface="Aptos (Body)"/>
                          <a:cs typeface="Aptos (Body)"/>
                        </a:rPr>
                        <a:t>error</a:t>
                      </a:r>
                      <a:endParaRPr sz="2000">
                        <a:latin typeface="Aptos (Body)"/>
                        <a:ea typeface="Aptos (Body)"/>
                        <a:cs typeface="Aptos (Body)"/>
                      </a:endParaRPr>
                    </a:p>
                  </a:txBody>
                  <a:tcPr marL="0" marR="0" marT="34925" marB="0"/>
                </a:tc>
                <a:extLst>
                  <a:ext uri="{0D108BD9-81ED-4DB2-BD59-A6C34878D82A}">
                    <a16:rowId xmlns:a16="http://schemas.microsoft.com/office/drawing/2014/main" val="10004"/>
                  </a:ext>
                </a:extLst>
              </a:tr>
            </a:tbl>
          </a:graphicData>
        </a:graphic>
      </p:graphicFrame>
      <p:pic>
        <p:nvPicPr>
          <p:cNvPr id="13" name="object 6"/>
          <p:cNvPicPr>
            <a:picLocks noChangeAspect="1"/>
          </p:cNvPicPr>
          <p:nvPr/>
        </p:nvPicPr>
        <p:blipFill>
          <a:blip r:embed="rId3"/>
          <a:stretch>
            <a:fillRect/>
          </a:stretch>
        </p:blipFill>
        <p:spPr>
          <a:xfrm>
            <a:off x="6572250" y="2327275"/>
            <a:ext cx="4848225" cy="3876675"/>
          </a:xfrm>
          <a:prstGeom prst="rect">
            <a:avLst/>
          </a:prstGeom>
        </p:spPr>
      </p:pic>
    </p:spTree>
    <p:extLst>
      <p:ext uri="{BB962C8B-B14F-4D97-AF65-F5344CB8AC3E}">
        <p14:creationId xmlns:p14="http://schemas.microsoft.com/office/powerpoint/2010/main" val="24989345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446E-4D05-1300-0755-604F11499673}"/>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Response</a:t>
            </a:r>
            <a:r>
              <a:rPr spc="-80">
                <a:latin typeface="Aptos Display"/>
                <a:ea typeface="Aptos Display"/>
                <a:cs typeface="Aptos Display"/>
              </a:rPr>
              <a:t> </a:t>
            </a:r>
            <a:r>
              <a:t>status</a:t>
            </a:r>
            <a:r>
              <a:rPr spc="-50">
                <a:latin typeface="Aptos Display"/>
                <a:ea typeface="Aptos Display"/>
                <a:cs typeface="Aptos Display"/>
              </a:rPr>
              <a:t> </a:t>
            </a:r>
            <a:r>
              <a:rPr spc="-20">
                <a:latin typeface="Aptos Display"/>
                <a:ea typeface="Aptos Display"/>
                <a:cs typeface="Aptos Display"/>
              </a:rPr>
              <a:t>code</a:t>
            </a:r>
            <a:endParaRPr/>
          </a:p>
        </p:txBody>
      </p:sp>
      <p:sp>
        <p:nvSpPr>
          <p:cNvPr id="4" name="TextBox 3">
            <a:extLst>
              <a:ext uri="{FF2B5EF4-FFF2-40B4-BE49-F238E27FC236}">
                <a16:creationId xmlns:a16="http://schemas.microsoft.com/office/drawing/2014/main" id="{944E2BAC-7EE2-4292-9F3D-8DED6454CB9F}"/>
              </a:ext>
            </a:extLst>
          </p:cNvPr>
          <p:cNvSpPr>
            <a:spLocks noGrp="1"/>
          </p:cNvSpPr>
          <p:nvPr/>
        </p:nvSpPr>
        <p:spPr>
          <a:xfrm>
            <a:off x="660400" y="1081826"/>
            <a:ext cx="11626850" cy="954107"/>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A request triggers a response, which containts a status code to indicate how the server handled the request.</a:t>
            </a:r>
          </a:p>
        </p:txBody>
      </p:sp>
      <p:sp>
        <p:nvSpPr>
          <p:cNvPr id="6" name="object 6">
            <a:extLst>
              <a:ext uri="{FF2B5EF4-FFF2-40B4-BE49-F238E27FC236}">
                <a16:creationId xmlns:a16="http://schemas.microsoft.com/office/drawing/2014/main" id="{55D27600-B492-2A13-7EA4-2B2BB78433F4}"/>
              </a:ext>
            </a:extLst>
          </p:cNvPr>
          <p:cNvSpPr>
            <a:spLocks noGrp="1"/>
          </p:cNvSpPr>
          <p:nvPr/>
        </p:nvSpPr>
        <p:spPr>
          <a:xfrm>
            <a:off x="742314" y="6317297"/>
            <a:ext cx="1201420" cy="334645"/>
          </a:xfrm>
          <a:prstGeom prst="rect">
            <a:avLst/>
          </a:prstGeom>
        </p:spPr>
        <p:txBody>
          <a:bodyPr vert="horz" wrap="square" lIns="0" tIns="15875" rIns="0" bIns="0">
            <a:spAutoFit/>
          </a:bodyPr>
          <a:lstStyle/>
          <a:p>
            <a:pPr marL="12700">
              <a:lnSpc>
                <a:spcPct val="100000"/>
              </a:lnSpc>
              <a:spcBef>
                <a:spcPts val="125"/>
              </a:spcBef>
              <a:buNone/>
              <a:defRPr>
                <a:latin typeface="Aptos"/>
                <a:ea typeface="Aptos"/>
                <a:cs typeface="Aptos"/>
              </a:defRPr>
            </a:pPr>
            <a:r>
              <a:rPr sz="2000" spc="-270">
                <a:latin typeface="Aptos"/>
                <a:ea typeface="Aptos"/>
                <a:cs typeface="Aptos"/>
              </a:rPr>
              <a:t>https://http.cat/</a:t>
            </a:r>
            <a:endParaRPr sz="2000">
              <a:latin typeface="Aptos (Body)"/>
              <a:ea typeface="Aptos (Body)"/>
              <a:cs typeface="Aptos (Body)"/>
            </a:endParaRPr>
          </a:p>
        </p:txBody>
      </p:sp>
      <p:graphicFrame>
        <p:nvGraphicFramePr>
          <p:cNvPr id="12" name="object 4"/>
          <p:cNvGraphicFramePr/>
          <p:nvPr/>
        </p:nvGraphicFramePr>
        <p:xfrm>
          <a:off x="940752" y="3102427"/>
          <a:ext cx="2489833" cy="1920875"/>
        </p:xfrm>
        <a:graphic>
          <a:graphicData uri="http://schemas.openxmlformats.org/drawingml/2006/table">
            <a:tbl>
              <a:tblPr firstRow="1" bandRow="1">
                <a:tableStyleId>{2D5ABB26-0587-4C30-8999-92F81FD0307C}</a:tableStyleId>
              </a:tblPr>
              <a:tblGrid>
                <a:gridCol w="826769">
                  <a:extLst>
                    <a:ext uri="{9D8B030D-6E8A-4147-A177-3AD203B41FA5}">
                      <a16:colId xmlns:a16="http://schemas.microsoft.com/office/drawing/2014/main" val="20000"/>
                    </a:ext>
                  </a:extLst>
                </a:gridCol>
                <a:gridCol w="1663064">
                  <a:extLst>
                    <a:ext uri="{9D8B030D-6E8A-4147-A177-3AD203B41FA5}">
                      <a16:colId xmlns:a16="http://schemas.microsoft.com/office/drawing/2014/main" val="20001"/>
                    </a:ext>
                  </a:extLst>
                </a:gridCol>
              </a:tblGrid>
              <a:tr h="365125">
                <a:tc>
                  <a:txBody>
                    <a:bodyPr/>
                    <a:lstStyle/>
                    <a:p>
                      <a:pPr marL="31750">
                        <a:lnSpc>
                          <a:spcPts val="2095"/>
                        </a:lnSpc>
                        <a:buNone/>
                      </a:pPr>
                      <a:r>
                        <a:rPr sz="1800" spc="-25">
                          <a:latin typeface="Courier New"/>
                          <a:ea typeface="Courier New"/>
                          <a:cs typeface="Courier New"/>
                        </a:rPr>
                        <a:t>1xx</a:t>
                      </a:r>
                      <a:endParaRPr sz="1800">
                        <a:latin typeface="Courier New"/>
                        <a:ea typeface="Courier New"/>
                        <a:cs typeface="Courier New"/>
                      </a:endParaRPr>
                    </a:p>
                  </a:txBody>
                  <a:tcPr marL="0" marR="0" marT="0" marB="0"/>
                </a:tc>
                <a:tc>
                  <a:txBody>
                    <a:bodyPr/>
                    <a:lstStyle/>
                    <a:p>
                      <a:pPr marL="394970">
                        <a:lnSpc>
                          <a:spcPct val="100000"/>
                        </a:lnSpc>
                        <a:spcBef>
                          <a:spcPts val="30"/>
                        </a:spcBef>
                        <a:buNone/>
                      </a:pPr>
                      <a:r>
                        <a:rPr sz="2000" spc="-10">
                          <a:latin typeface="Aptos (Body)"/>
                          <a:ea typeface="Aptos (Body)"/>
                          <a:cs typeface="Aptos (Body)"/>
                        </a:rPr>
                        <a:t>Information</a:t>
                      </a:r>
                      <a:endParaRPr sz="2000">
                        <a:latin typeface="Aptos (Body)"/>
                        <a:ea typeface="Aptos (Body)"/>
                        <a:cs typeface="Aptos (Body)"/>
                      </a:endParaRPr>
                    </a:p>
                  </a:txBody>
                  <a:tcPr marL="0" marR="0" marT="3810" marB="0"/>
                </a:tc>
                <a:extLst>
                  <a:ext uri="{0D108BD9-81ED-4DB2-BD59-A6C34878D82A}">
                    <a16:rowId xmlns:a16="http://schemas.microsoft.com/office/drawing/2014/main" val="10000"/>
                  </a:ext>
                </a:extLst>
              </a:tr>
              <a:tr h="396875">
                <a:tc>
                  <a:txBody>
                    <a:bodyPr/>
                    <a:lstStyle/>
                    <a:p>
                      <a:pPr marL="31750">
                        <a:lnSpc>
                          <a:spcPct val="100000"/>
                        </a:lnSpc>
                        <a:spcBef>
                          <a:spcPts val="175"/>
                        </a:spcBef>
                        <a:buNone/>
                      </a:pPr>
                      <a:r>
                        <a:rPr sz="1800" spc="-25">
                          <a:latin typeface="Courier New"/>
                          <a:ea typeface="Courier New"/>
                          <a:cs typeface="Courier New"/>
                        </a:rPr>
                        <a:t>2xx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10">
                          <a:latin typeface="Aptos (Body)"/>
                          <a:ea typeface="Aptos (Body)"/>
                          <a:cs typeface="Aptos (Body)"/>
                        </a:rPr>
                        <a:t>Success</a:t>
                      </a:r>
                      <a:endParaRPr sz="2000">
                        <a:latin typeface="Aptos (Body)"/>
                        <a:ea typeface="Aptos (Body)"/>
                        <a:cs typeface="Aptos (Body)"/>
                      </a:endParaRPr>
                    </a:p>
                  </a:txBody>
                  <a:tcPr marL="0" marR="0" marT="34925" marB="0"/>
                </a:tc>
                <a:extLst>
                  <a:ext uri="{0D108BD9-81ED-4DB2-BD59-A6C34878D82A}">
                    <a16:rowId xmlns:a16="http://schemas.microsoft.com/office/drawing/2014/main" val="10001"/>
                  </a:ext>
                </a:extLst>
              </a:tr>
              <a:tr h="396240">
                <a:tc>
                  <a:txBody>
                    <a:bodyPr/>
                    <a:lstStyle/>
                    <a:p>
                      <a:pPr marL="31750">
                        <a:lnSpc>
                          <a:spcPct val="100000"/>
                        </a:lnSpc>
                        <a:spcBef>
                          <a:spcPts val="175"/>
                        </a:spcBef>
                        <a:buNone/>
                      </a:pPr>
                      <a:r>
                        <a:rPr sz="1800" spc="-25">
                          <a:latin typeface="Courier New"/>
                          <a:ea typeface="Courier New"/>
                          <a:cs typeface="Courier New"/>
                        </a:rPr>
                        <a:t>3xx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10">
                          <a:latin typeface="Aptos (Body)"/>
                          <a:ea typeface="Aptos (Body)"/>
                          <a:cs typeface="Aptos (Body)"/>
                        </a:rPr>
                        <a:t>Redirection</a:t>
                      </a:r>
                      <a:endParaRPr sz="2000">
                        <a:latin typeface="Aptos (Body)"/>
                        <a:ea typeface="Aptos (Body)"/>
                        <a:cs typeface="Aptos (Body)"/>
                      </a:endParaRPr>
                    </a:p>
                  </a:txBody>
                  <a:tcPr marL="0" marR="0" marT="34925" marB="0"/>
                </a:tc>
                <a:extLst>
                  <a:ext uri="{0D108BD9-81ED-4DB2-BD59-A6C34878D82A}">
                    <a16:rowId xmlns:a16="http://schemas.microsoft.com/office/drawing/2014/main" val="10002"/>
                  </a:ext>
                </a:extLst>
              </a:tr>
              <a:tr h="396875">
                <a:tc>
                  <a:txBody>
                    <a:bodyPr/>
                    <a:lstStyle/>
                    <a:p>
                      <a:pPr marL="31750">
                        <a:lnSpc>
                          <a:spcPct val="100000"/>
                        </a:lnSpc>
                        <a:spcBef>
                          <a:spcPts val="175"/>
                        </a:spcBef>
                        <a:buNone/>
                      </a:pPr>
                      <a:r>
                        <a:rPr sz="1800" spc="-25">
                          <a:latin typeface="Courier New"/>
                          <a:ea typeface="Courier New"/>
                          <a:cs typeface="Courier New"/>
                        </a:rPr>
                        <a:t>4xx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a:latin typeface="Aptos (Body)"/>
                          <a:ea typeface="Aptos (Body)"/>
                          <a:cs typeface="Aptos (Body)"/>
                        </a:rPr>
                        <a:t>Client</a:t>
                      </a:r>
                      <a:r>
                        <a:rPr sz="2000" spc="-95">
                          <a:latin typeface="Aptos (Body)"/>
                          <a:ea typeface="Aptos (Body)"/>
                          <a:cs typeface="Aptos (Body)"/>
                        </a:rPr>
                        <a:t> </a:t>
                      </a:r>
                      <a:r>
                        <a:rPr sz="2000" spc="-20">
                          <a:latin typeface="Aptos (Body)"/>
                          <a:ea typeface="Aptos (Body)"/>
                          <a:cs typeface="Aptos (Body)"/>
                        </a:rPr>
                        <a:t>error</a:t>
                      </a:r>
                      <a:endParaRPr sz="2000">
                        <a:latin typeface="Aptos (Body)"/>
                        <a:ea typeface="Aptos (Body)"/>
                        <a:cs typeface="Aptos (Body)"/>
                      </a:endParaRPr>
                    </a:p>
                  </a:txBody>
                  <a:tcPr marL="0" marR="0" marT="34925" marB="0"/>
                </a:tc>
                <a:extLst>
                  <a:ext uri="{0D108BD9-81ED-4DB2-BD59-A6C34878D82A}">
                    <a16:rowId xmlns:a16="http://schemas.microsoft.com/office/drawing/2014/main" val="10003"/>
                  </a:ext>
                </a:extLst>
              </a:tr>
              <a:tr h="365760">
                <a:tc>
                  <a:txBody>
                    <a:bodyPr/>
                    <a:lstStyle/>
                    <a:p>
                      <a:pPr marL="31750">
                        <a:lnSpc>
                          <a:spcPct val="100000"/>
                        </a:lnSpc>
                        <a:spcBef>
                          <a:spcPts val="175"/>
                        </a:spcBef>
                        <a:buNone/>
                      </a:pPr>
                      <a:r>
                        <a:rPr sz="1800" spc="-25">
                          <a:latin typeface="Courier New"/>
                          <a:ea typeface="Courier New"/>
                          <a:cs typeface="Courier New"/>
                        </a:rPr>
                        <a:t>5xx</a:t>
                      </a:r>
                      <a:endParaRPr sz="1800">
                        <a:latin typeface="Courier New"/>
                        <a:ea typeface="Courier New"/>
                        <a:cs typeface="Courier New"/>
                      </a:endParaRPr>
                    </a:p>
                  </a:txBody>
                  <a:tcPr marL="0" marR="0" marT="22225" marB="0"/>
                </a:tc>
                <a:tc>
                  <a:txBody>
                    <a:bodyPr/>
                    <a:lstStyle/>
                    <a:p>
                      <a:pPr marL="394970">
                        <a:lnSpc>
                          <a:spcPct val="100000"/>
                        </a:lnSpc>
                        <a:spcBef>
                          <a:spcPts val="275"/>
                        </a:spcBef>
                        <a:buNone/>
                      </a:pPr>
                      <a:r>
                        <a:rPr sz="2000" spc="-20">
                          <a:latin typeface="Aptos (Body)"/>
                          <a:ea typeface="Aptos (Body)"/>
                          <a:cs typeface="Aptos (Body)"/>
                        </a:rPr>
                        <a:t>Server</a:t>
                      </a:r>
                      <a:r>
                        <a:rPr sz="2000" spc="-45">
                          <a:latin typeface="Aptos (Body)"/>
                          <a:ea typeface="Aptos (Body)"/>
                          <a:cs typeface="Aptos (Body)"/>
                        </a:rPr>
                        <a:t> </a:t>
                      </a:r>
                      <a:r>
                        <a:rPr sz="2000" spc="-20">
                          <a:latin typeface="Aptos (Body)"/>
                          <a:ea typeface="Aptos (Body)"/>
                          <a:cs typeface="Aptos (Body)"/>
                        </a:rPr>
                        <a:t>error</a:t>
                      </a:r>
                      <a:endParaRPr sz="2000">
                        <a:latin typeface="Aptos (Body)"/>
                        <a:ea typeface="Aptos (Body)"/>
                        <a:cs typeface="Aptos (Body)"/>
                      </a:endParaRPr>
                    </a:p>
                  </a:txBody>
                  <a:tcPr marL="0" marR="0" marT="34925" marB="0"/>
                </a:tc>
                <a:extLst>
                  <a:ext uri="{0D108BD9-81ED-4DB2-BD59-A6C34878D82A}">
                    <a16:rowId xmlns:a16="http://schemas.microsoft.com/office/drawing/2014/main" val="10004"/>
                  </a:ext>
                </a:extLst>
              </a:tr>
            </a:tbl>
          </a:graphicData>
        </a:graphic>
      </p:graphicFrame>
      <p:pic>
        <p:nvPicPr>
          <p:cNvPr id="13" name="object 6"/>
          <p:cNvPicPr>
            <a:picLocks noChangeAspect="1"/>
          </p:cNvPicPr>
          <p:nvPr/>
        </p:nvPicPr>
        <p:blipFill>
          <a:blip r:embed="rId3"/>
          <a:stretch>
            <a:fillRect/>
          </a:stretch>
        </p:blipFill>
        <p:spPr>
          <a:xfrm>
            <a:off x="7591425" y="1952625"/>
            <a:ext cx="3581400" cy="4467225"/>
          </a:xfrm>
          <a:prstGeom prst="rect">
            <a:avLst/>
          </a:prstGeom>
        </p:spPr>
      </p:pic>
    </p:spTree>
    <p:extLst>
      <p:ext uri="{BB962C8B-B14F-4D97-AF65-F5344CB8AC3E}">
        <p14:creationId xmlns:p14="http://schemas.microsoft.com/office/powerpoint/2010/main" val="42803037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0CCAF-3159-04BE-0A51-C5A2C6C69365}"/>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95">
                <a:latin typeface="Aptos Display"/>
                <a:ea typeface="Aptos Display"/>
                <a:cs typeface="Aptos Display"/>
              </a:rPr>
              <a:t>Message</a:t>
            </a:r>
            <a:r>
              <a:rPr spc="-135">
                <a:latin typeface="Aptos Display"/>
                <a:ea typeface="Aptos Display"/>
                <a:cs typeface="Aptos Display"/>
              </a:rPr>
              <a:t> </a:t>
            </a:r>
            <a:r>
              <a:rPr spc="-10">
                <a:latin typeface="Aptos Display"/>
                <a:ea typeface="Aptos Display"/>
                <a:cs typeface="Aptos Display"/>
              </a:rPr>
              <a:t>structure</a:t>
            </a:r>
            <a:endParaRPr/>
          </a:p>
        </p:txBody>
      </p:sp>
      <p:sp>
        <p:nvSpPr>
          <p:cNvPr id="4" name="TextBox 3">
            <a:extLst>
              <a:ext uri="{FF2B5EF4-FFF2-40B4-BE49-F238E27FC236}">
                <a16:creationId xmlns:a16="http://schemas.microsoft.com/office/drawing/2014/main" id="{57492F68-EDC3-9C2F-BC61-D14A9FB107C2}"/>
              </a:ext>
            </a:extLst>
          </p:cNvPr>
          <p:cNvSpPr>
            <a:spLocks noGrp="1"/>
          </p:cNvSpPr>
          <p:nvPr/>
        </p:nvSpPr>
        <p:spPr>
          <a:xfrm>
            <a:off x="628650" y="1081826"/>
            <a:ext cx="11626850" cy="3108543"/>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Start line: request or response line</a:t>
            </a:r>
          </a:p>
          <a:p>
            <a:pPr>
              <a:buNone/>
              <a:defRPr>
                <a:latin typeface="Aptos"/>
                <a:ea typeface="Aptos"/>
                <a:cs typeface="Aptos"/>
              </a:defRPr>
            </a:pPr>
            <a:endParaRPr sz="2800"/>
          </a:p>
          <a:p>
            <a:pPr algn="l">
              <a:buNone/>
              <a:defRPr>
                <a:latin typeface="Aptos"/>
                <a:ea typeface="Aptos"/>
                <a:cs typeface="Aptos"/>
              </a:defRPr>
            </a:pPr>
            <a:r>
              <a:rPr sz="2800">
                <a:latin typeface="Aptos"/>
                <a:ea typeface="Aptos"/>
                <a:cs typeface="Aptos"/>
              </a:rPr>
              <a:t>Message headers Blank line Message body</a:t>
            </a:r>
          </a:p>
          <a:p>
            <a:pPr>
              <a:buNone/>
              <a:defRPr>
                <a:latin typeface="Aptos"/>
                <a:ea typeface="Aptos"/>
                <a:cs typeface="Aptos"/>
              </a:defRPr>
            </a:pPr>
            <a:endParaRPr sz="2800"/>
          </a:p>
          <a:p>
            <a:pPr algn="l">
              <a:buNone/>
              <a:defRPr>
                <a:latin typeface="Aptos"/>
                <a:ea typeface="Aptos"/>
                <a:cs typeface="Aptos"/>
              </a:defRPr>
            </a:pPr>
            <a:r>
              <a:rPr sz="2800" spc="-60">
                <a:latin typeface="Aptos"/>
                <a:ea typeface="Aptos"/>
                <a:cs typeface="Aptos"/>
              </a:rPr>
              <a:t>Blank</a:t>
            </a:r>
            <a:r>
              <a:rPr sz="2800" spc="-70">
                <a:latin typeface="Aptos"/>
                <a:ea typeface="Aptos"/>
                <a:cs typeface="Aptos"/>
              </a:rPr>
              <a:t> </a:t>
            </a:r>
            <a:r>
              <a:rPr sz="2800" spc="-20">
                <a:latin typeface="Aptos"/>
                <a:ea typeface="Aptos"/>
                <a:cs typeface="Aptos"/>
              </a:rPr>
              <a:t>line</a:t>
            </a:r>
          </a:p>
          <a:p>
            <a:pPr algn="l">
              <a:buNone/>
              <a:defRPr>
                <a:latin typeface="Aptos"/>
                <a:ea typeface="Aptos"/>
                <a:cs typeface="Aptos"/>
              </a:defRPr>
            </a:pPr>
            <a:r>
              <a:rPr sz="2800" spc="-20">
                <a:latin typeface="Aptos"/>
                <a:ea typeface="Aptos"/>
                <a:cs typeface="Aptos"/>
              </a:rPr>
              <a:t> </a:t>
            </a:r>
          </a:p>
          <a:p>
            <a:pPr algn="l">
              <a:buNone/>
              <a:defRPr>
                <a:latin typeface="Aptos"/>
                <a:ea typeface="Aptos"/>
                <a:cs typeface="Aptos"/>
              </a:defRPr>
            </a:pPr>
            <a:r>
              <a:rPr sz="2800" spc="-110">
                <a:latin typeface="Aptos"/>
                <a:ea typeface="Aptos"/>
                <a:cs typeface="Aptos"/>
              </a:rPr>
              <a:t>Message</a:t>
            </a:r>
            <a:r>
              <a:rPr sz="2800" spc="80">
                <a:latin typeface="Aptos"/>
                <a:ea typeface="Aptos"/>
                <a:cs typeface="Aptos"/>
              </a:rPr>
              <a:t> </a:t>
            </a:r>
            <a:r>
              <a:rPr sz="2800" spc="-20">
                <a:latin typeface="Aptos"/>
                <a:ea typeface="Aptos"/>
                <a:cs typeface="Aptos"/>
              </a:rPr>
              <a:t>body</a:t>
            </a:r>
            <a:endParaRPr sz="2800"/>
          </a:p>
        </p:txBody>
      </p:sp>
    </p:spTree>
    <p:extLst>
      <p:ext uri="{BB962C8B-B14F-4D97-AF65-F5344CB8AC3E}">
        <p14:creationId xmlns:p14="http://schemas.microsoft.com/office/powerpoint/2010/main" val="31544058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6B8B9-FAB5-A11E-1DEC-886A55B0D893}"/>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95">
                <a:latin typeface="Aptos Display"/>
                <a:ea typeface="Aptos Display"/>
                <a:cs typeface="Aptos Display"/>
              </a:rPr>
              <a:t>Message</a:t>
            </a:r>
            <a:r>
              <a:rPr spc="-135">
                <a:latin typeface="Aptos Display"/>
                <a:ea typeface="Aptos Display"/>
                <a:cs typeface="Aptos Display"/>
              </a:rPr>
              <a:t> </a:t>
            </a:r>
            <a:r>
              <a:rPr spc="-10">
                <a:latin typeface="Aptos Display"/>
                <a:ea typeface="Aptos Display"/>
                <a:cs typeface="Aptos Display"/>
              </a:rPr>
              <a:t>structure: request</a:t>
            </a:r>
            <a:endParaRPr/>
          </a:p>
        </p:txBody>
      </p:sp>
      <p:sp>
        <p:nvSpPr>
          <p:cNvPr id="4" name="TextBox 3">
            <a:extLst>
              <a:ext uri="{FF2B5EF4-FFF2-40B4-BE49-F238E27FC236}">
                <a16:creationId xmlns:a16="http://schemas.microsoft.com/office/drawing/2014/main" id="{AD37B980-3B95-9591-1F4D-574ACB0D4498}"/>
              </a:ext>
            </a:extLst>
          </p:cNvPr>
          <p:cNvSpPr>
            <a:spLocks noGrp="1"/>
          </p:cNvSpPr>
          <p:nvPr/>
        </p:nvSpPr>
        <p:spPr>
          <a:xfrm>
            <a:off x="628650" y="1081826"/>
            <a:ext cx="11626850" cy="3108543"/>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Start line: request or response line</a:t>
            </a:r>
          </a:p>
          <a:p>
            <a:pPr>
              <a:buNone/>
              <a:defRPr>
                <a:latin typeface="Aptos"/>
                <a:ea typeface="Aptos"/>
                <a:cs typeface="Aptos"/>
              </a:defRPr>
            </a:pPr>
            <a:endParaRPr sz="2800"/>
          </a:p>
          <a:p>
            <a:pPr algn="l">
              <a:buNone/>
              <a:defRPr>
                <a:latin typeface="Aptos"/>
                <a:ea typeface="Aptos"/>
                <a:cs typeface="Aptos"/>
              </a:defRPr>
            </a:pPr>
            <a:r>
              <a:rPr sz="2800">
                <a:latin typeface="Aptos"/>
                <a:ea typeface="Aptos"/>
                <a:cs typeface="Aptos"/>
              </a:rPr>
              <a:t>Message headers Blank line Message body</a:t>
            </a:r>
          </a:p>
          <a:p>
            <a:pPr>
              <a:buNone/>
              <a:defRPr>
                <a:latin typeface="Aptos"/>
                <a:ea typeface="Aptos"/>
                <a:cs typeface="Aptos"/>
              </a:defRPr>
            </a:pPr>
            <a:endParaRPr sz="2800"/>
          </a:p>
          <a:p>
            <a:pPr algn="l">
              <a:buNone/>
              <a:defRPr>
                <a:latin typeface="Aptos"/>
                <a:ea typeface="Aptos"/>
                <a:cs typeface="Aptos"/>
              </a:defRPr>
            </a:pPr>
            <a:r>
              <a:rPr sz="2800" spc="-60">
                <a:latin typeface="Aptos"/>
                <a:ea typeface="Aptos"/>
                <a:cs typeface="Aptos"/>
              </a:rPr>
              <a:t>Blank</a:t>
            </a:r>
            <a:r>
              <a:rPr sz="2800" spc="-70">
                <a:latin typeface="Aptos"/>
                <a:ea typeface="Aptos"/>
                <a:cs typeface="Aptos"/>
              </a:rPr>
              <a:t> </a:t>
            </a:r>
            <a:r>
              <a:rPr sz="2800" spc="-20">
                <a:latin typeface="Aptos"/>
                <a:ea typeface="Aptos"/>
                <a:cs typeface="Aptos"/>
              </a:rPr>
              <a:t>line</a:t>
            </a:r>
          </a:p>
          <a:p>
            <a:pPr algn="l">
              <a:buNone/>
              <a:defRPr>
                <a:latin typeface="Aptos"/>
                <a:ea typeface="Aptos"/>
                <a:cs typeface="Aptos"/>
              </a:defRPr>
            </a:pPr>
            <a:r>
              <a:rPr sz="2800" spc="-20">
                <a:latin typeface="Aptos"/>
                <a:ea typeface="Aptos"/>
                <a:cs typeface="Aptos"/>
              </a:rPr>
              <a:t> </a:t>
            </a:r>
          </a:p>
          <a:p>
            <a:pPr algn="l">
              <a:buNone/>
              <a:defRPr>
                <a:latin typeface="Aptos"/>
                <a:ea typeface="Aptos"/>
                <a:cs typeface="Aptos"/>
              </a:defRPr>
            </a:pPr>
            <a:r>
              <a:rPr sz="2800" spc="-110">
                <a:latin typeface="Aptos"/>
                <a:ea typeface="Aptos"/>
                <a:cs typeface="Aptos"/>
              </a:rPr>
              <a:t>Message</a:t>
            </a:r>
            <a:r>
              <a:rPr sz="2800" spc="80">
                <a:latin typeface="Aptos"/>
                <a:ea typeface="Aptos"/>
                <a:cs typeface="Aptos"/>
              </a:rPr>
              <a:t> </a:t>
            </a:r>
            <a:r>
              <a:rPr sz="2800" spc="-20">
                <a:latin typeface="Aptos"/>
                <a:ea typeface="Aptos"/>
                <a:cs typeface="Aptos"/>
              </a:rPr>
              <a:t>body</a:t>
            </a:r>
            <a:endParaRPr sz="2800"/>
          </a:p>
        </p:txBody>
      </p:sp>
      <p:sp>
        <p:nvSpPr>
          <p:cNvPr id="5" name="object 4">
            <a:extLst>
              <a:ext uri="{FF2B5EF4-FFF2-40B4-BE49-F238E27FC236}">
                <a16:creationId xmlns:a16="http://schemas.microsoft.com/office/drawing/2014/main" id="{FA8406DA-EFBA-7AB9-FF7F-8378322C5577}"/>
              </a:ext>
            </a:extLst>
          </p:cNvPr>
          <p:cNvSpPr>
            <a:spLocks noGrp="1"/>
          </p:cNvSpPr>
          <p:nvPr/>
        </p:nvSpPr>
        <p:spPr>
          <a:xfrm>
            <a:off x="6693915" y="2638214"/>
            <a:ext cx="4663440" cy="2503805"/>
          </a:xfrm>
          <a:prstGeom prst="rect">
            <a:avLst/>
          </a:prstGeom>
        </p:spPr>
        <p:txBody>
          <a:bodyPr vert="horz" wrap="square" lIns="0" tIns="10795" rIns="0" bIns="0">
            <a:spAutoFit/>
          </a:bodyPr>
          <a:lstStyle/>
          <a:p>
            <a:pPr marL="12700" marR="958215">
              <a:lnSpc>
                <a:spcPct val="100800"/>
              </a:lnSpc>
              <a:spcBef>
                <a:spcPts val="85"/>
              </a:spcBef>
              <a:buNone/>
              <a:defRPr>
                <a:latin typeface="Aptos"/>
                <a:ea typeface="Aptos"/>
                <a:cs typeface="Aptos"/>
              </a:defRPr>
            </a:pPr>
            <a:r>
              <a:rPr sz="1800">
                <a:latin typeface="Courier New"/>
                <a:ea typeface="Courier New"/>
                <a:cs typeface="Courier New"/>
              </a:rPr>
              <a:t>GET</a:t>
            </a:r>
            <a:r>
              <a:rPr sz="1800" spc="-100">
                <a:latin typeface="Courier New"/>
                <a:ea typeface="Courier New"/>
                <a:cs typeface="Courier New"/>
              </a:rPr>
              <a:t> </a:t>
            </a:r>
            <a:r>
              <a:rPr sz="1800">
                <a:latin typeface="Courier New"/>
                <a:ea typeface="Courier New"/>
                <a:cs typeface="Courier New"/>
              </a:rPr>
              <a:t>/doc/test.html</a:t>
            </a:r>
            <a:r>
              <a:rPr sz="1800" spc="-95">
                <a:latin typeface="Courier New"/>
                <a:ea typeface="Courier New"/>
                <a:cs typeface="Courier New"/>
              </a:rPr>
              <a:t> </a:t>
            </a:r>
            <a:r>
              <a:rPr sz="1800" spc="-10">
                <a:latin typeface="Courier New"/>
                <a:ea typeface="Courier New"/>
                <a:cs typeface="Courier New"/>
              </a:rPr>
              <a:t>HTTP/1.1 </a:t>
            </a:r>
            <a:r>
              <a:rPr sz="1800">
                <a:latin typeface="Courier New"/>
                <a:ea typeface="Courier New"/>
                <a:cs typeface="Courier New"/>
              </a:rPr>
              <a:t>Host:</a:t>
            </a:r>
            <a:r>
              <a:rPr sz="1800" spc="-130">
                <a:latin typeface="Courier New"/>
                <a:ea typeface="Courier New"/>
                <a:cs typeface="Courier New"/>
              </a:rPr>
              <a:t> </a:t>
            </a:r>
            <a:r>
              <a:rPr sz="1800" u="sng" spc="-10">
                <a:solidFill>
                  <a:srgbClr val="0462C1"/>
                </a:solidFill>
                <a:latin typeface="Courier New"/>
                <a:ea typeface="Courier New"/>
                <a:cs typeface="Courier New"/>
                <a:hlinkClick r:id="rId3"/>
              </a:rPr>
              <a:t>www.test101.com</a:t>
            </a:r>
            <a:endParaRPr sz="1800">
              <a:latin typeface="Courier New"/>
              <a:ea typeface="Courier New"/>
              <a:cs typeface="Courier New"/>
            </a:endParaRPr>
          </a:p>
          <a:p>
            <a:pPr marL="12700" marR="5080">
              <a:lnSpc>
                <a:spcPct val="100800"/>
              </a:lnSpc>
              <a:buNone/>
              <a:defRPr>
                <a:latin typeface="Aptos"/>
                <a:ea typeface="Aptos"/>
                <a:cs typeface="Aptos"/>
              </a:defRPr>
            </a:pPr>
            <a:r>
              <a:rPr sz="1800">
                <a:latin typeface="Courier New"/>
                <a:ea typeface="Courier New"/>
                <a:cs typeface="Courier New"/>
              </a:rPr>
              <a:t>Accept:</a:t>
            </a:r>
            <a:r>
              <a:rPr sz="1800" spc="-105">
                <a:latin typeface="Courier New"/>
                <a:ea typeface="Courier New"/>
                <a:cs typeface="Courier New"/>
              </a:rPr>
              <a:t> </a:t>
            </a:r>
            <a:r>
              <a:rPr sz="1800">
                <a:latin typeface="Courier New"/>
                <a:ea typeface="Courier New"/>
                <a:cs typeface="Courier New"/>
              </a:rPr>
              <a:t>image/gif,</a:t>
            </a:r>
            <a:r>
              <a:rPr sz="1800" spc="-100">
                <a:latin typeface="Courier New"/>
                <a:ea typeface="Courier New"/>
                <a:cs typeface="Courier New"/>
              </a:rPr>
              <a:t> </a:t>
            </a:r>
            <a:r>
              <a:rPr sz="1800">
                <a:latin typeface="Courier New"/>
                <a:ea typeface="Courier New"/>
                <a:cs typeface="Courier New"/>
              </a:rPr>
              <a:t>image/jpeg,</a:t>
            </a:r>
            <a:r>
              <a:rPr sz="1800" spc="-100">
                <a:latin typeface="Courier New"/>
                <a:ea typeface="Courier New"/>
                <a:cs typeface="Courier New"/>
              </a:rPr>
              <a:t> </a:t>
            </a:r>
            <a:r>
              <a:rPr sz="1800" spc="-25">
                <a:latin typeface="Courier New"/>
                <a:ea typeface="Courier New"/>
                <a:cs typeface="Courier New"/>
              </a:rPr>
              <a:t>*/* </a:t>
            </a:r>
            <a:r>
              <a:rPr sz="1800" spc="-20">
                <a:latin typeface="Courier New"/>
                <a:ea typeface="Courier New"/>
                <a:cs typeface="Courier New"/>
              </a:rPr>
              <a:t>Accept-</a:t>
            </a:r>
            <a:r>
              <a:rPr sz="1800">
                <a:latin typeface="Courier New"/>
                <a:ea typeface="Courier New"/>
                <a:cs typeface="Courier New"/>
              </a:rPr>
              <a:t>Languge:</a:t>
            </a:r>
            <a:r>
              <a:rPr sz="1800" spc="15">
                <a:latin typeface="Courier New"/>
                <a:ea typeface="Courier New"/>
                <a:cs typeface="Courier New"/>
              </a:rPr>
              <a:t> </a:t>
            </a:r>
            <a:r>
              <a:rPr sz="1800" spc="-20">
                <a:latin typeface="Courier New"/>
                <a:ea typeface="Courier New"/>
                <a:cs typeface="Courier New"/>
              </a:rPr>
              <a:t>en-</a:t>
            </a:r>
            <a:r>
              <a:rPr sz="1800" spc="-25">
                <a:latin typeface="Courier New"/>
                <a:ea typeface="Courier New"/>
                <a:cs typeface="Courier New"/>
              </a:rPr>
              <a:t>us</a:t>
            </a:r>
            <a:endParaRPr sz="1800">
              <a:latin typeface="Courier New"/>
              <a:ea typeface="Courier New"/>
              <a:cs typeface="Courier New"/>
            </a:endParaRPr>
          </a:p>
          <a:p>
            <a:pPr marL="12700">
              <a:lnSpc>
                <a:spcPts val="2100"/>
              </a:lnSpc>
              <a:buNone/>
              <a:defRPr>
                <a:latin typeface="Aptos"/>
                <a:ea typeface="Aptos"/>
                <a:cs typeface="Aptos"/>
              </a:defRPr>
            </a:pPr>
            <a:r>
              <a:rPr sz="1800" spc="-20">
                <a:latin typeface="Courier New"/>
                <a:ea typeface="Courier New"/>
                <a:cs typeface="Courier New"/>
              </a:rPr>
              <a:t>Accept-</a:t>
            </a:r>
            <a:r>
              <a:rPr sz="1800">
                <a:latin typeface="Courier New"/>
                <a:ea typeface="Courier New"/>
                <a:cs typeface="Courier New"/>
              </a:rPr>
              <a:t>Encoding:</a:t>
            </a:r>
            <a:r>
              <a:rPr sz="1800" spc="-50">
                <a:latin typeface="Courier New"/>
                <a:ea typeface="Courier New"/>
                <a:cs typeface="Courier New"/>
              </a:rPr>
              <a:t> </a:t>
            </a:r>
            <a:r>
              <a:rPr sz="1800">
                <a:latin typeface="Courier New"/>
                <a:ea typeface="Courier New"/>
                <a:cs typeface="Courier New"/>
              </a:rPr>
              <a:t>gzip,</a:t>
            </a:r>
            <a:r>
              <a:rPr sz="1800" spc="-35">
                <a:latin typeface="Courier New"/>
                <a:ea typeface="Courier New"/>
                <a:cs typeface="Courier New"/>
              </a:rPr>
              <a:t> </a:t>
            </a:r>
            <a:r>
              <a:rPr sz="1800" spc="-10">
                <a:latin typeface="Courier New"/>
                <a:ea typeface="Courier New"/>
                <a:cs typeface="Courier New"/>
              </a:rPr>
              <a:t>deflate</a:t>
            </a:r>
            <a:endParaRPr sz="1800">
              <a:latin typeface="Courier New"/>
              <a:ea typeface="Courier New"/>
              <a:cs typeface="Courier New"/>
            </a:endParaRPr>
          </a:p>
          <a:p>
            <a:pPr marL="12700" marR="1504315">
              <a:lnSpc>
                <a:spcPct val="100800"/>
              </a:lnSpc>
              <a:buNone/>
              <a:defRPr>
                <a:latin typeface="Aptos"/>
                <a:ea typeface="Aptos"/>
                <a:cs typeface="Aptos"/>
              </a:defRPr>
            </a:pPr>
            <a:r>
              <a:rPr sz="1800" spc="-25">
                <a:latin typeface="Courier New"/>
                <a:ea typeface="Courier New"/>
                <a:cs typeface="Courier New"/>
              </a:rPr>
              <a:t>User-</a:t>
            </a:r>
            <a:r>
              <a:rPr sz="1800">
                <a:latin typeface="Courier New"/>
                <a:ea typeface="Courier New"/>
                <a:cs typeface="Courier New"/>
              </a:rPr>
              <a:t>Agent:</a:t>
            </a:r>
            <a:r>
              <a:rPr sz="1800" spc="-55">
                <a:latin typeface="Courier New"/>
                <a:ea typeface="Courier New"/>
                <a:cs typeface="Courier New"/>
              </a:rPr>
              <a:t> </a:t>
            </a:r>
            <a:r>
              <a:rPr sz="1800" spc="-10">
                <a:latin typeface="Courier New"/>
                <a:ea typeface="Courier New"/>
                <a:cs typeface="Courier New"/>
              </a:rPr>
              <a:t>Mozilla/4.0 </a:t>
            </a:r>
            <a:r>
              <a:rPr sz="1800" spc="-25">
                <a:latin typeface="Courier New"/>
                <a:ea typeface="Courier New"/>
                <a:cs typeface="Courier New"/>
              </a:rPr>
              <a:t>Content-</a:t>
            </a:r>
            <a:r>
              <a:rPr sz="1800">
                <a:latin typeface="Courier New"/>
                <a:ea typeface="Courier New"/>
                <a:cs typeface="Courier New"/>
              </a:rPr>
              <a:t>Length:</a:t>
            </a:r>
            <a:r>
              <a:rPr sz="1800" spc="25">
                <a:latin typeface="Courier New"/>
                <a:ea typeface="Courier New"/>
                <a:cs typeface="Courier New"/>
              </a:rPr>
              <a:t> </a:t>
            </a:r>
            <a:r>
              <a:rPr sz="1800" spc="-25">
                <a:latin typeface="Courier New"/>
                <a:ea typeface="Courier New"/>
                <a:cs typeface="Courier New"/>
              </a:rPr>
              <a:t>35</a:t>
            </a:r>
            <a:endParaRPr sz="1800">
              <a:latin typeface="Courier New"/>
              <a:ea typeface="Courier New"/>
              <a:cs typeface="Courier New"/>
            </a:endParaRPr>
          </a:p>
          <a:p>
            <a:pPr>
              <a:lnSpc>
                <a:spcPct val="100000"/>
              </a:lnSpc>
              <a:spcBef>
                <a:spcPts val="160"/>
              </a:spcBef>
              <a:buNone/>
              <a:defRPr>
                <a:latin typeface="Aptos"/>
                <a:ea typeface="Aptos"/>
                <a:cs typeface="Aptos"/>
              </a:defRPr>
            </a:pPr>
            <a:endParaRPr sz="1800">
              <a:latin typeface="Courier New"/>
              <a:ea typeface="Courier New"/>
              <a:cs typeface="Courier New"/>
            </a:endParaRPr>
          </a:p>
          <a:p>
            <a:pPr marL="12700">
              <a:lnSpc>
                <a:spcPct val="100000"/>
              </a:lnSpc>
              <a:buNone/>
              <a:defRPr>
                <a:latin typeface="Aptos"/>
                <a:ea typeface="Aptos"/>
                <a:cs typeface="Aptos"/>
              </a:defRPr>
            </a:pPr>
            <a:r>
              <a:rPr sz="1800" spc="-10">
                <a:latin typeface="Courier New"/>
                <a:ea typeface="Courier New"/>
                <a:cs typeface="Courier New"/>
              </a:rPr>
              <a:t>BookId=12345&amp;author=Tan+Ah+Teck</a:t>
            </a:r>
            <a:endParaRPr sz="1800">
              <a:latin typeface="Courier New"/>
              <a:ea typeface="Courier New"/>
              <a:cs typeface="Courier New"/>
            </a:endParaRPr>
          </a:p>
        </p:txBody>
      </p:sp>
    </p:spTree>
    <p:extLst>
      <p:ext uri="{BB962C8B-B14F-4D97-AF65-F5344CB8AC3E}">
        <p14:creationId xmlns:p14="http://schemas.microsoft.com/office/powerpoint/2010/main" val="13651920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D3FEF-EC32-7E3A-CA51-7BF2E621B6DC}"/>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95">
                <a:latin typeface="Aptos Display"/>
                <a:ea typeface="Aptos Display"/>
                <a:cs typeface="Aptos Display"/>
              </a:rPr>
              <a:t>Message</a:t>
            </a:r>
            <a:r>
              <a:rPr spc="-135">
                <a:latin typeface="Aptos Display"/>
                <a:ea typeface="Aptos Display"/>
                <a:cs typeface="Aptos Display"/>
              </a:rPr>
              <a:t> </a:t>
            </a:r>
            <a:r>
              <a:rPr spc="-10">
                <a:latin typeface="Aptos Display"/>
                <a:ea typeface="Aptos Display"/>
                <a:cs typeface="Aptos Display"/>
              </a:rPr>
              <a:t>structure: response</a:t>
            </a:r>
            <a:endParaRPr/>
          </a:p>
        </p:txBody>
      </p:sp>
      <p:sp>
        <p:nvSpPr>
          <p:cNvPr id="4" name="TextBox 3">
            <a:extLst>
              <a:ext uri="{FF2B5EF4-FFF2-40B4-BE49-F238E27FC236}">
                <a16:creationId xmlns:a16="http://schemas.microsoft.com/office/drawing/2014/main" id="{A5949B70-CDF7-8C3F-A28E-D12E34433815}"/>
              </a:ext>
            </a:extLst>
          </p:cNvPr>
          <p:cNvSpPr>
            <a:spLocks noGrp="1"/>
          </p:cNvSpPr>
          <p:nvPr/>
        </p:nvSpPr>
        <p:spPr>
          <a:xfrm>
            <a:off x="628650" y="1081826"/>
            <a:ext cx="11626850" cy="3108543"/>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Start line: request or response line</a:t>
            </a:r>
          </a:p>
          <a:p>
            <a:pPr>
              <a:buNone/>
              <a:defRPr>
                <a:latin typeface="Aptos"/>
                <a:ea typeface="Aptos"/>
                <a:cs typeface="Aptos"/>
              </a:defRPr>
            </a:pPr>
            <a:endParaRPr sz="2800"/>
          </a:p>
          <a:p>
            <a:pPr algn="l">
              <a:buNone/>
              <a:defRPr>
                <a:latin typeface="Aptos"/>
                <a:ea typeface="Aptos"/>
                <a:cs typeface="Aptos"/>
              </a:defRPr>
            </a:pPr>
            <a:r>
              <a:rPr sz="2800">
                <a:latin typeface="Aptos"/>
                <a:ea typeface="Aptos"/>
                <a:cs typeface="Aptos"/>
              </a:rPr>
              <a:t>Message headers Blank line Message body</a:t>
            </a:r>
          </a:p>
          <a:p>
            <a:pPr>
              <a:buNone/>
              <a:defRPr>
                <a:latin typeface="Aptos"/>
                <a:ea typeface="Aptos"/>
                <a:cs typeface="Aptos"/>
              </a:defRPr>
            </a:pPr>
            <a:endParaRPr sz="2800"/>
          </a:p>
          <a:p>
            <a:pPr algn="l">
              <a:buNone/>
              <a:defRPr>
                <a:latin typeface="Aptos"/>
                <a:ea typeface="Aptos"/>
                <a:cs typeface="Aptos"/>
              </a:defRPr>
            </a:pPr>
            <a:r>
              <a:rPr sz="2800" spc="-60">
                <a:latin typeface="Aptos"/>
                <a:ea typeface="Aptos"/>
                <a:cs typeface="Aptos"/>
              </a:rPr>
              <a:t>Blank</a:t>
            </a:r>
            <a:r>
              <a:rPr sz="2800" spc="-70">
                <a:latin typeface="Aptos"/>
                <a:ea typeface="Aptos"/>
                <a:cs typeface="Aptos"/>
              </a:rPr>
              <a:t> </a:t>
            </a:r>
            <a:r>
              <a:rPr sz="2800" spc="-20">
                <a:latin typeface="Aptos"/>
                <a:ea typeface="Aptos"/>
                <a:cs typeface="Aptos"/>
              </a:rPr>
              <a:t>line</a:t>
            </a:r>
          </a:p>
          <a:p>
            <a:pPr algn="l">
              <a:buNone/>
              <a:defRPr>
                <a:latin typeface="Aptos"/>
                <a:ea typeface="Aptos"/>
                <a:cs typeface="Aptos"/>
              </a:defRPr>
            </a:pPr>
            <a:r>
              <a:rPr sz="2800" spc="-20">
                <a:latin typeface="Aptos"/>
                <a:ea typeface="Aptos"/>
                <a:cs typeface="Aptos"/>
              </a:rPr>
              <a:t> </a:t>
            </a:r>
          </a:p>
          <a:p>
            <a:pPr algn="l">
              <a:buNone/>
              <a:defRPr>
                <a:latin typeface="Aptos"/>
                <a:ea typeface="Aptos"/>
                <a:cs typeface="Aptos"/>
              </a:defRPr>
            </a:pPr>
            <a:r>
              <a:rPr sz="2800" spc="-110">
                <a:latin typeface="Aptos"/>
                <a:ea typeface="Aptos"/>
                <a:cs typeface="Aptos"/>
              </a:rPr>
              <a:t>Message</a:t>
            </a:r>
            <a:r>
              <a:rPr sz="2800" spc="80">
                <a:latin typeface="Aptos"/>
                <a:ea typeface="Aptos"/>
                <a:cs typeface="Aptos"/>
              </a:rPr>
              <a:t> </a:t>
            </a:r>
            <a:r>
              <a:rPr sz="2800" spc="-20">
                <a:latin typeface="Aptos"/>
                <a:ea typeface="Aptos"/>
                <a:cs typeface="Aptos"/>
              </a:rPr>
              <a:t>body</a:t>
            </a:r>
            <a:endParaRPr sz="2800"/>
          </a:p>
        </p:txBody>
      </p:sp>
      <p:sp>
        <p:nvSpPr>
          <p:cNvPr id="12" name="object 4">
            <a:extLst>
              <a:ext uri="{FF2B5EF4-FFF2-40B4-BE49-F238E27FC236}">
                <a16:creationId xmlns:a16="http://schemas.microsoft.com/office/drawing/2014/main" id="{3AA0424E-97E3-1121-147B-BFAE16CE4184}"/>
              </a:ext>
            </a:extLst>
          </p:cNvPr>
          <p:cNvSpPr>
            <a:spLocks noGrp="1"/>
          </p:cNvSpPr>
          <p:nvPr/>
        </p:nvSpPr>
        <p:spPr>
          <a:xfrm>
            <a:off x="6706615" y="2909506"/>
            <a:ext cx="4806315" cy="3049270"/>
          </a:xfrm>
          <a:prstGeom prst="rect">
            <a:avLst/>
          </a:prstGeom>
        </p:spPr>
        <p:txBody>
          <a:bodyPr vert="horz" wrap="square" lIns="0" tIns="12700" rIns="0" bIns="0">
            <a:spAutoFit/>
          </a:bodyPr>
          <a:lstStyle/>
          <a:p>
            <a:pPr marL="12700" algn="l">
              <a:lnSpc>
                <a:spcPct val="100000"/>
              </a:lnSpc>
              <a:spcBef>
                <a:spcPts val="100"/>
              </a:spcBef>
              <a:buNone/>
              <a:defRPr>
                <a:latin typeface="Aptos"/>
                <a:ea typeface="Aptos"/>
                <a:cs typeface="Aptos"/>
              </a:defRPr>
            </a:pPr>
            <a:r>
              <a:rPr sz="1800">
                <a:latin typeface="Courier New"/>
                <a:ea typeface="Courier New"/>
                <a:cs typeface="Courier New"/>
              </a:rPr>
              <a:t>HTTP/1.1</a:t>
            </a:r>
            <a:r>
              <a:rPr sz="1800" spc="-110">
                <a:latin typeface="Courier New"/>
                <a:ea typeface="Courier New"/>
                <a:cs typeface="Courier New"/>
              </a:rPr>
              <a:t> </a:t>
            </a:r>
            <a:r>
              <a:rPr sz="1800">
                <a:latin typeface="Courier New"/>
                <a:ea typeface="Courier New"/>
                <a:cs typeface="Courier New"/>
              </a:rPr>
              <a:t>200</a:t>
            </a:r>
            <a:r>
              <a:rPr sz="1800" spc="-30">
                <a:latin typeface="Courier New"/>
                <a:ea typeface="Courier New"/>
                <a:cs typeface="Courier New"/>
              </a:rPr>
              <a:t> </a:t>
            </a:r>
            <a:r>
              <a:rPr sz="1800" spc="-25">
                <a:latin typeface="Courier New"/>
                <a:ea typeface="Courier New"/>
                <a:cs typeface="Courier New"/>
              </a:rPr>
              <a:t>OK</a:t>
            </a:r>
            <a:endParaRPr sz="1800">
              <a:latin typeface="Courier New"/>
              <a:ea typeface="Courier New"/>
              <a:cs typeface="Courier New"/>
            </a:endParaRPr>
          </a:p>
          <a:p>
            <a:pPr marL="12700" marR="5080" algn="l">
              <a:lnSpc>
                <a:spcPts val="2180"/>
              </a:lnSpc>
              <a:spcBef>
                <a:spcPts val="75"/>
              </a:spcBef>
              <a:buNone/>
              <a:defRPr>
                <a:latin typeface="Aptos"/>
                <a:ea typeface="Aptos"/>
                <a:cs typeface="Aptos"/>
              </a:defRPr>
            </a:pPr>
            <a:r>
              <a:rPr sz="1800">
                <a:latin typeface="Courier New"/>
                <a:ea typeface="Courier New"/>
                <a:cs typeface="Courier New"/>
              </a:rPr>
              <a:t>Date:</a:t>
            </a:r>
            <a:r>
              <a:rPr sz="1800" spc="-105">
                <a:latin typeface="Courier New"/>
                <a:ea typeface="Courier New"/>
                <a:cs typeface="Courier New"/>
              </a:rPr>
              <a:t> </a:t>
            </a:r>
            <a:r>
              <a:rPr sz="1800">
                <a:latin typeface="Courier New"/>
                <a:ea typeface="Courier New"/>
                <a:cs typeface="Courier New"/>
              </a:rPr>
              <a:t>Sun,</a:t>
            </a:r>
            <a:r>
              <a:rPr sz="1800" spc="-30">
                <a:latin typeface="Courier New"/>
                <a:ea typeface="Courier New"/>
                <a:cs typeface="Courier New"/>
              </a:rPr>
              <a:t> </a:t>
            </a:r>
            <a:r>
              <a:rPr sz="1800">
                <a:latin typeface="Courier New"/>
                <a:ea typeface="Courier New"/>
                <a:cs typeface="Courier New"/>
              </a:rPr>
              <a:t>08</a:t>
            </a:r>
            <a:r>
              <a:rPr sz="1800" spc="-25">
                <a:latin typeface="Courier New"/>
                <a:ea typeface="Courier New"/>
                <a:cs typeface="Courier New"/>
              </a:rPr>
              <a:t> </a:t>
            </a:r>
            <a:r>
              <a:rPr sz="1800">
                <a:latin typeface="Courier New"/>
                <a:ea typeface="Courier New"/>
                <a:cs typeface="Courier New"/>
              </a:rPr>
              <a:t>Feb</a:t>
            </a:r>
            <a:r>
              <a:rPr sz="1800" spc="-105">
                <a:latin typeface="Courier New"/>
                <a:ea typeface="Courier New"/>
                <a:cs typeface="Courier New"/>
              </a:rPr>
              <a:t> </a:t>
            </a:r>
            <a:r>
              <a:rPr sz="1800">
                <a:latin typeface="Courier New"/>
                <a:ea typeface="Courier New"/>
                <a:cs typeface="Courier New"/>
              </a:rPr>
              <a:t>xxxx</a:t>
            </a:r>
            <a:r>
              <a:rPr sz="1800" spc="-30">
                <a:latin typeface="Courier New"/>
                <a:ea typeface="Courier New"/>
                <a:cs typeface="Courier New"/>
              </a:rPr>
              <a:t> </a:t>
            </a:r>
            <a:r>
              <a:rPr sz="1800">
                <a:latin typeface="Courier New"/>
                <a:ea typeface="Courier New"/>
                <a:cs typeface="Courier New"/>
              </a:rPr>
              <a:t>01:11:12</a:t>
            </a:r>
            <a:r>
              <a:rPr sz="1800" spc="-25">
                <a:latin typeface="Courier New"/>
                <a:ea typeface="Courier New"/>
                <a:cs typeface="Courier New"/>
              </a:rPr>
              <a:t> GMT </a:t>
            </a:r>
            <a:r>
              <a:rPr sz="1800">
                <a:latin typeface="Courier New"/>
                <a:ea typeface="Courier New"/>
                <a:cs typeface="Courier New"/>
              </a:rPr>
              <a:t>Server:</a:t>
            </a:r>
            <a:r>
              <a:rPr sz="1800" spc="-114">
                <a:latin typeface="Courier New"/>
                <a:ea typeface="Courier New"/>
                <a:cs typeface="Courier New"/>
              </a:rPr>
              <a:t> </a:t>
            </a:r>
            <a:r>
              <a:rPr sz="1800">
                <a:latin typeface="Courier New"/>
                <a:ea typeface="Courier New"/>
                <a:cs typeface="Courier New"/>
              </a:rPr>
              <a:t>Apache/1.3.29</a:t>
            </a:r>
            <a:r>
              <a:rPr sz="1800" spc="-110">
                <a:latin typeface="Courier New"/>
                <a:ea typeface="Courier New"/>
                <a:cs typeface="Courier New"/>
              </a:rPr>
              <a:t> </a:t>
            </a:r>
            <a:r>
              <a:rPr sz="1800" spc="-10">
                <a:latin typeface="Courier New"/>
                <a:ea typeface="Courier New"/>
                <a:cs typeface="Courier New"/>
              </a:rPr>
              <a:t>(Win32)</a:t>
            </a:r>
            <a:endParaRPr sz="1800">
              <a:latin typeface="Courier New"/>
              <a:ea typeface="Courier New"/>
              <a:cs typeface="Courier New"/>
            </a:endParaRPr>
          </a:p>
          <a:p>
            <a:pPr marL="12700" marR="561340" algn="l">
              <a:lnSpc>
                <a:spcPts val="2100"/>
              </a:lnSpc>
              <a:spcBef>
                <a:spcPts val="60"/>
              </a:spcBef>
              <a:buNone/>
              <a:defRPr>
                <a:latin typeface="Aptos"/>
                <a:ea typeface="Aptos"/>
                <a:cs typeface="Aptos"/>
              </a:defRPr>
            </a:pPr>
            <a:r>
              <a:rPr sz="1800" spc="-25">
                <a:latin typeface="Courier New"/>
                <a:ea typeface="Courier New"/>
                <a:cs typeface="Courier New"/>
              </a:rPr>
              <a:t>Last-</a:t>
            </a:r>
            <a:r>
              <a:rPr sz="1800">
                <a:latin typeface="Courier New"/>
                <a:ea typeface="Courier New"/>
                <a:cs typeface="Courier New"/>
              </a:rPr>
              <a:t>Modified:</a:t>
            </a:r>
            <a:r>
              <a:rPr sz="1800" spc="-85">
                <a:latin typeface="Courier New"/>
                <a:ea typeface="Courier New"/>
                <a:cs typeface="Courier New"/>
              </a:rPr>
              <a:t> </a:t>
            </a:r>
            <a:r>
              <a:rPr sz="1800">
                <a:latin typeface="Courier New"/>
                <a:ea typeface="Courier New"/>
                <a:cs typeface="Courier New"/>
              </a:rPr>
              <a:t>Sat,</a:t>
            </a:r>
            <a:r>
              <a:rPr sz="1800" spc="-10">
                <a:latin typeface="Courier New"/>
                <a:ea typeface="Courier New"/>
                <a:cs typeface="Courier New"/>
              </a:rPr>
              <a:t> </a:t>
            </a:r>
            <a:r>
              <a:rPr sz="1800">
                <a:latin typeface="Courier New"/>
                <a:ea typeface="Courier New"/>
                <a:cs typeface="Courier New"/>
              </a:rPr>
              <a:t>07</a:t>
            </a:r>
            <a:r>
              <a:rPr sz="1800" spc="-15">
                <a:latin typeface="Courier New"/>
                <a:ea typeface="Courier New"/>
                <a:cs typeface="Courier New"/>
              </a:rPr>
              <a:t> </a:t>
            </a:r>
            <a:r>
              <a:rPr sz="1800">
                <a:latin typeface="Courier New"/>
                <a:ea typeface="Courier New"/>
                <a:cs typeface="Courier New"/>
              </a:rPr>
              <a:t>Feb</a:t>
            </a:r>
            <a:r>
              <a:rPr sz="1800" spc="-80">
                <a:latin typeface="Courier New"/>
                <a:ea typeface="Courier New"/>
                <a:cs typeface="Courier New"/>
              </a:rPr>
              <a:t> </a:t>
            </a:r>
            <a:r>
              <a:rPr sz="1800" spc="-20">
                <a:latin typeface="Courier New"/>
                <a:ea typeface="Courier New"/>
                <a:cs typeface="Courier New"/>
              </a:rPr>
              <a:t>xxxx </a:t>
            </a:r>
            <a:r>
              <a:rPr sz="1800">
                <a:latin typeface="Courier New"/>
                <a:ea typeface="Courier New"/>
                <a:cs typeface="Courier New"/>
              </a:rPr>
              <a:t>ETag:</a:t>
            </a:r>
            <a:r>
              <a:rPr sz="1800" spc="-125">
                <a:latin typeface="Courier New"/>
                <a:ea typeface="Courier New"/>
                <a:cs typeface="Courier New"/>
              </a:rPr>
              <a:t> </a:t>
            </a:r>
            <a:r>
              <a:rPr sz="1800" spc="-10">
                <a:latin typeface="Courier New"/>
                <a:ea typeface="Courier New"/>
                <a:cs typeface="Courier New"/>
              </a:rPr>
              <a:t>"0-23-4024c3a5"</a:t>
            </a:r>
            <a:endParaRPr sz="1800">
              <a:latin typeface="Courier New"/>
              <a:ea typeface="Courier New"/>
              <a:cs typeface="Courier New"/>
            </a:endParaRPr>
          </a:p>
          <a:p>
            <a:pPr marL="12700" marR="2052955" algn="l">
              <a:lnSpc>
                <a:spcPts val="2180"/>
              </a:lnSpc>
              <a:spcBef>
                <a:spcPts val="15"/>
              </a:spcBef>
              <a:buNone/>
              <a:defRPr>
                <a:latin typeface="Aptos"/>
                <a:ea typeface="Aptos"/>
                <a:cs typeface="Aptos"/>
              </a:defRPr>
            </a:pPr>
            <a:r>
              <a:rPr sz="1800" spc="-20">
                <a:latin typeface="Courier New"/>
                <a:ea typeface="Courier New"/>
                <a:cs typeface="Courier New"/>
              </a:rPr>
              <a:t>Accept-</a:t>
            </a:r>
            <a:r>
              <a:rPr sz="1800">
                <a:latin typeface="Courier New"/>
                <a:ea typeface="Courier New"/>
                <a:cs typeface="Courier New"/>
              </a:rPr>
              <a:t>Ranges:</a:t>
            </a:r>
            <a:r>
              <a:rPr sz="1800" spc="-55">
                <a:latin typeface="Courier New"/>
                <a:ea typeface="Courier New"/>
                <a:cs typeface="Courier New"/>
              </a:rPr>
              <a:t> </a:t>
            </a:r>
            <a:r>
              <a:rPr sz="1800" spc="-20">
                <a:latin typeface="Courier New"/>
                <a:ea typeface="Courier New"/>
                <a:cs typeface="Courier New"/>
              </a:rPr>
              <a:t>bytes </a:t>
            </a:r>
            <a:r>
              <a:rPr sz="1800" spc="-25">
                <a:latin typeface="Courier New"/>
                <a:ea typeface="Courier New"/>
                <a:cs typeface="Courier New"/>
              </a:rPr>
              <a:t>Content-</a:t>
            </a:r>
            <a:r>
              <a:rPr sz="1800">
                <a:latin typeface="Courier New"/>
                <a:ea typeface="Courier New"/>
                <a:cs typeface="Courier New"/>
              </a:rPr>
              <a:t>Length:</a:t>
            </a:r>
            <a:r>
              <a:rPr sz="1800" spc="25">
                <a:latin typeface="Courier New"/>
                <a:ea typeface="Courier New"/>
                <a:cs typeface="Courier New"/>
              </a:rPr>
              <a:t> </a:t>
            </a:r>
            <a:r>
              <a:rPr sz="1800" spc="-25">
                <a:latin typeface="Courier New"/>
                <a:ea typeface="Courier New"/>
                <a:cs typeface="Courier New"/>
              </a:rPr>
              <a:t>35</a:t>
            </a:r>
            <a:endParaRPr sz="1800">
              <a:latin typeface="Courier New"/>
              <a:ea typeface="Courier New"/>
              <a:cs typeface="Courier New"/>
            </a:endParaRPr>
          </a:p>
          <a:p>
            <a:pPr marL="12700" algn="l">
              <a:lnSpc>
                <a:spcPts val="2100"/>
              </a:lnSpc>
              <a:buNone/>
              <a:defRPr>
                <a:latin typeface="Aptos"/>
                <a:ea typeface="Aptos"/>
                <a:cs typeface="Aptos"/>
              </a:defRPr>
            </a:pPr>
            <a:r>
              <a:rPr sz="1800">
                <a:latin typeface="Courier New"/>
                <a:ea typeface="Courier New"/>
                <a:cs typeface="Courier New"/>
              </a:rPr>
              <a:t>Connection:</a:t>
            </a:r>
            <a:r>
              <a:rPr sz="1800" spc="-190">
                <a:latin typeface="Courier New"/>
                <a:ea typeface="Courier New"/>
                <a:cs typeface="Courier New"/>
              </a:rPr>
              <a:t> </a:t>
            </a:r>
            <a:r>
              <a:rPr sz="1800" spc="-10">
                <a:latin typeface="Courier New"/>
                <a:ea typeface="Courier New"/>
                <a:cs typeface="Courier New"/>
              </a:rPr>
              <a:t>close</a:t>
            </a:r>
            <a:endParaRPr sz="1800">
              <a:latin typeface="Courier New"/>
              <a:ea typeface="Courier New"/>
              <a:cs typeface="Courier New"/>
            </a:endParaRPr>
          </a:p>
          <a:p>
            <a:pPr marL="12700" algn="l">
              <a:lnSpc>
                <a:spcPct val="100000"/>
              </a:lnSpc>
              <a:spcBef>
                <a:spcPts val="20"/>
              </a:spcBef>
              <a:buNone/>
              <a:defRPr>
                <a:latin typeface="Aptos"/>
                <a:ea typeface="Aptos"/>
                <a:cs typeface="Aptos"/>
              </a:defRPr>
            </a:pPr>
            <a:r>
              <a:rPr sz="1800" spc="-25">
                <a:latin typeface="Courier New"/>
                <a:ea typeface="Courier New"/>
                <a:cs typeface="Courier New"/>
              </a:rPr>
              <a:t>Content-</a:t>
            </a:r>
            <a:r>
              <a:rPr sz="1800">
                <a:latin typeface="Courier New"/>
                <a:ea typeface="Courier New"/>
                <a:cs typeface="Courier New"/>
              </a:rPr>
              <a:t>Type:</a:t>
            </a:r>
            <a:r>
              <a:rPr sz="1800" spc="20">
                <a:latin typeface="Courier New"/>
                <a:ea typeface="Courier New"/>
                <a:cs typeface="Courier New"/>
              </a:rPr>
              <a:t> </a:t>
            </a:r>
            <a:r>
              <a:rPr sz="1800" spc="-10">
                <a:latin typeface="Courier New"/>
                <a:ea typeface="Courier New"/>
                <a:cs typeface="Courier New"/>
              </a:rPr>
              <a:t>text/html</a:t>
            </a:r>
            <a:endParaRPr sz="1800">
              <a:latin typeface="Courier New"/>
              <a:ea typeface="Courier New"/>
              <a:cs typeface="Courier New"/>
            </a:endParaRPr>
          </a:p>
          <a:p>
            <a:pPr>
              <a:lnSpc>
                <a:spcPct val="100000"/>
              </a:lnSpc>
              <a:spcBef>
                <a:spcPts val="80"/>
              </a:spcBef>
              <a:buNone/>
              <a:defRPr>
                <a:latin typeface="Aptos"/>
                <a:ea typeface="Aptos"/>
                <a:cs typeface="Aptos"/>
              </a:defRPr>
            </a:pPr>
            <a:endParaRPr sz="1800">
              <a:latin typeface="Courier New"/>
              <a:ea typeface="Courier New"/>
              <a:cs typeface="Courier New"/>
            </a:endParaRPr>
          </a:p>
          <a:p>
            <a:pPr marL="12700" algn="l">
              <a:lnSpc>
                <a:spcPct val="100000"/>
              </a:lnSpc>
              <a:buNone/>
              <a:defRPr>
                <a:latin typeface="Aptos"/>
                <a:ea typeface="Aptos"/>
                <a:cs typeface="Aptos"/>
              </a:defRPr>
            </a:pPr>
            <a:r>
              <a:rPr sz="1800">
                <a:latin typeface="Courier New"/>
                <a:ea typeface="Courier New"/>
                <a:cs typeface="Courier New"/>
              </a:rPr>
              <a:t>&lt;h1&gt;My</a:t>
            </a:r>
            <a:r>
              <a:rPr sz="1800" spc="-55">
                <a:latin typeface="Courier New"/>
                <a:ea typeface="Courier New"/>
                <a:cs typeface="Courier New"/>
              </a:rPr>
              <a:t> </a:t>
            </a:r>
            <a:r>
              <a:rPr sz="1800">
                <a:latin typeface="Courier New"/>
                <a:ea typeface="Courier New"/>
                <a:cs typeface="Courier New"/>
              </a:rPr>
              <a:t>Home</a:t>
            </a:r>
            <a:r>
              <a:rPr sz="1800" spc="-125">
                <a:latin typeface="Courier New"/>
                <a:ea typeface="Courier New"/>
                <a:cs typeface="Courier New"/>
              </a:rPr>
              <a:t> </a:t>
            </a:r>
            <a:r>
              <a:rPr sz="1800" spc="-10">
                <a:latin typeface="Courier New"/>
                <a:ea typeface="Courier New"/>
                <a:cs typeface="Courier New"/>
              </a:rPr>
              <a:t>page&lt;/h1&gt;</a:t>
            </a:r>
            <a:endParaRPr sz="1800">
              <a:latin typeface="Courier New"/>
              <a:ea typeface="Courier New"/>
              <a:cs typeface="Courier New"/>
            </a:endParaRPr>
          </a:p>
        </p:txBody>
      </p:sp>
    </p:spTree>
    <p:extLst>
      <p:ext uri="{BB962C8B-B14F-4D97-AF65-F5344CB8AC3E}">
        <p14:creationId xmlns:p14="http://schemas.microsoft.com/office/powerpoint/2010/main" val="22608837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99F59-B969-0413-A031-9E02C0E8045E}"/>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t>Uniform</a:t>
            </a:r>
            <a:r>
              <a:rPr spc="160">
                <a:latin typeface="Aptos Display"/>
                <a:ea typeface="Aptos Display"/>
                <a:cs typeface="Aptos Display"/>
              </a:rPr>
              <a:t> </a:t>
            </a:r>
            <a:r>
              <a:t>Resource</a:t>
            </a:r>
            <a:r>
              <a:rPr spc="130">
                <a:latin typeface="Aptos Display"/>
                <a:ea typeface="Aptos Display"/>
                <a:cs typeface="Aptos Display"/>
              </a:rPr>
              <a:t> </a:t>
            </a:r>
            <a:r>
              <a:rPr spc="70">
                <a:latin typeface="Aptos Display"/>
                <a:ea typeface="Aptos Display"/>
                <a:cs typeface="Aptos Display"/>
              </a:rPr>
              <a:t>Locator</a:t>
            </a:r>
            <a:r>
              <a:rPr spc="250">
                <a:latin typeface="Aptos Display"/>
                <a:ea typeface="Aptos Display"/>
                <a:cs typeface="Aptos Display"/>
              </a:rPr>
              <a:t> </a:t>
            </a:r>
            <a:r>
              <a:rPr spc="190">
                <a:latin typeface="Aptos Display"/>
                <a:ea typeface="Aptos Display"/>
                <a:cs typeface="Aptos Display"/>
              </a:rPr>
              <a:t>(URL)</a:t>
            </a:r>
            <a:endParaRPr/>
          </a:p>
        </p:txBody>
      </p:sp>
      <p:sp>
        <p:nvSpPr>
          <p:cNvPr id="4" name="TextBox 3">
            <a:extLst>
              <a:ext uri="{FF2B5EF4-FFF2-40B4-BE49-F238E27FC236}">
                <a16:creationId xmlns:a16="http://schemas.microsoft.com/office/drawing/2014/main" id="{FD3DE6D6-DA0A-7EF8-9F89-EA461DC7EDBF}"/>
              </a:ext>
            </a:extLst>
          </p:cNvPr>
          <p:cNvSpPr>
            <a:spLocks noGrp="1"/>
          </p:cNvSpPr>
          <p:nvPr/>
        </p:nvSpPr>
        <p:spPr>
          <a:xfrm>
            <a:off x="374650" y="1081826"/>
            <a:ext cx="11626850" cy="1918474"/>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URLs describe the location of a resource</a:t>
            </a:r>
          </a:p>
          <a:p>
            <a:pPr>
              <a:buNone/>
              <a:defRPr>
                <a:latin typeface="Aptos"/>
                <a:ea typeface="Aptos"/>
                <a:cs typeface="Aptos"/>
              </a:defRPr>
            </a:pPr>
            <a:endParaRPr sz="2800"/>
          </a:p>
          <a:p>
            <a:pPr algn="l">
              <a:buNone/>
              <a:defRPr>
                <a:latin typeface="Aptos"/>
                <a:ea typeface="Aptos"/>
                <a:cs typeface="Aptos"/>
              </a:defRPr>
            </a:pPr>
            <a:r>
              <a:rPr sz="2800">
                <a:latin typeface="Aptos"/>
                <a:ea typeface="Aptos"/>
                <a:cs typeface="Aptos"/>
              </a:rPr>
              <a:t>Format:</a:t>
            </a:r>
          </a:p>
          <a:p>
            <a:pPr marL="12700" algn="l">
              <a:lnSpc>
                <a:spcPct val="100000"/>
              </a:lnSpc>
              <a:spcBef>
                <a:spcPts val="805"/>
              </a:spcBef>
              <a:buNone/>
              <a:defRPr>
                <a:latin typeface="Aptos"/>
                <a:ea typeface="Aptos"/>
                <a:cs typeface="Aptos"/>
              </a:defRPr>
            </a:pPr>
            <a:r>
              <a:rPr sz="2800" spc="-20">
                <a:latin typeface="Courier New"/>
                <a:ea typeface="Courier New"/>
                <a:cs typeface="Courier New"/>
              </a:rPr>
              <a:t>protocol://hostname:port/path-</a:t>
            </a:r>
            <a:r>
              <a:rPr sz="2800">
                <a:latin typeface="Courier New"/>
                <a:ea typeface="Courier New"/>
                <a:cs typeface="Courier New"/>
              </a:rPr>
              <a:t>and-</a:t>
            </a:r>
            <a:r>
              <a:rPr sz="2800" spc="-25">
                <a:latin typeface="Courier New"/>
                <a:ea typeface="Courier New"/>
                <a:cs typeface="Courier New"/>
              </a:rPr>
              <a:t>file-</a:t>
            </a:r>
            <a:r>
              <a:rPr sz="2800" spc="-20">
                <a:latin typeface="Courier New"/>
                <a:ea typeface="Courier New"/>
                <a:cs typeface="Courier New"/>
              </a:rPr>
              <a:t>name</a:t>
            </a:r>
            <a:endParaRPr sz="2800">
              <a:latin typeface="Courier New"/>
              <a:ea typeface="Courier New"/>
              <a:cs typeface="Courier New"/>
            </a:endParaRPr>
          </a:p>
        </p:txBody>
      </p:sp>
      <p:sp>
        <p:nvSpPr>
          <p:cNvPr id="5" name="object 4">
            <a:extLst>
              <a:ext uri="{FF2B5EF4-FFF2-40B4-BE49-F238E27FC236}">
                <a16:creationId xmlns:a16="http://schemas.microsoft.com/office/drawing/2014/main" id="{5C15DDB8-6D24-3101-CDAD-7BED255EFDEF}"/>
              </a:ext>
            </a:extLst>
          </p:cNvPr>
          <p:cNvSpPr>
            <a:spLocks noGrp="1"/>
          </p:cNvSpPr>
          <p:nvPr/>
        </p:nvSpPr>
        <p:spPr>
          <a:xfrm>
            <a:off x="913764" y="5608320"/>
            <a:ext cx="9456420" cy="243204"/>
          </a:xfrm>
          <a:prstGeom prst="rect">
            <a:avLst/>
          </a:prstGeom>
        </p:spPr>
        <p:txBody>
          <a:bodyPr vert="horz" wrap="square" lIns="0" tIns="15875" rIns="0" bIns="0">
            <a:spAutoFit/>
          </a:bodyPr>
          <a:lstStyle/>
          <a:p>
            <a:pPr marL="12700" algn="l">
              <a:lnSpc>
                <a:spcPct val="100000"/>
              </a:lnSpc>
              <a:spcBef>
                <a:spcPts val="125"/>
              </a:spcBef>
              <a:buNone/>
              <a:defRPr>
                <a:latin typeface="Aptos"/>
                <a:ea typeface="Aptos"/>
                <a:cs typeface="Aptos"/>
              </a:defRPr>
            </a:pPr>
            <a:r>
              <a:rPr sz="1400" spc="-25">
                <a:latin typeface="Courier New"/>
                <a:ea typeface="Courier New"/>
                <a:cs typeface="Courier New"/>
                <a:hlinkClick r:id="rId3"/>
              </a:rPr>
              <a:t>https://www.sdu.dk/</a:t>
            </a:r>
            <a:r>
              <a:rPr sz="1400" spc="-25">
                <a:latin typeface="Courier New"/>
                <a:ea typeface="Courier New"/>
                <a:cs typeface="Courier New"/>
              </a:rPr>
              <a:t>-</a:t>
            </a:r>
            <a:r>
              <a:rPr sz="1400" spc="-10">
                <a:latin typeface="Courier New"/>
                <a:ea typeface="Courier New"/>
                <a:cs typeface="Courier New"/>
                <a:hlinkClick r:id="rId3"/>
              </a:rPr>
              <a:t>/media/images</a:t>
            </a:r>
            <a:r>
              <a:rPr sz="1400" spc="-10">
                <a:latin typeface="Courier New"/>
                <a:ea typeface="Courier New"/>
                <a:cs typeface="Courier New"/>
              </a:rPr>
              <a:t>/forsi</a:t>
            </a:r>
            <a:r>
              <a:rPr sz="1400" spc="-10">
                <a:latin typeface="Courier New"/>
                <a:ea typeface="Courier New"/>
                <a:cs typeface="Courier New"/>
                <a:hlinkClick r:id="rId3"/>
              </a:rPr>
              <a:t>den_nytsdu/megamenu_spots_270x170px/bib</a:t>
            </a:r>
            <a:r>
              <a:rPr sz="1400" spc="-10">
                <a:latin typeface="Courier New"/>
                <a:ea typeface="Courier New"/>
                <a:cs typeface="Courier New"/>
              </a:rPr>
              <a:t>-</a:t>
            </a:r>
            <a:r>
              <a:rPr sz="1400" spc="-10">
                <a:latin typeface="Courier New"/>
                <a:ea typeface="Courier New"/>
                <a:cs typeface="Courier New"/>
                <a:hlinkClick r:id="rId3"/>
              </a:rPr>
              <a:t>mega-4.png</a:t>
            </a:r>
            <a:endParaRPr sz="1400">
              <a:latin typeface="Courier New"/>
              <a:ea typeface="Courier New"/>
              <a:cs typeface="Courier New"/>
            </a:endParaRPr>
          </a:p>
        </p:txBody>
      </p:sp>
      <p:graphicFrame>
        <p:nvGraphicFramePr>
          <p:cNvPr id="10" name="object 5"/>
          <p:cNvGraphicFramePr/>
          <p:nvPr/>
        </p:nvGraphicFramePr>
        <p:xfrm>
          <a:off x="886777" y="3598743"/>
          <a:ext cx="7792084" cy="1772285"/>
        </p:xfrm>
        <a:graphic>
          <a:graphicData uri="http://schemas.openxmlformats.org/drawingml/2006/table">
            <a:tbl>
              <a:tblPr firstRow="1" bandRow="1">
                <a:tableStyleId>{2D5ABB26-0587-4C30-8999-92F81FD0307C}</a:tableStyleId>
              </a:tblPr>
              <a:tblGrid>
                <a:gridCol w="2698750">
                  <a:extLst>
                    <a:ext uri="{9D8B030D-6E8A-4147-A177-3AD203B41FA5}">
                      <a16:colId xmlns:a16="http://schemas.microsoft.com/office/drawing/2014/main" val="20000"/>
                    </a:ext>
                  </a:extLst>
                </a:gridCol>
                <a:gridCol w="5093334">
                  <a:extLst>
                    <a:ext uri="{9D8B030D-6E8A-4147-A177-3AD203B41FA5}">
                      <a16:colId xmlns:a16="http://schemas.microsoft.com/office/drawing/2014/main" val="20001"/>
                    </a:ext>
                  </a:extLst>
                </a:gridCol>
              </a:tblGrid>
              <a:tr h="365760">
                <a:tc>
                  <a:txBody>
                    <a:bodyPr/>
                    <a:lstStyle/>
                    <a:p>
                      <a:pPr marL="31750">
                        <a:lnSpc>
                          <a:spcPts val="2095"/>
                        </a:lnSpc>
                        <a:buNone/>
                      </a:pPr>
                      <a:r>
                        <a:rPr sz="1800" spc="-10">
                          <a:latin typeface="Courier New"/>
                          <a:ea typeface="Courier New"/>
                          <a:cs typeface="Courier New"/>
                        </a:rPr>
                        <a:t>protocol</a:t>
                      </a:r>
                      <a:endParaRPr sz="1800">
                        <a:latin typeface="Courier New"/>
                        <a:ea typeface="Courier New"/>
                        <a:cs typeface="Courier New"/>
                      </a:endParaRPr>
                    </a:p>
                  </a:txBody>
                  <a:tcPr marL="0" marR="0" marT="0" marB="0"/>
                </a:tc>
                <a:tc>
                  <a:txBody>
                    <a:bodyPr/>
                    <a:lstStyle/>
                    <a:p>
                      <a:pPr marL="213360">
                        <a:lnSpc>
                          <a:spcPct val="100000"/>
                        </a:lnSpc>
                        <a:spcBef>
                          <a:spcPts val="30"/>
                        </a:spcBef>
                        <a:buNone/>
                      </a:pPr>
                      <a:r>
                        <a:rPr sz="2000" spc="-70">
                          <a:latin typeface="Aptos (Body)"/>
                          <a:ea typeface="Aptos (Body)"/>
                          <a:cs typeface="Aptos (Body)"/>
                        </a:rPr>
                        <a:t>http,</a:t>
                      </a:r>
                      <a:r>
                        <a:rPr sz="2000" spc="-45">
                          <a:latin typeface="Aptos (Body)"/>
                          <a:ea typeface="Aptos (Body)"/>
                          <a:cs typeface="Aptos (Body)"/>
                        </a:rPr>
                        <a:t> </a:t>
                      </a:r>
                      <a:r>
                        <a:rPr sz="2000" spc="-60">
                          <a:latin typeface="Aptos (Body)"/>
                          <a:ea typeface="Aptos (Body)"/>
                          <a:cs typeface="Aptos (Body)"/>
                        </a:rPr>
                        <a:t>https,</a:t>
                      </a:r>
                      <a:r>
                        <a:rPr sz="2000" spc="15">
                          <a:latin typeface="Aptos (Body)"/>
                          <a:ea typeface="Aptos (Body)"/>
                          <a:cs typeface="Aptos (Body)"/>
                        </a:rPr>
                        <a:t> </a:t>
                      </a:r>
                      <a:r>
                        <a:rPr sz="2000" spc="-70">
                          <a:latin typeface="Aptos (Body)"/>
                          <a:ea typeface="Aptos (Body)"/>
                          <a:cs typeface="Aptos (Body)"/>
                        </a:rPr>
                        <a:t>ftp,</a:t>
                      </a:r>
                      <a:r>
                        <a:rPr sz="2000" spc="-35">
                          <a:latin typeface="Aptos (Body)"/>
                          <a:ea typeface="Aptos (Body)"/>
                          <a:cs typeface="Aptos (Body)"/>
                        </a:rPr>
                        <a:t> </a:t>
                      </a:r>
                      <a:r>
                        <a:rPr sz="2000" spc="-90">
                          <a:latin typeface="Aptos (Body)"/>
                          <a:ea typeface="Aptos (Body)"/>
                          <a:cs typeface="Aptos (Body)"/>
                        </a:rPr>
                        <a:t>file,</a:t>
                      </a:r>
                      <a:r>
                        <a:rPr sz="2000" spc="25">
                          <a:latin typeface="Aptos (Body)"/>
                          <a:ea typeface="Aptos (Body)"/>
                          <a:cs typeface="Aptos (Body)"/>
                        </a:rPr>
                        <a:t> </a:t>
                      </a:r>
                      <a:r>
                        <a:rPr sz="2000" spc="-85">
                          <a:latin typeface="Aptos (Body)"/>
                          <a:ea typeface="Aptos (Body)"/>
                          <a:cs typeface="Aptos (Body)"/>
                        </a:rPr>
                        <a:t>mailto,</a:t>
                      </a:r>
                      <a:r>
                        <a:rPr sz="2000" spc="-30">
                          <a:latin typeface="Aptos (Body)"/>
                          <a:ea typeface="Aptos (Body)"/>
                          <a:cs typeface="Aptos (Body)"/>
                        </a:rPr>
                        <a:t> </a:t>
                      </a:r>
                      <a:r>
                        <a:rPr sz="2000" spc="470">
                          <a:latin typeface="Aptos (Body)"/>
                          <a:ea typeface="Aptos (Body)"/>
                          <a:cs typeface="Aptos (Body)"/>
                        </a:rPr>
                        <a:t>…</a:t>
                      </a:r>
                      <a:endParaRPr sz="2000">
                        <a:latin typeface="Aptos (Body)"/>
                        <a:ea typeface="Aptos (Body)"/>
                        <a:cs typeface="Aptos (Body)"/>
                      </a:endParaRPr>
                    </a:p>
                  </a:txBody>
                  <a:tcPr marL="0" marR="0" marT="3810" marB="0"/>
                </a:tc>
                <a:extLst>
                  <a:ext uri="{0D108BD9-81ED-4DB2-BD59-A6C34878D82A}">
                    <a16:rowId xmlns:a16="http://schemas.microsoft.com/office/drawing/2014/main" val="10000"/>
                  </a:ext>
                </a:extLst>
              </a:tr>
              <a:tr h="396240">
                <a:tc>
                  <a:txBody>
                    <a:bodyPr/>
                    <a:lstStyle/>
                    <a:p>
                      <a:pPr marL="31750">
                        <a:lnSpc>
                          <a:spcPct val="100000"/>
                        </a:lnSpc>
                        <a:spcBef>
                          <a:spcPts val="175"/>
                        </a:spcBef>
                        <a:buNone/>
                      </a:pPr>
                      <a:r>
                        <a:rPr sz="1800" spc="-10">
                          <a:latin typeface="Courier New"/>
                          <a:ea typeface="Courier New"/>
                          <a:cs typeface="Courier New"/>
                        </a:rPr>
                        <a:t>hostname</a:t>
                      </a:r>
                      <a:endParaRPr sz="1800">
                        <a:latin typeface="Courier New"/>
                        <a:ea typeface="Courier New"/>
                        <a:cs typeface="Courier New"/>
                      </a:endParaRPr>
                    </a:p>
                  </a:txBody>
                  <a:tcPr marL="0" marR="0" marT="22225" marB="0"/>
                </a:tc>
                <a:tc>
                  <a:txBody>
                    <a:bodyPr/>
                    <a:lstStyle/>
                    <a:p>
                      <a:pPr marL="213360">
                        <a:lnSpc>
                          <a:spcPct val="100000"/>
                        </a:lnSpc>
                        <a:spcBef>
                          <a:spcPts val="275"/>
                        </a:spcBef>
                        <a:buNone/>
                      </a:pPr>
                      <a:r>
                        <a:rPr sz="2000" spc="140">
                          <a:latin typeface="Aptos (Body)"/>
                          <a:ea typeface="Aptos (Body)"/>
                          <a:cs typeface="Aptos (Body)"/>
                        </a:rPr>
                        <a:t>DNS</a:t>
                      </a:r>
                      <a:r>
                        <a:rPr sz="2000">
                          <a:latin typeface="Aptos (Body)"/>
                          <a:ea typeface="Aptos (Body)"/>
                          <a:cs typeface="Aptos (Body)"/>
                        </a:rPr>
                        <a:t> </a:t>
                      </a:r>
                      <a:r>
                        <a:rPr sz="2000" spc="-60">
                          <a:latin typeface="Aptos (Body)"/>
                          <a:ea typeface="Aptos (Body)"/>
                          <a:cs typeface="Aptos (Body)"/>
                        </a:rPr>
                        <a:t>domain</a:t>
                      </a:r>
                      <a:r>
                        <a:rPr sz="2000" spc="-10">
                          <a:latin typeface="Aptos (Body)"/>
                          <a:ea typeface="Aptos (Body)"/>
                          <a:cs typeface="Aptos (Body)"/>
                        </a:rPr>
                        <a:t> </a:t>
                      </a:r>
                      <a:r>
                        <a:rPr sz="2000" spc="-40">
                          <a:latin typeface="Aptos (Body)"/>
                          <a:ea typeface="Aptos (Body)"/>
                          <a:cs typeface="Aptos (Body)"/>
                        </a:rPr>
                        <a:t>name</a:t>
                      </a:r>
                      <a:r>
                        <a:rPr sz="2000" spc="30">
                          <a:latin typeface="Aptos (Body)"/>
                          <a:ea typeface="Aptos (Body)"/>
                          <a:cs typeface="Aptos (Body)"/>
                        </a:rPr>
                        <a:t> </a:t>
                      </a:r>
                      <a:r>
                        <a:rPr sz="2000">
                          <a:latin typeface="Aptos (Body)"/>
                          <a:ea typeface="Aptos (Body)"/>
                          <a:cs typeface="Aptos (Body)"/>
                        </a:rPr>
                        <a:t>or</a:t>
                      </a:r>
                      <a:r>
                        <a:rPr sz="2000" spc="20">
                          <a:latin typeface="Aptos (Body)"/>
                          <a:ea typeface="Aptos (Body)"/>
                          <a:cs typeface="Aptos (Body)"/>
                        </a:rPr>
                        <a:t> </a:t>
                      </a:r>
                      <a:r>
                        <a:rPr sz="2000">
                          <a:latin typeface="Aptos (Body)"/>
                          <a:ea typeface="Aptos (Body)"/>
                          <a:cs typeface="Aptos (Body)"/>
                        </a:rPr>
                        <a:t>IP</a:t>
                      </a:r>
                      <a:r>
                        <a:rPr sz="2000" spc="-40">
                          <a:latin typeface="Aptos (Body)"/>
                          <a:ea typeface="Aptos (Body)"/>
                          <a:cs typeface="Aptos (Body)"/>
                        </a:rPr>
                        <a:t> </a:t>
                      </a:r>
                      <a:r>
                        <a:rPr sz="2000" spc="-65">
                          <a:latin typeface="Aptos (Body)"/>
                          <a:ea typeface="Aptos (Body)"/>
                          <a:cs typeface="Aptos (Body)"/>
                        </a:rPr>
                        <a:t>address</a:t>
                      </a:r>
                      <a:r>
                        <a:rPr sz="2000" spc="30">
                          <a:latin typeface="Aptos (Body)"/>
                          <a:ea typeface="Aptos (Body)"/>
                          <a:cs typeface="Aptos (Body)"/>
                        </a:rPr>
                        <a:t> </a:t>
                      </a:r>
                      <a:r>
                        <a:rPr sz="2000">
                          <a:latin typeface="Aptos (Body)"/>
                          <a:ea typeface="Aptos (Body)"/>
                          <a:cs typeface="Aptos (Body)"/>
                        </a:rPr>
                        <a:t>of </a:t>
                      </a:r>
                      <a:r>
                        <a:rPr sz="2000" spc="-10">
                          <a:latin typeface="Aptos (Body)"/>
                          <a:ea typeface="Aptos (Body)"/>
                          <a:cs typeface="Aptos (Body)"/>
                        </a:rPr>
                        <a:t>server</a:t>
                      </a:r>
                      <a:endParaRPr sz="2000">
                        <a:latin typeface="Aptos (Body)"/>
                        <a:ea typeface="Aptos (Body)"/>
                        <a:cs typeface="Aptos (Body)"/>
                      </a:endParaRPr>
                    </a:p>
                  </a:txBody>
                  <a:tcPr marL="0" marR="0" marT="34925" marB="0"/>
                </a:tc>
                <a:extLst>
                  <a:ext uri="{0D108BD9-81ED-4DB2-BD59-A6C34878D82A}">
                    <a16:rowId xmlns:a16="http://schemas.microsoft.com/office/drawing/2014/main" val="10001"/>
                  </a:ext>
                </a:extLst>
              </a:tr>
              <a:tr h="396875">
                <a:tc>
                  <a:txBody>
                    <a:bodyPr/>
                    <a:lstStyle/>
                    <a:p>
                      <a:pPr marL="31750">
                        <a:lnSpc>
                          <a:spcPct val="100000"/>
                        </a:lnSpc>
                        <a:spcBef>
                          <a:spcPts val="175"/>
                        </a:spcBef>
                        <a:buNone/>
                      </a:pPr>
                      <a:r>
                        <a:rPr sz="1800" spc="-20">
                          <a:latin typeface="Courier New"/>
                          <a:ea typeface="Courier New"/>
                          <a:cs typeface="Courier New"/>
                        </a:rPr>
                        <a:t>port</a:t>
                      </a:r>
                      <a:endParaRPr sz="1800">
                        <a:latin typeface="Courier New"/>
                        <a:ea typeface="Courier New"/>
                        <a:cs typeface="Courier New"/>
                      </a:endParaRPr>
                    </a:p>
                  </a:txBody>
                  <a:tcPr marL="0" marR="0" marT="22225" marB="0"/>
                </a:tc>
                <a:tc>
                  <a:txBody>
                    <a:bodyPr/>
                    <a:lstStyle/>
                    <a:p>
                      <a:pPr marL="213360">
                        <a:lnSpc>
                          <a:spcPct val="100000"/>
                        </a:lnSpc>
                        <a:spcBef>
                          <a:spcPts val="275"/>
                        </a:spcBef>
                        <a:buNone/>
                      </a:pPr>
                      <a:r>
                        <a:rPr sz="2000" spc="135">
                          <a:latin typeface="Aptos (Body)"/>
                          <a:ea typeface="Aptos (Body)"/>
                          <a:cs typeface="Aptos (Body)"/>
                        </a:rPr>
                        <a:t>TCP</a:t>
                      </a:r>
                      <a:r>
                        <a:rPr sz="2000" spc="-55">
                          <a:latin typeface="Aptos (Body)"/>
                          <a:ea typeface="Aptos (Body)"/>
                          <a:cs typeface="Aptos (Body)"/>
                        </a:rPr>
                        <a:t> </a:t>
                      </a:r>
                      <a:r>
                        <a:rPr sz="2000">
                          <a:latin typeface="Aptos (Body)"/>
                          <a:ea typeface="Aptos (Body)"/>
                          <a:cs typeface="Aptos (Body)"/>
                        </a:rPr>
                        <a:t>port</a:t>
                      </a:r>
                      <a:r>
                        <a:rPr sz="2000" spc="-75">
                          <a:latin typeface="Aptos (Body)"/>
                          <a:ea typeface="Aptos (Body)"/>
                          <a:cs typeface="Aptos (Body)"/>
                        </a:rPr>
                        <a:t> </a:t>
                      </a:r>
                      <a:r>
                        <a:rPr sz="2000" spc="-35">
                          <a:latin typeface="Aptos (Body)"/>
                          <a:ea typeface="Aptos (Body)"/>
                          <a:cs typeface="Aptos (Body)"/>
                        </a:rPr>
                        <a:t>number</a:t>
                      </a:r>
                      <a:r>
                        <a:rPr sz="2000" spc="20">
                          <a:latin typeface="Aptos (Body)"/>
                          <a:ea typeface="Aptos (Body)"/>
                          <a:cs typeface="Aptos (Body)"/>
                        </a:rPr>
                        <a:t> </a:t>
                      </a:r>
                      <a:r>
                        <a:rPr sz="2000" spc="-20">
                          <a:latin typeface="Aptos (Body)"/>
                          <a:ea typeface="Aptos (Body)"/>
                          <a:cs typeface="Aptos (Body)"/>
                        </a:rPr>
                        <a:t>(80/443</a:t>
                      </a:r>
                      <a:r>
                        <a:rPr sz="2000" spc="-90">
                          <a:latin typeface="Aptos (Body)"/>
                          <a:ea typeface="Aptos (Body)"/>
                          <a:cs typeface="Aptos (Body)"/>
                        </a:rPr>
                        <a:t> </a:t>
                      </a:r>
                      <a:r>
                        <a:rPr sz="2000" spc="-75">
                          <a:latin typeface="Aptos (Body)"/>
                          <a:ea typeface="Aptos (Body)"/>
                          <a:cs typeface="Aptos (Body)"/>
                        </a:rPr>
                        <a:t>default</a:t>
                      </a:r>
                      <a:r>
                        <a:rPr sz="2000" spc="55">
                          <a:latin typeface="Aptos (Body)"/>
                          <a:ea typeface="Aptos (Body)"/>
                          <a:cs typeface="Aptos (Body)"/>
                        </a:rPr>
                        <a:t> </a:t>
                      </a:r>
                      <a:r>
                        <a:rPr sz="2000">
                          <a:latin typeface="Aptos (Body)"/>
                          <a:ea typeface="Aptos (Body)"/>
                          <a:cs typeface="Aptos (Body)"/>
                        </a:rPr>
                        <a:t>for</a:t>
                      </a:r>
                      <a:r>
                        <a:rPr sz="2000" spc="20">
                          <a:latin typeface="Aptos (Body)"/>
                          <a:ea typeface="Aptos (Body)"/>
                          <a:cs typeface="Aptos (Body)"/>
                        </a:rPr>
                        <a:t> </a:t>
                      </a:r>
                      <a:r>
                        <a:rPr sz="2000" spc="-45">
                          <a:latin typeface="Aptos (Body)"/>
                          <a:ea typeface="Aptos (Body)"/>
                          <a:cs typeface="Aptos (Body)"/>
                        </a:rPr>
                        <a:t>http/https)</a:t>
                      </a:r>
                      <a:endParaRPr sz="2000">
                        <a:latin typeface="Aptos (Body)"/>
                        <a:ea typeface="Aptos (Body)"/>
                        <a:cs typeface="Aptos (Body)"/>
                      </a:endParaRPr>
                    </a:p>
                  </a:txBody>
                  <a:tcPr marL="0" marR="0" marT="34925" marB="0"/>
                </a:tc>
                <a:extLst>
                  <a:ext uri="{0D108BD9-81ED-4DB2-BD59-A6C34878D82A}">
                    <a16:rowId xmlns:a16="http://schemas.microsoft.com/office/drawing/2014/main" val="10002"/>
                  </a:ext>
                </a:extLst>
              </a:tr>
              <a:tr h="365760">
                <a:tc>
                  <a:txBody>
                    <a:bodyPr/>
                    <a:lstStyle/>
                    <a:p>
                      <a:pPr marL="31750">
                        <a:lnSpc>
                          <a:spcPct val="100000"/>
                        </a:lnSpc>
                        <a:spcBef>
                          <a:spcPts val="175"/>
                        </a:spcBef>
                        <a:buNone/>
                      </a:pPr>
                      <a:r>
                        <a:rPr sz="1800" spc="-25">
                          <a:latin typeface="Courier New"/>
                          <a:ea typeface="Courier New"/>
                          <a:cs typeface="Courier New"/>
                        </a:rPr>
                        <a:t>path-</a:t>
                      </a:r>
                      <a:r>
                        <a:rPr sz="1800" spc="-15">
                          <a:latin typeface="Courier New"/>
                          <a:ea typeface="Courier New"/>
                          <a:cs typeface="Courier New"/>
                        </a:rPr>
                        <a:t>and-</a:t>
                      </a:r>
                      <a:r>
                        <a:rPr sz="1800" spc="-10">
                          <a:latin typeface="Courier New"/>
                          <a:ea typeface="Courier New"/>
                          <a:cs typeface="Courier New"/>
                        </a:rPr>
                        <a:t>file-</a:t>
                      </a:r>
                      <a:r>
                        <a:rPr sz="1800" spc="-20">
                          <a:latin typeface="Courier New"/>
                          <a:ea typeface="Courier New"/>
                          <a:cs typeface="Courier New"/>
                        </a:rPr>
                        <a:t>name</a:t>
                      </a:r>
                      <a:endParaRPr sz="1800">
                        <a:latin typeface="Courier New"/>
                        <a:ea typeface="Courier New"/>
                        <a:cs typeface="Courier New"/>
                      </a:endParaRPr>
                    </a:p>
                  </a:txBody>
                  <a:tcPr marL="0" marR="0" marT="22225" marB="0"/>
                </a:tc>
                <a:tc>
                  <a:txBody>
                    <a:bodyPr/>
                    <a:lstStyle/>
                    <a:p>
                      <a:pPr marL="213360">
                        <a:lnSpc>
                          <a:spcPct val="100000"/>
                        </a:lnSpc>
                        <a:spcBef>
                          <a:spcPts val="275"/>
                        </a:spcBef>
                        <a:buNone/>
                      </a:pPr>
                      <a:r>
                        <a:rPr sz="2000">
                          <a:latin typeface="Aptos (Body)"/>
                          <a:ea typeface="Aptos (Body)"/>
                          <a:cs typeface="Aptos (Body)"/>
                        </a:rPr>
                        <a:t>Name</a:t>
                      </a:r>
                      <a:r>
                        <a:rPr sz="2000" spc="-65">
                          <a:latin typeface="Aptos (Body)"/>
                          <a:ea typeface="Aptos (Body)"/>
                          <a:cs typeface="Aptos (Body)"/>
                        </a:rPr>
                        <a:t> </a:t>
                      </a:r>
                      <a:r>
                        <a:rPr sz="2000" spc="-35">
                          <a:latin typeface="Aptos (Body)"/>
                          <a:ea typeface="Aptos (Body)"/>
                          <a:cs typeface="Aptos (Body)"/>
                        </a:rPr>
                        <a:t>and</a:t>
                      </a:r>
                      <a:r>
                        <a:rPr sz="2000" spc="-10">
                          <a:latin typeface="Aptos (Body)"/>
                          <a:ea typeface="Aptos (Body)"/>
                          <a:cs typeface="Aptos (Body)"/>
                        </a:rPr>
                        <a:t> </a:t>
                      </a:r>
                      <a:r>
                        <a:rPr sz="2000" spc="-45">
                          <a:latin typeface="Aptos (Body)"/>
                          <a:ea typeface="Aptos (Body)"/>
                          <a:cs typeface="Aptos (Body)"/>
                        </a:rPr>
                        <a:t>location</a:t>
                      </a:r>
                      <a:r>
                        <a:rPr sz="2000" spc="5">
                          <a:latin typeface="Aptos (Body)"/>
                          <a:ea typeface="Aptos (Body)"/>
                          <a:cs typeface="Aptos (Body)"/>
                        </a:rPr>
                        <a:t> </a:t>
                      </a:r>
                      <a:r>
                        <a:rPr sz="2000">
                          <a:latin typeface="Aptos (Body)"/>
                          <a:ea typeface="Aptos (Body)"/>
                          <a:cs typeface="Aptos (Body)"/>
                        </a:rPr>
                        <a:t>of</a:t>
                      </a:r>
                      <a:r>
                        <a:rPr sz="2000" spc="-40">
                          <a:latin typeface="Aptos (Body)"/>
                          <a:ea typeface="Aptos (Body)"/>
                          <a:cs typeface="Aptos (Body)"/>
                        </a:rPr>
                        <a:t> </a:t>
                      </a:r>
                      <a:r>
                        <a:rPr sz="2000" spc="-10">
                          <a:latin typeface="Aptos (Body)"/>
                          <a:ea typeface="Aptos (Body)"/>
                          <a:cs typeface="Aptos (Body)"/>
                        </a:rPr>
                        <a:t>resource</a:t>
                      </a:r>
                      <a:endParaRPr sz="2000">
                        <a:latin typeface="Aptos (Body)"/>
                        <a:ea typeface="Aptos (Body)"/>
                        <a:cs typeface="Aptos (Body)"/>
                      </a:endParaRPr>
                    </a:p>
                  </a:txBody>
                  <a:tcPr marL="0" marR="0" marT="34925"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2514927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45D0-1799-6D2F-C324-79F4AD5A123E}"/>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400">
                <a:latin typeface="Aptos Display"/>
                <a:ea typeface="Aptos Display"/>
                <a:cs typeface="Aptos Display"/>
              </a:rPr>
              <a:t>HTTP</a:t>
            </a:r>
            <a:r>
              <a:rPr spc="95">
                <a:latin typeface="Aptos Display"/>
                <a:ea typeface="Aptos Display"/>
                <a:cs typeface="Aptos Display"/>
              </a:rPr>
              <a:t> History</a:t>
            </a:r>
            <a:endParaRPr/>
          </a:p>
        </p:txBody>
      </p:sp>
      <p:sp>
        <p:nvSpPr>
          <p:cNvPr id="4" name="TextBox 3">
            <a:extLst>
              <a:ext uri="{FF2B5EF4-FFF2-40B4-BE49-F238E27FC236}">
                <a16:creationId xmlns:a16="http://schemas.microsoft.com/office/drawing/2014/main" id="{C3C00779-3F8C-0D86-3D0D-87BDC05A83DF}"/>
              </a:ext>
            </a:extLst>
          </p:cNvPr>
          <p:cNvSpPr>
            <a:spLocks noGrp="1"/>
          </p:cNvSpPr>
          <p:nvPr/>
        </p:nvSpPr>
        <p:spPr>
          <a:xfrm>
            <a:off x="2870200" y="1519976"/>
            <a:ext cx="2743200" cy="2246769"/>
          </a:xfrm>
          <a:prstGeom prst="rect">
            <a:avLst/>
          </a:prstGeom>
          <a:noFill/>
        </p:spPr>
        <p:txBody>
          <a:bodyPr wrap="square">
            <a:spAutoFit/>
          </a:bodyPr>
          <a:lstStyle/>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HTTP/0.9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HTTP/1.0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HTTP/1.1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HTTP/2</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HTTP/3</a:t>
            </a:r>
          </a:p>
        </p:txBody>
      </p:sp>
    </p:spTree>
    <p:extLst>
      <p:ext uri="{BB962C8B-B14F-4D97-AF65-F5344CB8AC3E}">
        <p14:creationId xmlns:p14="http://schemas.microsoft.com/office/powerpoint/2010/main" val="11833595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17C75-300D-3E89-1930-8EF63F5A472A}"/>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400">
                <a:latin typeface="Aptos Display"/>
                <a:ea typeface="Aptos Display"/>
                <a:cs typeface="Aptos Display"/>
              </a:rPr>
              <a:t>HTTP</a:t>
            </a:r>
            <a:r>
              <a:rPr spc="95">
                <a:latin typeface="Aptos Display"/>
                <a:ea typeface="Aptos Display"/>
                <a:cs typeface="Aptos Display"/>
              </a:rPr>
              <a:t> History</a:t>
            </a:r>
            <a:endParaRPr/>
          </a:p>
        </p:txBody>
      </p:sp>
      <p:sp>
        <p:nvSpPr>
          <p:cNvPr id="4" name="TextBox 3">
            <a:extLst>
              <a:ext uri="{FF2B5EF4-FFF2-40B4-BE49-F238E27FC236}">
                <a16:creationId xmlns:a16="http://schemas.microsoft.com/office/drawing/2014/main" id="{3A72CD13-9986-DE3A-2F41-FDD6891DBC14}"/>
              </a:ext>
            </a:extLst>
          </p:cNvPr>
          <p:cNvSpPr>
            <a:spLocks noGrp="1"/>
          </p:cNvSpPr>
          <p:nvPr/>
        </p:nvSpPr>
        <p:spPr>
          <a:xfrm>
            <a:off x="996950" y="1373926"/>
            <a:ext cx="2743200" cy="2246769"/>
          </a:xfrm>
          <a:prstGeom prst="rect">
            <a:avLst/>
          </a:prstGeom>
          <a:noFill/>
        </p:spPr>
        <p:txBody>
          <a:bodyPr wrap="square">
            <a:spAutoFit/>
          </a:bodyPr>
          <a:lstStyle/>
          <a:p>
            <a:pPr marL="266700" indent="-152400">
              <a:lnSpc>
                <a:spcPct val="108000"/>
              </a:lnSpc>
              <a:spcAft>
                <a:spcPts val="5"/>
              </a:spcAft>
              <a:buFont typeface="Wingdings"/>
              <a:buChar char="Ø"/>
              <a:defRPr>
                <a:latin typeface="Aptos"/>
                <a:ea typeface="Aptos"/>
                <a:cs typeface="Aptos"/>
              </a:defRPr>
            </a:pPr>
            <a:r>
              <a:rPr sz="2800" b="1">
                <a:latin typeface="Aptos"/>
                <a:ea typeface="Aptos"/>
                <a:cs typeface="Aptos"/>
              </a:rPr>
              <a:t>HTTP/0.9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HTTP/1.0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HTTP/1.1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HTTP/2</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HTTP/3</a:t>
            </a:r>
          </a:p>
        </p:txBody>
      </p:sp>
      <p:sp>
        <p:nvSpPr>
          <p:cNvPr id="5" name="object 4">
            <a:extLst>
              <a:ext uri="{FF2B5EF4-FFF2-40B4-BE49-F238E27FC236}">
                <a16:creationId xmlns:a16="http://schemas.microsoft.com/office/drawing/2014/main" id="{FD8D5F97-3460-69FD-3144-BC68A3659BAC}"/>
              </a:ext>
            </a:extLst>
          </p:cNvPr>
          <p:cNvSpPr>
            <a:spLocks noGrp="1"/>
          </p:cNvSpPr>
          <p:nvPr/>
        </p:nvSpPr>
        <p:spPr>
          <a:xfrm>
            <a:off x="6255765" y="1198943"/>
            <a:ext cx="5180585" cy="3137782"/>
          </a:xfrm>
          <a:prstGeom prst="rect">
            <a:avLst/>
          </a:prstGeom>
        </p:spPr>
        <p:txBody>
          <a:bodyPr vert="horz" wrap="square" lIns="0" tIns="107950" rIns="0" bIns="0">
            <a:spAutoFit/>
          </a:bodyPr>
          <a:lstStyle/>
          <a:p>
            <a:pPr marL="12700" algn="l">
              <a:lnSpc>
                <a:spcPct val="100000"/>
              </a:lnSpc>
              <a:spcBef>
                <a:spcPts val="850"/>
              </a:spcBef>
              <a:buNone/>
              <a:defRPr>
                <a:latin typeface="Aptos"/>
                <a:ea typeface="Aptos"/>
                <a:cs typeface="Aptos"/>
              </a:defRPr>
            </a:pPr>
            <a:r>
              <a:rPr sz="2750" spc="-20">
                <a:latin typeface="Aptos"/>
                <a:ea typeface="Aptos"/>
                <a:cs typeface="Aptos"/>
              </a:rPr>
              <a:t>1991</a:t>
            </a:r>
            <a:endParaRPr sz="2750">
              <a:latin typeface="Aptos (Body)"/>
              <a:ea typeface="Aptos (Body)"/>
              <a:cs typeface="Aptos (Body)"/>
            </a:endParaRPr>
          </a:p>
          <a:p>
            <a:pPr marL="12700" marR="2616200" algn="l">
              <a:lnSpc>
                <a:spcPct val="122900"/>
              </a:lnSpc>
              <a:buNone/>
              <a:defRPr>
                <a:latin typeface="Aptos"/>
                <a:ea typeface="Aptos"/>
                <a:cs typeface="Aptos"/>
              </a:defRPr>
            </a:pPr>
            <a:r>
              <a:rPr sz="2750" spc="-25">
                <a:latin typeface="Aptos"/>
                <a:ea typeface="Aptos"/>
                <a:cs typeface="Aptos"/>
              </a:rPr>
              <a:t>First</a:t>
            </a:r>
            <a:r>
              <a:rPr sz="2750" spc="-75">
                <a:latin typeface="Aptos"/>
                <a:ea typeface="Aptos"/>
                <a:cs typeface="Aptos"/>
              </a:rPr>
              <a:t> </a:t>
            </a:r>
            <a:r>
              <a:rPr sz="2750" spc="-60">
                <a:latin typeface="Aptos"/>
                <a:ea typeface="Aptos"/>
                <a:cs typeface="Aptos"/>
              </a:rPr>
              <a:t>prototype </a:t>
            </a:r>
            <a:r>
              <a:rPr sz="2750">
                <a:latin typeface="Aptos"/>
                <a:ea typeface="Aptos"/>
                <a:cs typeface="Aptos"/>
              </a:rPr>
              <a:t>Only</a:t>
            </a:r>
            <a:r>
              <a:rPr sz="2750" spc="250">
                <a:latin typeface="Aptos"/>
                <a:ea typeface="Aptos"/>
                <a:cs typeface="Aptos"/>
              </a:rPr>
              <a:t> </a:t>
            </a:r>
            <a:r>
              <a:rPr sz="2400" spc="-25">
                <a:latin typeface="Courier New"/>
                <a:ea typeface="Courier New"/>
                <a:cs typeface="Courier New"/>
              </a:rPr>
              <a:t>GET</a:t>
            </a:r>
            <a:endParaRPr sz="2400">
              <a:latin typeface="Courier New"/>
              <a:ea typeface="Courier New"/>
              <a:cs typeface="Courier New"/>
            </a:endParaRPr>
          </a:p>
          <a:p>
            <a:pPr marL="12700" marR="2553970" algn="l">
              <a:lnSpc>
                <a:spcPts val="4060"/>
              </a:lnSpc>
              <a:spcBef>
                <a:spcPts val="180"/>
              </a:spcBef>
              <a:buNone/>
              <a:defRPr>
                <a:latin typeface="Aptos"/>
                <a:ea typeface="Aptos"/>
                <a:cs typeface="Aptos"/>
              </a:defRPr>
            </a:pPr>
            <a:r>
              <a:rPr sz="2750" spc="170">
                <a:latin typeface="Aptos"/>
                <a:ea typeface="Aptos"/>
                <a:cs typeface="Aptos"/>
              </a:rPr>
              <a:t>No</a:t>
            </a:r>
            <a:r>
              <a:rPr sz="2750" spc="204">
                <a:latin typeface="Aptos"/>
                <a:ea typeface="Aptos"/>
                <a:cs typeface="Aptos"/>
              </a:rPr>
              <a:t> </a:t>
            </a:r>
            <a:r>
              <a:rPr sz="2750" spc="-10">
                <a:latin typeface="Aptos"/>
                <a:ea typeface="Aptos"/>
                <a:cs typeface="Aptos"/>
              </a:rPr>
              <a:t>headers </a:t>
            </a:r>
            <a:r>
              <a:rPr sz="2750">
                <a:latin typeface="Aptos"/>
                <a:ea typeface="Aptos"/>
                <a:cs typeface="Aptos"/>
              </a:rPr>
              <a:t>Hypertext</a:t>
            </a:r>
            <a:r>
              <a:rPr sz="2750" spc="160">
                <a:latin typeface="Aptos"/>
                <a:ea typeface="Aptos"/>
                <a:cs typeface="Aptos"/>
              </a:rPr>
              <a:t> </a:t>
            </a:r>
            <a:r>
              <a:rPr sz="2750" spc="-60">
                <a:latin typeface="Aptos"/>
                <a:ea typeface="Aptos"/>
                <a:cs typeface="Aptos"/>
              </a:rPr>
              <a:t>only</a:t>
            </a:r>
            <a:endParaRPr sz="2750">
              <a:latin typeface="Aptos (Body)"/>
              <a:ea typeface="Aptos (Body)"/>
              <a:cs typeface="Aptos (Body)"/>
            </a:endParaRPr>
          </a:p>
          <a:p>
            <a:pPr marL="12700" algn="l">
              <a:lnSpc>
                <a:spcPct val="100000"/>
              </a:lnSpc>
              <a:spcBef>
                <a:spcPts val="490"/>
              </a:spcBef>
              <a:buNone/>
              <a:defRPr>
                <a:latin typeface="Aptos"/>
                <a:ea typeface="Aptos"/>
                <a:cs typeface="Aptos"/>
              </a:defRPr>
            </a:pPr>
            <a:r>
              <a:rPr sz="2750">
                <a:latin typeface="Aptos"/>
                <a:ea typeface="Aptos"/>
                <a:cs typeface="Aptos"/>
              </a:rPr>
              <a:t>Connection</a:t>
            </a:r>
            <a:r>
              <a:rPr sz="2750" spc="-5">
                <a:latin typeface="Aptos"/>
                <a:ea typeface="Aptos"/>
                <a:cs typeface="Aptos"/>
              </a:rPr>
              <a:t> </a:t>
            </a:r>
            <a:r>
              <a:rPr sz="2750" spc="-25">
                <a:latin typeface="Aptos"/>
                <a:ea typeface="Aptos"/>
                <a:cs typeface="Aptos"/>
              </a:rPr>
              <a:t>closed </a:t>
            </a:r>
            <a:r>
              <a:rPr sz="2750" spc="-45">
                <a:latin typeface="Aptos"/>
                <a:ea typeface="Aptos"/>
                <a:cs typeface="Aptos"/>
              </a:rPr>
              <a:t>after</a:t>
            </a:r>
            <a:r>
              <a:rPr sz="2750" spc="-10">
                <a:latin typeface="Aptos"/>
                <a:ea typeface="Aptos"/>
                <a:cs typeface="Aptos"/>
              </a:rPr>
              <a:t> </a:t>
            </a:r>
            <a:r>
              <a:rPr sz="2750" spc="-45">
                <a:latin typeface="Aptos"/>
                <a:ea typeface="Aptos"/>
                <a:cs typeface="Aptos"/>
              </a:rPr>
              <a:t>response</a:t>
            </a:r>
            <a:endParaRPr sz="2750">
              <a:latin typeface="Aptos (Body)"/>
              <a:ea typeface="Aptos (Body)"/>
              <a:cs typeface="Aptos (Body)"/>
            </a:endParaRPr>
          </a:p>
        </p:txBody>
      </p:sp>
    </p:spTree>
    <p:extLst>
      <p:ext uri="{BB962C8B-B14F-4D97-AF65-F5344CB8AC3E}">
        <p14:creationId xmlns:p14="http://schemas.microsoft.com/office/powerpoint/2010/main" val="23544102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1DD56-0D55-639B-B7AF-16A19FA92DEE}"/>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400">
                <a:latin typeface="Aptos Display"/>
                <a:ea typeface="Aptos Display"/>
                <a:cs typeface="Aptos Display"/>
              </a:rPr>
              <a:t>HTTP</a:t>
            </a:r>
            <a:r>
              <a:rPr spc="95">
                <a:latin typeface="Aptos Display"/>
                <a:ea typeface="Aptos Display"/>
                <a:cs typeface="Aptos Display"/>
              </a:rPr>
              <a:t> History</a:t>
            </a:r>
            <a:endParaRPr/>
          </a:p>
        </p:txBody>
      </p:sp>
      <p:sp>
        <p:nvSpPr>
          <p:cNvPr id="4" name="TextBox 3">
            <a:extLst>
              <a:ext uri="{FF2B5EF4-FFF2-40B4-BE49-F238E27FC236}">
                <a16:creationId xmlns:a16="http://schemas.microsoft.com/office/drawing/2014/main" id="{05940B84-F685-66EF-1CCB-79EE95F2EA85}"/>
              </a:ext>
            </a:extLst>
          </p:cNvPr>
          <p:cNvSpPr>
            <a:spLocks noGrp="1"/>
          </p:cNvSpPr>
          <p:nvPr/>
        </p:nvSpPr>
        <p:spPr>
          <a:xfrm>
            <a:off x="996950" y="1373926"/>
            <a:ext cx="2743200" cy="2246769"/>
          </a:xfrm>
          <a:prstGeom prst="rect">
            <a:avLst/>
          </a:prstGeom>
          <a:noFill/>
        </p:spPr>
        <p:txBody>
          <a:bodyPr wrap="square">
            <a:spAutoFit/>
          </a:bodyPr>
          <a:lstStyle/>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HTTP/0.9 </a:t>
            </a:r>
          </a:p>
          <a:p>
            <a:pPr marL="266700" indent="-152400">
              <a:lnSpc>
                <a:spcPct val="108000"/>
              </a:lnSpc>
              <a:spcAft>
                <a:spcPts val="5"/>
              </a:spcAft>
              <a:buFont typeface="Wingdings"/>
              <a:buChar char="Ø"/>
              <a:defRPr>
                <a:latin typeface="Aptos"/>
                <a:ea typeface="Aptos"/>
                <a:cs typeface="Aptos"/>
              </a:defRPr>
            </a:pPr>
            <a:r>
              <a:rPr sz="2800" b="1">
                <a:latin typeface="Aptos"/>
                <a:ea typeface="Aptos"/>
                <a:cs typeface="Aptos"/>
              </a:rPr>
              <a:t>HTTP/1.0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HTTP/1.1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HTTP/2</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HTTP/3</a:t>
            </a:r>
          </a:p>
        </p:txBody>
      </p:sp>
      <p:sp>
        <p:nvSpPr>
          <p:cNvPr id="6" name="object 4">
            <a:extLst>
              <a:ext uri="{FF2B5EF4-FFF2-40B4-BE49-F238E27FC236}">
                <a16:creationId xmlns:a16="http://schemas.microsoft.com/office/drawing/2014/main" id="{299FAB68-2611-0A1C-0788-56D003533C80}"/>
              </a:ext>
            </a:extLst>
          </p:cNvPr>
          <p:cNvSpPr>
            <a:spLocks noGrp="1"/>
          </p:cNvSpPr>
          <p:nvPr/>
        </p:nvSpPr>
        <p:spPr>
          <a:xfrm>
            <a:off x="5840732" y="1821243"/>
            <a:ext cx="5786118" cy="2622513"/>
          </a:xfrm>
          <a:prstGeom prst="rect">
            <a:avLst/>
          </a:prstGeom>
        </p:spPr>
        <p:txBody>
          <a:bodyPr vert="horz" wrap="square" lIns="0" tIns="107950" rIns="0" bIns="0">
            <a:spAutoFit/>
          </a:bodyPr>
          <a:lstStyle/>
          <a:p>
            <a:pPr marL="12700" algn="l">
              <a:lnSpc>
                <a:spcPct val="100000"/>
              </a:lnSpc>
              <a:spcBef>
                <a:spcPts val="850"/>
              </a:spcBef>
              <a:buNone/>
              <a:defRPr>
                <a:latin typeface="Aptos"/>
                <a:ea typeface="Aptos"/>
                <a:cs typeface="Aptos"/>
              </a:defRPr>
            </a:pPr>
            <a:r>
              <a:rPr sz="2750" spc="-20">
                <a:latin typeface="Aptos"/>
                <a:ea typeface="Aptos"/>
                <a:cs typeface="Aptos"/>
              </a:rPr>
              <a:t>1996</a:t>
            </a:r>
            <a:endParaRPr sz="2750">
              <a:latin typeface="Aptos (Body)"/>
              <a:ea typeface="Aptos (Body)"/>
              <a:cs typeface="Aptos (Body)"/>
            </a:endParaRPr>
          </a:p>
          <a:p>
            <a:pPr marL="12700" algn="l">
              <a:lnSpc>
                <a:spcPct val="100000"/>
              </a:lnSpc>
              <a:spcBef>
                <a:spcPts val="755"/>
              </a:spcBef>
              <a:buNone/>
              <a:defRPr>
                <a:latin typeface="Aptos"/>
                <a:ea typeface="Aptos"/>
                <a:cs typeface="Aptos"/>
              </a:defRPr>
            </a:pPr>
            <a:r>
              <a:rPr sz="2750" spc="-40">
                <a:latin typeface="Aptos"/>
                <a:ea typeface="Aptos"/>
                <a:cs typeface="Aptos"/>
              </a:rPr>
              <a:t>Supports:</a:t>
            </a:r>
            <a:r>
              <a:rPr sz="2750" spc="180">
                <a:latin typeface="Aptos"/>
                <a:ea typeface="Aptos"/>
                <a:cs typeface="Aptos"/>
              </a:rPr>
              <a:t> </a:t>
            </a:r>
            <a:r>
              <a:rPr sz="2400">
                <a:latin typeface="Courier New"/>
                <a:ea typeface="Courier New"/>
                <a:cs typeface="Courier New"/>
              </a:rPr>
              <a:t>GET,</a:t>
            </a:r>
            <a:r>
              <a:rPr sz="2400" spc="-110">
                <a:latin typeface="Courier New"/>
                <a:ea typeface="Courier New"/>
                <a:cs typeface="Courier New"/>
              </a:rPr>
              <a:t> </a:t>
            </a:r>
            <a:r>
              <a:rPr sz="2400">
                <a:latin typeface="Courier New"/>
                <a:ea typeface="Courier New"/>
                <a:cs typeface="Courier New"/>
              </a:rPr>
              <a:t>HEAD,</a:t>
            </a:r>
            <a:r>
              <a:rPr sz="2400" spc="-110">
                <a:latin typeface="Courier New"/>
                <a:ea typeface="Courier New"/>
                <a:cs typeface="Courier New"/>
              </a:rPr>
              <a:t> </a:t>
            </a:r>
            <a:r>
              <a:rPr sz="2400" spc="-20">
                <a:latin typeface="Courier New"/>
                <a:ea typeface="Courier New"/>
                <a:cs typeface="Courier New"/>
              </a:rPr>
              <a:t>POST</a:t>
            </a:r>
            <a:endParaRPr sz="2400">
              <a:latin typeface="Courier New"/>
              <a:ea typeface="Courier New"/>
              <a:cs typeface="Courier New"/>
            </a:endParaRPr>
          </a:p>
          <a:p>
            <a:pPr marL="12700" algn="l">
              <a:lnSpc>
                <a:spcPct val="100000"/>
              </a:lnSpc>
              <a:spcBef>
                <a:spcPts val="755"/>
              </a:spcBef>
              <a:buNone/>
              <a:defRPr>
                <a:latin typeface="Aptos"/>
                <a:ea typeface="Aptos"/>
                <a:cs typeface="Aptos"/>
              </a:defRPr>
            </a:pPr>
            <a:r>
              <a:rPr sz="2750" spc="-10">
                <a:latin typeface="Aptos"/>
                <a:ea typeface="Aptos"/>
                <a:cs typeface="Aptos"/>
              </a:rPr>
              <a:t>Headers</a:t>
            </a:r>
            <a:endParaRPr sz="2750">
              <a:latin typeface="Aptos (Body)"/>
              <a:ea typeface="Aptos (Body)"/>
              <a:cs typeface="Aptos (Body)"/>
            </a:endParaRPr>
          </a:p>
          <a:p>
            <a:pPr marL="12700" algn="l">
              <a:lnSpc>
                <a:spcPct val="100000"/>
              </a:lnSpc>
              <a:spcBef>
                <a:spcPts val="680"/>
              </a:spcBef>
              <a:buNone/>
              <a:defRPr>
                <a:latin typeface="Aptos"/>
                <a:ea typeface="Aptos"/>
                <a:cs typeface="Aptos"/>
              </a:defRPr>
            </a:pPr>
            <a:r>
              <a:rPr sz="2750" spc="65">
                <a:latin typeface="Aptos"/>
                <a:ea typeface="Aptos"/>
                <a:cs typeface="Aptos"/>
              </a:rPr>
              <a:t>Not</a:t>
            </a:r>
            <a:r>
              <a:rPr sz="2750" spc="10">
                <a:latin typeface="Aptos"/>
                <a:ea typeface="Aptos"/>
                <a:cs typeface="Aptos"/>
              </a:rPr>
              <a:t> </a:t>
            </a:r>
            <a:r>
              <a:rPr sz="2750" spc="-70">
                <a:latin typeface="Aptos"/>
                <a:ea typeface="Aptos"/>
                <a:cs typeface="Aptos"/>
              </a:rPr>
              <a:t>limited</a:t>
            </a:r>
            <a:r>
              <a:rPr sz="2750" spc="70">
                <a:latin typeface="Aptos"/>
                <a:ea typeface="Aptos"/>
                <a:cs typeface="Aptos"/>
              </a:rPr>
              <a:t> </a:t>
            </a:r>
            <a:r>
              <a:rPr sz="2750">
                <a:latin typeface="Aptos"/>
                <a:ea typeface="Aptos"/>
                <a:cs typeface="Aptos"/>
              </a:rPr>
              <a:t>to</a:t>
            </a:r>
            <a:r>
              <a:rPr sz="2750" spc="-20">
                <a:latin typeface="Aptos"/>
                <a:ea typeface="Aptos"/>
                <a:cs typeface="Aptos"/>
              </a:rPr>
              <a:t> hypertext</a:t>
            </a:r>
            <a:r>
              <a:rPr sz="2750" spc="-40">
                <a:latin typeface="Aptos"/>
                <a:ea typeface="Aptos"/>
                <a:cs typeface="Aptos"/>
              </a:rPr>
              <a:t> </a:t>
            </a:r>
            <a:r>
              <a:rPr sz="2750" spc="-45">
                <a:latin typeface="Aptos"/>
                <a:ea typeface="Aptos"/>
                <a:cs typeface="Aptos"/>
              </a:rPr>
              <a:t>(css,</a:t>
            </a:r>
            <a:r>
              <a:rPr sz="2750" spc="80">
                <a:latin typeface="Aptos"/>
                <a:ea typeface="Aptos"/>
                <a:cs typeface="Aptos"/>
              </a:rPr>
              <a:t> </a:t>
            </a:r>
            <a:r>
              <a:rPr sz="2750" spc="-40">
                <a:latin typeface="Aptos"/>
                <a:ea typeface="Aptos"/>
                <a:cs typeface="Aptos"/>
              </a:rPr>
              <a:t>img</a:t>
            </a:r>
            <a:r>
              <a:rPr sz="2750" spc="10">
                <a:latin typeface="Aptos"/>
                <a:ea typeface="Aptos"/>
                <a:cs typeface="Aptos"/>
              </a:rPr>
              <a:t> </a:t>
            </a:r>
            <a:r>
              <a:rPr sz="2750" spc="335">
                <a:latin typeface="Aptos"/>
                <a:ea typeface="Aptos"/>
                <a:cs typeface="Aptos"/>
              </a:rPr>
              <a:t>…)</a:t>
            </a:r>
            <a:endParaRPr sz="2750">
              <a:latin typeface="Aptos (Body)"/>
              <a:ea typeface="Aptos (Body)"/>
              <a:cs typeface="Aptos (Body)"/>
            </a:endParaRPr>
          </a:p>
          <a:p>
            <a:pPr marL="12700" algn="l">
              <a:lnSpc>
                <a:spcPct val="100000"/>
              </a:lnSpc>
              <a:spcBef>
                <a:spcPts val="755"/>
              </a:spcBef>
              <a:buNone/>
              <a:defRPr>
                <a:latin typeface="Aptos"/>
                <a:ea typeface="Aptos"/>
                <a:cs typeface="Aptos"/>
              </a:defRPr>
            </a:pPr>
            <a:r>
              <a:rPr sz="2750">
                <a:latin typeface="Aptos"/>
                <a:ea typeface="Aptos"/>
                <a:cs typeface="Aptos"/>
              </a:rPr>
              <a:t>Connection</a:t>
            </a:r>
            <a:r>
              <a:rPr sz="2750" spc="-10">
                <a:latin typeface="Aptos"/>
                <a:ea typeface="Aptos"/>
                <a:cs typeface="Aptos"/>
              </a:rPr>
              <a:t> </a:t>
            </a:r>
            <a:r>
              <a:rPr sz="2750" spc="-25">
                <a:latin typeface="Aptos"/>
                <a:ea typeface="Aptos"/>
                <a:cs typeface="Aptos"/>
              </a:rPr>
              <a:t>closed</a:t>
            </a:r>
            <a:r>
              <a:rPr sz="2750" spc="-20">
                <a:latin typeface="Aptos"/>
                <a:ea typeface="Aptos"/>
                <a:cs typeface="Aptos"/>
              </a:rPr>
              <a:t> </a:t>
            </a:r>
            <a:r>
              <a:rPr sz="2750" spc="-45">
                <a:latin typeface="Aptos"/>
                <a:ea typeface="Aptos"/>
                <a:cs typeface="Aptos"/>
              </a:rPr>
              <a:t>after</a:t>
            </a:r>
            <a:r>
              <a:rPr sz="2750" spc="-25">
                <a:latin typeface="Aptos"/>
                <a:ea typeface="Aptos"/>
                <a:cs typeface="Aptos"/>
              </a:rPr>
              <a:t> </a:t>
            </a:r>
            <a:r>
              <a:rPr sz="2750" spc="-10">
                <a:latin typeface="Aptos"/>
                <a:ea typeface="Aptos"/>
                <a:cs typeface="Aptos"/>
              </a:rPr>
              <a:t>response</a:t>
            </a:r>
            <a:endParaRPr sz="2750">
              <a:latin typeface="Aptos (Body)"/>
              <a:ea typeface="Aptos (Body)"/>
              <a:cs typeface="Aptos (Body)"/>
            </a:endParaRPr>
          </a:p>
        </p:txBody>
      </p:sp>
    </p:spTree>
    <p:extLst>
      <p:ext uri="{BB962C8B-B14F-4D97-AF65-F5344CB8AC3E}">
        <p14:creationId xmlns:p14="http://schemas.microsoft.com/office/powerpoint/2010/main" val="10288810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A491B-B96E-037D-2CA8-F3D757DEE4E3}"/>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400">
                <a:latin typeface="Aptos Display"/>
                <a:ea typeface="Aptos Display"/>
                <a:cs typeface="Aptos Display"/>
              </a:rPr>
              <a:t>HTTP</a:t>
            </a:r>
            <a:r>
              <a:rPr spc="95">
                <a:latin typeface="Aptos Display"/>
                <a:ea typeface="Aptos Display"/>
                <a:cs typeface="Aptos Display"/>
              </a:rPr>
              <a:t> History</a:t>
            </a:r>
            <a:endParaRPr/>
          </a:p>
        </p:txBody>
      </p:sp>
      <p:sp>
        <p:nvSpPr>
          <p:cNvPr id="6" name="object 4">
            <a:extLst>
              <a:ext uri="{FF2B5EF4-FFF2-40B4-BE49-F238E27FC236}">
                <a16:creationId xmlns:a16="http://schemas.microsoft.com/office/drawing/2014/main" id="{95D5FF54-9FA2-BDD3-980D-0887EC04F3EA}"/>
              </a:ext>
            </a:extLst>
          </p:cNvPr>
          <p:cNvSpPr>
            <a:spLocks noGrp="1"/>
          </p:cNvSpPr>
          <p:nvPr/>
        </p:nvSpPr>
        <p:spPr>
          <a:xfrm>
            <a:off x="5840732" y="1821243"/>
            <a:ext cx="5786118" cy="2622513"/>
          </a:xfrm>
          <a:prstGeom prst="rect">
            <a:avLst/>
          </a:prstGeom>
        </p:spPr>
        <p:txBody>
          <a:bodyPr vert="horz" wrap="square" lIns="0" tIns="107950" rIns="0" bIns="0">
            <a:spAutoFit/>
          </a:bodyPr>
          <a:lstStyle/>
          <a:p>
            <a:pPr marL="12700" algn="l">
              <a:lnSpc>
                <a:spcPct val="100000"/>
              </a:lnSpc>
              <a:spcBef>
                <a:spcPts val="850"/>
              </a:spcBef>
              <a:buNone/>
              <a:defRPr>
                <a:latin typeface="Aptos"/>
                <a:ea typeface="Aptos"/>
                <a:cs typeface="Aptos"/>
              </a:defRPr>
            </a:pPr>
            <a:r>
              <a:rPr sz="2750" spc="-20">
                <a:latin typeface="Aptos"/>
                <a:ea typeface="Aptos"/>
                <a:cs typeface="Aptos"/>
              </a:rPr>
              <a:t>1996</a:t>
            </a:r>
            <a:endParaRPr sz="2750">
              <a:latin typeface="Aptos (Body)"/>
              <a:ea typeface="Aptos (Body)"/>
              <a:cs typeface="Aptos (Body)"/>
            </a:endParaRPr>
          </a:p>
          <a:p>
            <a:pPr marL="12700" algn="l">
              <a:lnSpc>
                <a:spcPct val="100000"/>
              </a:lnSpc>
              <a:spcBef>
                <a:spcPts val="755"/>
              </a:spcBef>
              <a:buNone/>
              <a:defRPr>
                <a:latin typeface="Aptos"/>
                <a:ea typeface="Aptos"/>
                <a:cs typeface="Aptos"/>
              </a:defRPr>
            </a:pPr>
            <a:r>
              <a:rPr sz="2750" spc="-40">
                <a:latin typeface="Aptos"/>
                <a:ea typeface="Aptos"/>
                <a:cs typeface="Aptos"/>
              </a:rPr>
              <a:t>Supports:</a:t>
            </a:r>
            <a:r>
              <a:rPr sz="2750" spc="180">
                <a:latin typeface="Aptos"/>
                <a:ea typeface="Aptos"/>
                <a:cs typeface="Aptos"/>
              </a:rPr>
              <a:t> </a:t>
            </a:r>
            <a:r>
              <a:rPr sz="2400">
                <a:latin typeface="Courier New"/>
                <a:ea typeface="Courier New"/>
                <a:cs typeface="Courier New"/>
              </a:rPr>
              <a:t>GET,</a:t>
            </a:r>
            <a:r>
              <a:rPr sz="2400" spc="-110">
                <a:latin typeface="Courier New"/>
                <a:ea typeface="Courier New"/>
                <a:cs typeface="Courier New"/>
              </a:rPr>
              <a:t> </a:t>
            </a:r>
            <a:r>
              <a:rPr sz="2400">
                <a:latin typeface="Courier New"/>
                <a:ea typeface="Courier New"/>
                <a:cs typeface="Courier New"/>
              </a:rPr>
              <a:t>HEAD,</a:t>
            </a:r>
            <a:r>
              <a:rPr sz="2400" spc="-110">
                <a:latin typeface="Courier New"/>
                <a:ea typeface="Courier New"/>
                <a:cs typeface="Courier New"/>
              </a:rPr>
              <a:t> </a:t>
            </a:r>
            <a:r>
              <a:rPr sz="2400" spc="-20">
                <a:latin typeface="Courier New"/>
                <a:ea typeface="Courier New"/>
                <a:cs typeface="Courier New"/>
              </a:rPr>
              <a:t>POST</a:t>
            </a:r>
            <a:endParaRPr sz="2400">
              <a:latin typeface="Courier New"/>
              <a:ea typeface="Courier New"/>
              <a:cs typeface="Courier New"/>
            </a:endParaRPr>
          </a:p>
          <a:p>
            <a:pPr marL="12700" algn="l">
              <a:lnSpc>
                <a:spcPct val="100000"/>
              </a:lnSpc>
              <a:spcBef>
                <a:spcPts val="755"/>
              </a:spcBef>
              <a:buNone/>
              <a:defRPr>
                <a:latin typeface="Aptos"/>
                <a:ea typeface="Aptos"/>
                <a:cs typeface="Aptos"/>
              </a:defRPr>
            </a:pPr>
            <a:r>
              <a:rPr sz="2750" spc="-10">
                <a:latin typeface="Aptos"/>
                <a:ea typeface="Aptos"/>
                <a:cs typeface="Aptos"/>
              </a:rPr>
              <a:t>Headers</a:t>
            </a:r>
            <a:endParaRPr sz="2750">
              <a:latin typeface="Aptos (Body)"/>
              <a:ea typeface="Aptos (Body)"/>
              <a:cs typeface="Aptos (Body)"/>
            </a:endParaRPr>
          </a:p>
          <a:p>
            <a:pPr marL="12700" algn="l">
              <a:lnSpc>
                <a:spcPct val="100000"/>
              </a:lnSpc>
              <a:spcBef>
                <a:spcPts val="680"/>
              </a:spcBef>
              <a:buNone/>
              <a:defRPr>
                <a:latin typeface="Aptos"/>
                <a:ea typeface="Aptos"/>
                <a:cs typeface="Aptos"/>
              </a:defRPr>
            </a:pPr>
            <a:r>
              <a:rPr sz="2750" spc="65">
                <a:latin typeface="Aptos"/>
                <a:ea typeface="Aptos"/>
                <a:cs typeface="Aptos"/>
              </a:rPr>
              <a:t>Not</a:t>
            </a:r>
            <a:r>
              <a:rPr sz="2750" spc="10">
                <a:latin typeface="Aptos"/>
                <a:ea typeface="Aptos"/>
                <a:cs typeface="Aptos"/>
              </a:rPr>
              <a:t> </a:t>
            </a:r>
            <a:r>
              <a:rPr sz="2750" spc="-70">
                <a:latin typeface="Aptos"/>
                <a:ea typeface="Aptos"/>
                <a:cs typeface="Aptos"/>
              </a:rPr>
              <a:t>limited</a:t>
            </a:r>
            <a:r>
              <a:rPr sz="2750" spc="70">
                <a:latin typeface="Aptos"/>
                <a:ea typeface="Aptos"/>
                <a:cs typeface="Aptos"/>
              </a:rPr>
              <a:t> </a:t>
            </a:r>
            <a:r>
              <a:rPr sz="2750">
                <a:latin typeface="Aptos"/>
                <a:ea typeface="Aptos"/>
                <a:cs typeface="Aptos"/>
              </a:rPr>
              <a:t>to</a:t>
            </a:r>
            <a:r>
              <a:rPr sz="2750" spc="-20">
                <a:latin typeface="Aptos"/>
                <a:ea typeface="Aptos"/>
                <a:cs typeface="Aptos"/>
              </a:rPr>
              <a:t> hypertext</a:t>
            </a:r>
            <a:r>
              <a:rPr sz="2750" spc="-40">
                <a:latin typeface="Aptos"/>
                <a:ea typeface="Aptos"/>
                <a:cs typeface="Aptos"/>
              </a:rPr>
              <a:t> </a:t>
            </a:r>
            <a:r>
              <a:rPr sz="2750" spc="-45">
                <a:latin typeface="Aptos"/>
                <a:ea typeface="Aptos"/>
                <a:cs typeface="Aptos"/>
              </a:rPr>
              <a:t>(css,</a:t>
            </a:r>
            <a:r>
              <a:rPr sz="2750" spc="80">
                <a:latin typeface="Aptos"/>
                <a:ea typeface="Aptos"/>
                <a:cs typeface="Aptos"/>
              </a:rPr>
              <a:t> </a:t>
            </a:r>
            <a:r>
              <a:rPr sz="2750" spc="-40">
                <a:latin typeface="Aptos"/>
                <a:ea typeface="Aptos"/>
                <a:cs typeface="Aptos"/>
              </a:rPr>
              <a:t>img</a:t>
            </a:r>
            <a:r>
              <a:rPr sz="2750" spc="10">
                <a:latin typeface="Aptos"/>
                <a:ea typeface="Aptos"/>
                <a:cs typeface="Aptos"/>
              </a:rPr>
              <a:t> </a:t>
            </a:r>
            <a:r>
              <a:rPr sz="2750" spc="335">
                <a:latin typeface="Aptos"/>
                <a:ea typeface="Aptos"/>
                <a:cs typeface="Aptos"/>
              </a:rPr>
              <a:t>…)</a:t>
            </a:r>
            <a:endParaRPr sz="2750">
              <a:latin typeface="Aptos (Body)"/>
              <a:ea typeface="Aptos (Body)"/>
              <a:cs typeface="Aptos (Body)"/>
            </a:endParaRPr>
          </a:p>
          <a:p>
            <a:pPr marL="12700" algn="l">
              <a:lnSpc>
                <a:spcPct val="100000"/>
              </a:lnSpc>
              <a:spcBef>
                <a:spcPts val="755"/>
              </a:spcBef>
              <a:buNone/>
              <a:defRPr>
                <a:latin typeface="Aptos"/>
                <a:ea typeface="Aptos"/>
                <a:cs typeface="Aptos"/>
              </a:defRPr>
            </a:pPr>
            <a:r>
              <a:rPr sz="2750" b="1">
                <a:latin typeface="Aptos"/>
                <a:ea typeface="Aptos"/>
                <a:cs typeface="Aptos"/>
              </a:rPr>
              <a:t>Connection</a:t>
            </a:r>
            <a:r>
              <a:rPr sz="2750" b="1" spc="-10">
                <a:latin typeface="Aptos"/>
                <a:ea typeface="Aptos"/>
                <a:cs typeface="Aptos"/>
              </a:rPr>
              <a:t> </a:t>
            </a:r>
            <a:r>
              <a:rPr sz="2750" b="1" spc="-25">
                <a:latin typeface="Aptos"/>
                <a:ea typeface="Aptos"/>
                <a:cs typeface="Aptos"/>
              </a:rPr>
              <a:t>closed</a:t>
            </a:r>
            <a:r>
              <a:rPr sz="2750" b="1" spc="-20">
                <a:latin typeface="Aptos"/>
                <a:ea typeface="Aptos"/>
                <a:cs typeface="Aptos"/>
              </a:rPr>
              <a:t> </a:t>
            </a:r>
            <a:r>
              <a:rPr sz="2750" b="1" spc="-45">
                <a:latin typeface="Aptos"/>
                <a:ea typeface="Aptos"/>
                <a:cs typeface="Aptos"/>
              </a:rPr>
              <a:t>after</a:t>
            </a:r>
            <a:r>
              <a:rPr sz="2750" b="1" spc="-25">
                <a:latin typeface="Aptos"/>
                <a:ea typeface="Aptos"/>
                <a:cs typeface="Aptos"/>
              </a:rPr>
              <a:t> </a:t>
            </a:r>
            <a:r>
              <a:rPr sz="2750" b="1" spc="-10">
                <a:latin typeface="Aptos"/>
                <a:ea typeface="Aptos"/>
                <a:cs typeface="Aptos"/>
              </a:rPr>
              <a:t>response</a:t>
            </a:r>
            <a:endParaRPr sz="2750" b="1">
              <a:latin typeface="Aptos (Body)"/>
              <a:ea typeface="Aptos (Body)"/>
              <a:cs typeface="Aptos (Body)"/>
            </a:endParaRPr>
          </a:p>
        </p:txBody>
      </p:sp>
      <p:pic>
        <p:nvPicPr>
          <p:cNvPr id="12" name="object 4"/>
          <p:cNvPicPr>
            <a:picLocks noChangeAspect="1"/>
          </p:cNvPicPr>
          <p:nvPr/>
        </p:nvPicPr>
        <p:blipFill>
          <a:blip r:embed="rId3"/>
          <a:stretch>
            <a:fillRect/>
          </a:stretch>
        </p:blipFill>
        <p:spPr>
          <a:xfrm>
            <a:off x="958850" y="1144048"/>
            <a:ext cx="2746223" cy="4887446"/>
          </a:xfrm>
          <a:prstGeom prst="rect">
            <a:avLst/>
          </a:prstGeom>
        </p:spPr>
      </p:pic>
      <p:sp>
        <p:nvSpPr>
          <p:cNvPr id="8" name="TextBox 7">
            <a:extLst>
              <a:ext uri="{FF2B5EF4-FFF2-40B4-BE49-F238E27FC236}">
                <a16:creationId xmlns:a16="http://schemas.microsoft.com/office/drawing/2014/main" id="{4A983E7D-8C88-4DE2-7C13-8D295E8FC2BC}"/>
              </a:ext>
            </a:extLst>
          </p:cNvPr>
          <p:cNvSpPr>
            <a:spLocks noGrp="1"/>
          </p:cNvSpPr>
          <p:nvPr/>
        </p:nvSpPr>
        <p:spPr>
          <a:xfrm>
            <a:off x="3995772" y="6110069"/>
            <a:ext cx="6780178" cy="338554"/>
          </a:xfrm>
          <a:prstGeom prst="rect">
            <a:avLst/>
          </a:prstGeom>
          <a:noFill/>
        </p:spPr>
        <p:txBody>
          <a:bodyPr wrap="square">
            <a:spAutoFit/>
          </a:bodyPr>
          <a:lstStyle/>
          <a:p>
            <a:pPr algn="l">
              <a:buNone/>
              <a:defRPr>
                <a:latin typeface="Aptos"/>
                <a:ea typeface="Aptos"/>
                <a:cs typeface="Aptos"/>
              </a:defRPr>
            </a:pPr>
            <a:r>
              <a:rPr sz="1600">
                <a:solidFill>
                  <a:schemeClr val="tx2"/>
                </a:solidFill>
                <a:latin typeface="Aptos"/>
                <a:ea typeface="Aptos"/>
                <a:cs typeface="Aptos"/>
                <a:hlinkClick r:id="rId4"/>
              </a:rPr>
              <a:t>https://medium.com/platform-engineer/evolution-of-http-69cfe6531ba0</a:t>
            </a:r>
            <a:endParaRPr sz="1600">
              <a:solidFill>
                <a:schemeClr val="tx2"/>
              </a:solidFill>
              <a:latin typeface="+mn-lt"/>
              <a:ea typeface="+mn-lt"/>
              <a:cs typeface="+mn-lt"/>
            </a:endParaRPr>
          </a:p>
        </p:txBody>
      </p:sp>
    </p:spTree>
    <p:extLst>
      <p:ext uri="{BB962C8B-B14F-4D97-AF65-F5344CB8AC3E}">
        <p14:creationId xmlns:p14="http://schemas.microsoft.com/office/powerpoint/2010/main" val="21914311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CCAA0-9BF2-4438-3729-BD175410D4A0}"/>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400">
                <a:latin typeface="Aptos Display"/>
                <a:ea typeface="Aptos Display"/>
                <a:cs typeface="Aptos Display"/>
              </a:rPr>
              <a:t>HTTP</a:t>
            </a:r>
            <a:r>
              <a:rPr spc="95">
                <a:latin typeface="Aptos Display"/>
                <a:ea typeface="Aptos Display"/>
                <a:cs typeface="Aptos Display"/>
              </a:rPr>
              <a:t> History</a:t>
            </a:r>
            <a:endParaRPr/>
          </a:p>
        </p:txBody>
      </p:sp>
      <p:sp>
        <p:nvSpPr>
          <p:cNvPr id="4" name="TextBox 3">
            <a:extLst>
              <a:ext uri="{FF2B5EF4-FFF2-40B4-BE49-F238E27FC236}">
                <a16:creationId xmlns:a16="http://schemas.microsoft.com/office/drawing/2014/main" id="{B0925CC3-B916-1C71-E190-767925FECFC8}"/>
              </a:ext>
            </a:extLst>
          </p:cNvPr>
          <p:cNvSpPr>
            <a:spLocks noGrp="1"/>
          </p:cNvSpPr>
          <p:nvPr/>
        </p:nvSpPr>
        <p:spPr>
          <a:xfrm>
            <a:off x="844550" y="2009114"/>
            <a:ext cx="2743200" cy="2246769"/>
          </a:xfrm>
          <a:prstGeom prst="rect">
            <a:avLst/>
          </a:prstGeom>
          <a:noFill/>
        </p:spPr>
        <p:txBody>
          <a:bodyPr wrap="square">
            <a:spAutoFit/>
          </a:bodyPr>
          <a:lstStyle/>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HTTP/0.9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HTTP/1.0 </a:t>
            </a:r>
          </a:p>
          <a:p>
            <a:pPr marL="266700" indent="-152400">
              <a:lnSpc>
                <a:spcPct val="108000"/>
              </a:lnSpc>
              <a:spcAft>
                <a:spcPts val="5"/>
              </a:spcAft>
              <a:buFont typeface="Wingdings"/>
              <a:buChar char="Ø"/>
              <a:defRPr>
                <a:latin typeface="Aptos"/>
                <a:ea typeface="Aptos"/>
                <a:cs typeface="Aptos"/>
              </a:defRPr>
            </a:pPr>
            <a:r>
              <a:rPr sz="2800" b="1">
                <a:latin typeface="Aptos"/>
                <a:ea typeface="Aptos"/>
                <a:cs typeface="Aptos"/>
              </a:rPr>
              <a:t>HTTP/1.1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HTTP/2</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HTTP/3</a:t>
            </a:r>
          </a:p>
        </p:txBody>
      </p:sp>
      <p:sp>
        <p:nvSpPr>
          <p:cNvPr id="9" name="object 4">
            <a:extLst>
              <a:ext uri="{FF2B5EF4-FFF2-40B4-BE49-F238E27FC236}">
                <a16:creationId xmlns:a16="http://schemas.microsoft.com/office/drawing/2014/main" id="{5F2E1F2C-FA8C-7DAF-8D8A-99317420DC24}"/>
              </a:ext>
            </a:extLst>
          </p:cNvPr>
          <p:cNvSpPr>
            <a:spLocks noGrp="1"/>
          </p:cNvSpPr>
          <p:nvPr/>
        </p:nvSpPr>
        <p:spPr>
          <a:xfrm>
            <a:off x="6204965" y="1935543"/>
            <a:ext cx="5059935" cy="2611997"/>
          </a:xfrm>
          <a:prstGeom prst="rect">
            <a:avLst/>
          </a:prstGeom>
        </p:spPr>
        <p:txBody>
          <a:bodyPr vert="horz" wrap="square" lIns="0" tIns="107950" rIns="0" bIns="0">
            <a:spAutoFit/>
          </a:bodyPr>
          <a:lstStyle/>
          <a:p>
            <a:pPr marL="12700" algn="l">
              <a:lnSpc>
                <a:spcPct val="100000"/>
              </a:lnSpc>
              <a:spcBef>
                <a:spcPts val="850"/>
              </a:spcBef>
              <a:buNone/>
              <a:defRPr>
                <a:latin typeface="Aptos"/>
                <a:ea typeface="Aptos"/>
                <a:cs typeface="Aptos"/>
              </a:defRPr>
            </a:pPr>
            <a:r>
              <a:rPr sz="2750" spc="-20">
                <a:latin typeface="Aptos"/>
                <a:ea typeface="Aptos"/>
                <a:cs typeface="Aptos"/>
              </a:rPr>
              <a:t>1999</a:t>
            </a:r>
            <a:endParaRPr sz="2750">
              <a:latin typeface="Aptos (Body)"/>
              <a:ea typeface="Aptos (Body)"/>
              <a:cs typeface="Aptos (Body)"/>
            </a:endParaRPr>
          </a:p>
          <a:p>
            <a:pPr marL="12700" marR="1590675" algn="l">
              <a:lnSpc>
                <a:spcPct val="122900"/>
              </a:lnSpc>
              <a:buNone/>
              <a:defRPr>
                <a:latin typeface="Aptos"/>
                <a:ea typeface="Aptos"/>
                <a:cs typeface="Aptos"/>
              </a:defRPr>
            </a:pPr>
            <a:r>
              <a:rPr sz="2750" spc="-40">
                <a:latin typeface="Aptos"/>
                <a:ea typeface="Aptos"/>
                <a:cs typeface="Aptos"/>
              </a:rPr>
              <a:t>Supports:</a:t>
            </a:r>
            <a:r>
              <a:rPr sz="2750" spc="15">
                <a:latin typeface="Aptos"/>
                <a:ea typeface="Aptos"/>
                <a:cs typeface="Aptos"/>
              </a:rPr>
              <a:t> </a:t>
            </a:r>
            <a:r>
              <a:rPr sz="2750" spc="-70">
                <a:latin typeface="Aptos"/>
                <a:ea typeface="Aptos"/>
                <a:cs typeface="Aptos"/>
              </a:rPr>
              <a:t>all</a:t>
            </a:r>
            <a:r>
              <a:rPr sz="2750" spc="-65">
                <a:latin typeface="Aptos"/>
                <a:ea typeface="Aptos"/>
                <a:cs typeface="Aptos"/>
              </a:rPr>
              <a:t> </a:t>
            </a:r>
            <a:r>
              <a:rPr sz="2750" spc="-80">
                <a:latin typeface="Aptos"/>
                <a:ea typeface="Aptos"/>
                <a:cs typeface="Aptos"/>
              </a:rPr>
              <a:t>methods </a:t>
            </a:r>
            <a:r>
              <a:rPr sz="2750" spc="-10">
                <a:latin typeface="Aptos"/>
                <a:ea typeface="Aptos"/>
                <a:cs typeface="Aptos"/>
              </a:rPr>
              <a:t>Headers</a:t>
            </a:r>
            <a:endParaRPr sz="2750">
              <a:latin typeface="Aptos (Body)"/>
              <a:ea typeface="Aptos (Body)"/>
              <a:cs typeface="Aptos (Body)"/>
            </a:endParaRPr>
          </a:p>
          <a:p>
            <a:pPr marL="12700" algn="l">
              <a:lnSpc>
                <a:spcPct val="100000"/>
              </a:lnSpc>
              <a:spcBef>
                <a:spcPts val="675"/>
              </a:spcBef>
              <a:buNone/>
              <a:defRPr>
                <a:latin typeface="Aptos"/>
                <a:ea typeface="Aptos"/>
                <a:cs typeface="Aptos"/>
              </a:defRPr>
            </a:pPr>
            <a:r>
              <a:rPr sz="2750" spc="65">
                <a:latin typeface="Aptos"/>
                <a:ea typeface="Aptos"/>
                <a:cs typeface="Aptos"/>
              </a:rPr>
              <a:t>Not</a:t>
            </a:r>
            <a:r>
              <a:rPr sz="2750" spc="30">
                <a:latin typeface="Aptos"/>
                <a:ea typeface="Aptos"/>
                <a:cs typeface="Aptos"/>
              </a:rPr>
              <a:t> </a:t>
            </a:r>
            <a:r>
              <a:rPr sz="2750" spc="-70">
                <a:latin typeface="Aptos"/>
                <a:ea typeface="Aptos"/>
                <a:cs typeface="Aptos"/>
              </a:rPr>
              <a:t>limited</a:t>
            </a:r>
            <a:r>
              <a:rPr sz="2750" spc="85">
                <a:latin typeface="Aptos"/>
                <a:ea typeface="Aptos"/>
                <a:cs typeface="Aptos"/>
              </a:rPr>
              <a:t> </a:t>
            </a:r>
            <a:r>
              <a:rPr sz="2750">
                <a:latin typeface="Aptos"/>
                <a:ea typeface="Aptos"/>
                <a:cs typeface="Aptos"/>
              </a:rPr>
              <a:t>to</a:t>
            </a:r>
            <a:r>
              <a:rPr sz="2750" spc="-5">
                <a:latin typeface="Aptos"/>
                <a:ea typeface="Aptos"/>
                <a:cs typeface="Aptos"/>
              </a:rPr>
              <a:t> </a:t>
            </a:r>
            <a:r>
              <a:rPr sz="2750" spc="-20">
                <a:latin typeface="Aptos"/>
                <a:ea typeface="Aptos"/>
                <a:cs typeface="Aptos"/>
              </a:rPr>
              <a:t>hypertext</a:t>
            </a:r>
            <a:r>
              <a:rPr sz="2750" spc="-25">
                <a:latin typeface="Aptos"/>
                <a:ea typeface="Aptos"/>
                <a:cs typeface="Aptos"/>
              </a:rPr>
              <a:t> </a:t>
            </a:r>
            <a:r>
              <a:rPr sz="2750">
                <a:latin typeface="Aptos"/>
                <a:ea typeface="Aptos"/>
                <a:cs typeface="Aptos"/>
              </a:rPr>
              <a:t>(css</a:t>
            </a:r>
            <a:r>
              <a:rPr sz="2750" spc="105">
                <a:latin typeface="Aptos"/>
                <a:ea typeface="Aptos"/>
                <a:cs typeface="Aptos"/>
              </a:rPr>
              <a:t> </a:t>
            </a:r>
            <a:r>
              <a:rPr sz="2750" spc="335">
                <a:latin typeface="Aptos"/>
                <a:ea typeface="Aptos"/>
                <a:cs typeface="Aptos"/>
              </a:rPr>
              <a:t>…)</a:t>
            </a:r>
            <a:endParaRPr sz="2750">
              <a:latin typeface="Aptos (Body)"/>
              <a:ea typeface="Aptos (Body)"/>
              <a:cs typeface="Aptos (Body)"/>
            </a:endParaRPr>
          </a:p>
          <a:p>
            <a:pPr marL="12700" algn="l">
              <a:lnSpc>
                <a:spcPct val="100000"/>
              </a:lnSpc>
              <a:spcBef>
                <a:spcPts val="755"/>
              </a:spcBef>
              <a:buNone/>
              <a:defRPr>
                <a:latin typeface="Aptos"/>
                <a:ea typeface="Aptos"/>
                <a:cs typeface="Aptos"/>
              </a:defRPr>
            </a:pPr>
            <a:r>
              <a:rPr sz="2750" b="1" spc="-10">
                <a:latin typeface="Aptos"/>
                <a:ea typeface="Aptos"/>
                <a:cs typeface="Aptos"/>
              </a:rPr>
              <a:t>Connection:</a:t>
            </a:r>
            <a:r>
              <a:rPr sz="2750" b="1" spc="-85">
                <a:latin typeface="Aptos"/>
                <a:ea typeface="Aptos"/>
                <a:cs typeface="Aptos"/>
              </a:rPr>
              <a:t> </a:t>
            </a:r>
            <a:r>
              <a:rPr sz="2750" b="1">
                <a:latin typeface="Aptos"/>
                <a:ea typeface="Aptos"/>
                <a:cs typeface="Aptos"/>
              </a:rPr>
              <a:t>long-</a:t>
            </a:r>
            <a:r>
              <a:rPr sz="2750" b="1" spc="-20">
                <a:latin typeface="Aptos"/>
                <a:ea typeface="Aptos"/>
                <a:cs typeface="Aptos"/>
              </a:rPr>
              <a:t>lived</a:t>
            </a:r>
            <a:endParaRPr sz="2750" b="1">
              <a:latin typeface="Aptos (Body)"/>
              <a:ea typeface="Aptos (Body)"/>
              <a:cs typeface="Aptos (Body)"/>
            </a:endParaRPr>
          </a:p>
        </p:txBody>
      </p:sp>
    </p:spTree>
    <p:extLst>
      <p:ext uri="{BB962C8B-B14F-4D97-AF65-F5344CB8AC3E}">
        <p14:creationId xmlns:p14="http://schemas.microsoft.com/office/powerpoint/2010/main" val="42409439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6C8E1-9846-BBC5-BC02-1F97C03FFB53}"/>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400">
                <a:latin typeface="Aptos Display"/>
                <a:ea typeface="Aptos Display"/>
                <a:cs typeface="Aptos Display"/>
              </a:rPr>
              <a:t>HTTP</a:t>
            </a:r>
            <a:r>
              <a:rPr spc="95">
                <a:latin typeface="Aptos Display"/>
                <a:ea typeface="Aptos Display"/>
                <a:cs typeface="Aptos Display"/>
              </a:rPr>
              <a:t> History</a:t>
            </a:r>
            <a:endParaRPr/>
          </a:p>
        </p:txBody>
      </p:sp>
      <p:sp>
        <p:nvSpPr>
          <p:cNvPr id="9" name="object 4">
            <a:extLst>
              <a:ext uri="{FF2B5EF4-FFF2-40B4-BE49-F238E27FC236}">
                <a16:creationId xmlns:a16="http://schemas.microsoft.com/office/drawing/2014/main" id="{C1F7BC23-D622-2955-98D0-197DBFA8446C}"/>
              </a:ext>
            </a:extLst>
          </p:cNvPr>
          <p:cNvSpPr>
            <a:spLocks noGrp="1"/>
          </p:cNvSpPr>
          <p:nvPr/>
        </p:nvSpPr>
        <p:spPr>
          <a:xfrm>
            <a:off x="6204965" y="1935543"/>
            <a:ext cx="5059935" cy="2611997"/>
          </a:xfrm>
          <a:prstGeom prst="rect">
            <a:avLst/>
          </a:prstGeom>
        </p:spPr>
        <p:txBody>
          <a:bodyPr vert="horz" wrap="square" lIns="0" tIns="107950" rIns="0" bIns="0">
            <a:spAutoFit/>
          </a:bodyPr>
          <a:lstStyle/>
          <a:p>
            <a:pPr marL="12700" algn="l">
              <a:lnSpc>
                <a:spcPct val="100000"/>
              </a:lnSpc>
              <a:spcBef>
                <a:spcPts val="850"/>
              </a:spcBef>
              <a:buNone/>
              <a:defRPr>
                <a:latin typeface="Aptos"/>
                <a:ea typeface="Aptos"/>
                <a:cs typeface="Aptos"/>
              </a:defRPr>
            </a:pPr>
            <a:r>
              <a:rPr sz="2750" spc="-20">
                <a:latin typeface="Aptos"/>
                <a:ea typeface="Aptos"/>
                <a:cs typeface="Aptos"/>
              </a:rPr>
              <a:t>1999</a:t>
            </a:r>
            <a:endParaRPr sz="2750">
              <a:latin typeface="Aptos (Body)"/>
              <a:ea typeface="Aptos (Body)"/>
              <a:cs typeface="Aptos (Body)"/>
            </a:endParaRPr>
          </a:p>
          <a:p>
            <a:pPr marL="12700" marR="1590675" algn="l">
              <a:lnSpc>
                <a:spcPct val="122900"/>
              </a:lnSpc>
              <a:buNone/>
              <a:defRPr>
                <a:latin typeface="Aptos"/>
                <a:ea typeface="Aptos"/>
                <a:cs typeface="Aptos"/>
              </a:defRPr>
            </a:pPr>
            <a:r>
              <a:rPr sz="2750" spc="-40">
                <a:latin typeface="Aptos"/>
                <a:ea typeface="Aptos"/>
                <a:cs typeface="Aptos"/>
              </a:rPr>
              <a:t>Supports:</a:t>
            </a:r>
            <a:r>
              <a:rPr sz="2750" spc="15">
                <a:latin typeface="Aptos"/>
                <a:ea typeface="Aptos"/>
                <a:cs typeface="Aptos"/>
              </a:rPr>
              <a:t> </a:t>
            </a:r>
            <a:r>
              <a:rPr sz="2750" spc="-70">
                <a:latin typeface="Aptos"/>
                <a:ea typeface="Aptos"/>
                <a:cs typeface="Aptos"/>
              </a:rPr>
              <a:t>all</a:t>
            </a:r>
            <a:r>
              <a:rPr sz="2750" spc="-65">
                <a:latin typeface="Aptos"/>
                <a:ea typeface="Aptos"/>
                <a:cs typeface="Aptos"/>
              </a:rPr>
              <a:t> </a:t>
            </a:r>
            <a:r>
              <a:rPr sz="2750" spc="-80">
                <a:latin typeface="Aptos"/>
                <a:ea typeface="Aptos"/>
                <a:cs typeface="Aptos"/>
              </a:rPr>
              <a:t>methods </a:t>
            </a:r>
            <a:r>
              <a:rPr sz="2750" spc="-10">
                <a:latin typeface="Aptos"/>
                <a:ea typeface="Aptos"/>
                <a:cs typeface="Aptos"/>
              </a:rPr>
              <a:t>Headers</a:t>
            </a:r>
            <a:endParaRPr sz="2750">
              <a:latin typeface="Aptos (Body)"/>
              <a:ea typeface="Aptos (Body)"/>
              <a:cs typeface="Aptos (Body)"/>
            </a:endParaRPr>
          </a:p>
          <a:p>
            <a:pPr marL="12700" algn="l">
              <a:lnSpc>
                <a:spcPct val="100000"/>
              </a:lnSpc>
              <a:spcBef>
                <a:spcPts val="675"/>
              </a:spcBef>
              <a:buNone/>
              <a:defRPr>
                <a:latin typeface="Aptos"/>
                <a:ea typeface="Aptos"/>
                <a:cs typeface="Aptos"/>
              </a:defRPr>
            </a:pPr>
            <a:r>
              <a:rPr sz="2750" spc="65">
                <a:latin typeface="Aptos"/>
                <a:ea typeface="Aptos"/>
                <a:cs typeface="Aptos"/>
              </a:rPr>
              <a:t>Not</a:t>
            </a:r>
            <a:r>
              <a:rPr sz="2750" spc="30">
                <a:latin typeface="Aptos"/>
                <a:ea typeface="Aptos"/>
                <a:cs typeface="Aptos"/>
              </a:rPr>
              <a:t> </a:t>
            </a:r>
            <a:r>
              <a:rPr sz="2750" spc="-70">
                <a:latin typeface="Aptos"/>
                <a:ea typeface="Aptos"/>
                <a:cs typeface="Aptos"/>
              </a:rPr>
              <a:t>limited</a:t>
            </a:r>
            <a:r>
              <a:rPr sz="2750" spc="85">
                <a:latin typeface="Aptos"/>
                <a:ea typeface="Aptos"/>
                <a:cs typeface="Aptos"/>
              </a:rPr>
              <a:t> </a:t>
            </a:r>
            <a:r>
              <a:rPr sz="2750">
                <a:latin typeface="Aptos"/>
                <a:ea typeface="Aptos"/>
                <a:cs typeface="Aptos"/>
              </a:rPr>
              <a:t>to</a:t>
            </a:r>
            <a:r>
              <a:rPr sz="2750" spc="-5">
                <a:latin typeface="Aptos"/>
                <a:ea typeface="Aptos"/>
                <a:cs typeface="Aptos"/>
              </a:rPr>
              <a:t> </a:t>
            </a:r>
            <a:r>
              <a:rPr sz="2750" spc="-20">
                <a:latin typeface="Aptos"/>
                <a:ea typeface="Aptos"/>
                <a:cs typeface="Aptos"/>
              </a:rPr>
              <a:t>hypertext</a:t>
            </a:r>
            <a:r>
              <a:rPr sz="2750" spc="-25">
                <a:latin typeface="Aptos"/>
                <a:ea typeface="Aptos"/>
                <a:cs typeface="Aptos"/>
              </a:rPr>
              <a:t> </a:t>
            </a:r>
            <a:r>
              <a:rPr sz="2750">
                <a:latin typeface="Aptos"/>
                <a:ea typeface="Aptos"/>
                <a:cs typeface="Aptos"/>
              </a:rPr>
              <a:t>(css</a:t>
            </a:r>
            <a:r>
              <a:rPr sz="2750" spc="105">
                <a:latin typeface="Aptos"/>
                <a:ea typeface="Aptos"/>
                <a:cs typeface="Aptos"/>
              </a:rPr>
              <a:t> </a:t>
            </a:r>
            <a:r>
              <a:rPr sz="2750" spc="335">
                <a:latin typeface="Aptos"/>
                <a:ea typeface="Aptos"/>
                <a:cs typeface="Aptos"/>
              </a:rPr>
              <a:t>…)</a:t>
            </a:r>
            <a:endParaRPr sz="2750">
              <a:latin typeface="Aptos (Body)"/>
              <a:ea typeface="Aptos (Body)"/>
              <a:cs typeface="Aptos (Body)"/>
            </a:endParaRPr>
          </a:p>
          <a:p>
            <a:pPr marL="12700" algn="l">
              <a:lnSpc>
                <a:spcPct val="100000"/>
              </a:lnSpc>
              <a:spcBef>
                <a:spcPts val="755"/>
              </a:spcBef>
              <a:buNone/>
              <a:defRPr>
                <a:latin typeface="Aptos"/>
                <a:ea typeface="Aptos"/>
                <a:cs typeface="Aptos"/>
              </a:defRPr>
            </a:pPr>
            <a:r>
              <a:rPr sz="2750" b="1" spc="-10">
                <a:latin typeface="Aptos"/>
                <a:ea typeface="Aptos"/>
                <a:cs typeface="Aptos"/>
              </a:rPr>
              <a:t>Connection:</a:t>
            </a:r>
            <a:r>
              <a:rPr sz="2750" b="1" spc="-85">
                <a:latin typeface="Aptos"/>
                <a:ea typeface="Aptos"/>
                <a:cs typeface="Aptos"/>
              </a:rPr>
              <a:t> </a:t>
            </a:r>
            <a:r>
              <a:rPr sz="2750" b="1">
                <a:latin typeface="Aptos"/>
                <a:ea typeface="Aptos"/>
                <a:cs typeface="Aptos"/>
              </a:rPr>
              <a:t>long-</a:t>
            </a:r>
            <a:r>
              <a:rPr sz="2750" b="1" spc="-20">
                <a:latin typeface="Aptos"/>
                <a:ea typeface="Aptos"/>
                <a:cs typeface="Aptos"/>
              </a:rPr>
              <a:t>lived</a:t>
            </a:r>
            <a:endParaRPr sz="2750" b="1">
              <a:latin typeface="Aptos (Body)"/>
              <a:ea typeface="Aptos (Body)"/>
              <a:cs typeface="Aptos (Body)"/>
            </a:endParaRPr>
          </a:p>
        </p:txBody>
      </p:sp>
      <p:pic>
        <p:nvPicPr>
          <p:cNvPr id="14" name="object 4"/>
          <p:cNvPicPr>
            <a:picLocks noChangeAspect="1"/>
          </p:cNvPicPr>
          <p:nvPr/>
        </p:nvPicPr>
        <p:blipFill>
          <a:blip r:embed="rId3"/>
          <a:stretch>
            <a:fillRect/>
          </a:stretch>
        </p:blipFill>
        <p:spPr>
          <a:xfrm>
            <a:off x="838828" y="1290946"/>
            <a:ext cx="2635075" cy="4620947"/>
          </a:xfrm>
          <a:prstGeom prst="rect">
            <a:avLst/>
          </a:prstGeom>
        </p:spPr>
      </p:pic>
      <p:sp>
        <p:nvSpPr>
          <p:cNvPr id="7" name="TextBox 6">
            <a:extLst>
              <a:ext uri="{FF2B5EF4-FFF2-40B4-BE49-F238E27FC236}">
                <a16:creationId xmlns:a16="http://schemas.microsoft.com/office/drawing/2014/main" id="{D7A3398B-6ACC-CBF5-E5B5-797AFCCD3035}"/>
              </a:ext>
            </a:extLst>
          </p:cNvPr>
          <p:cNvSpPr>
            <a:spLocks noGrp="1"/>
          </p:cNvSpPr>
          <p:nvPr/>
        </p:nvSpPr>
        <p:spPr>
          <a:xfrm>
            <a:off x="4921250" y="5339292"/>
            <a:ext cx="7504429" cy="515526"/>
          </a:xfrm>
          <a:prstGeom prst="rect">
            <a:avLst/>
          </a:prstGeom>
          <a:noFill/>
        </p:spPr>
        <p:txBody>
          <a:bodyPr wrap="square">
            <a:spAutoFit/>
          </a:bodyPr>
          <a:lstStyle/>
          <a:p>
            <a:pPr marL="12700" algn="l">
              <a:lnSpc>
                <a:spcPct val="100000"/>
              </a:lnSpc>
              <a:spcBef>
                <a:spcPts val="2110"/>
              </a:spcBef>
              <a:buNone/>
              <a:defRPr>
                <a:latin typeface="Aptos"/>
                <a:ea typeface="Aptos"/>
                <a:cs typeface="Aptos"/>
              </a:defRPr>
            </a:pPr>
            <a:r>
              <a:rPr sz="2750" spc="50">
                <a:solidFill>
                  <a:srgbClr val="C00000"/>
                </a:solidFill>
                <a:latin typeface="Aptos"/>
                <a:ea typeface="Aptos"/>
                <a:cs typeface="Aptos"/>
              </a:rPr>
              <a:t>Q:</a:t>
            </a:r>
            <a:r>
              <a:rPr sz="2750" spc="5">
                <a:solidFill>
                  <a:srgbClr val="C00000"/>
                </a:solidFill>
                <a:latin typeface="Aptos"/>
                <a:ea typeface="Aptos"/>
                <a:cs typeface="Aptos"/>
              </a:rPr>
              <a:t> </a:t>
            </a:r>
            <a:r>
              <a:rPr sz="2750" spc="60">
                <a:solidFill>
                  <a:srgbClr val="C00000"/>
                </a:solidFill>
                <a:latin typeface="Aptos"/>
                <a:ea typeface="Aptos"/>
                <a:cs typeface="Aptos"/>
              </a:rPr>
              <a:t>Why</a:t>
            </a:r>
            <a:r>
              <a:rPr sz="2750" spc="105">
                <a:solidFill>
                  <a:srgbClr val="C00000"/>
                </a:solidFill>
                <a:latin typeface="Aptos"/>
                <a:ea typeface="Aptos"/>
                <a:cs typeface="Aptos"/>
              </a:rPr>
              <a:t> </a:t>
            </a:r>
            <a:r>
              <a:rPr sz="2750" spc="-45">
                <a:solidFill>
                  <a:srgbClr val="C00000"/>
                </a:solidFill>
                <a:latin typeface="Aptos"/>
                <a:ea typeface="Aptos"/>
                <a:cs typeface="Aptos"/>
              </a:rPr>
              <a:t>this</a:t>
            </a:r>
            <a:r>
              <a:rPr sz="2750" spc="85">
                <a:solidFill>
                  <a:srgbClr val="C00000"/>
                </a:solidFill>
                <a:latin typeface="Aptos"/>
                <a:ea typeface="Aptos"/>
                <a:cs typeface="Aptos"/>
              </a:rPr>
              <a:t> </a:t>
            </a:r>
            <a:r>
              <a:rPr sz="2750">
                <a:solidFill>
                  <a:srgbClr val="C00000"/>
                </a:solidFill>
                <a:latin typeface="Aptos"/>
                <a:ea typeface="Aptos"/>
                <a:cs typeface="Aptos"/>
              </a:rPr>
              <a:t>is</a:t>
            </a:r>
            <a:r>
              <a:rPr sz="2750" spc="15">
                <a:solidFill>
                  <a:srgbClr val="C00000"/>
                </a:solidFill>
                <a:latin typeface="Aptos"/>
                <a:ea typeface="Aptos"/>
                <a:cs typeface="Aptos"/>
              </a:rPr>
              <a:t> </a:t>
            </a:r>
            <a:r>
              <a:rPr sz="2750" spc="-10">
                <a:solidFill>
                  <a:srgbClr val="C00000"/>
                </a:solidFill>
                <a:latin typeface="Aptos"/>
                <a:ea typeface="Aptos"/>
                <a:cs typeface="Aptos"/>
              </a:rPr>
              <a:t>important? (compare with 1.0)</a:t>
            </a:r>
            <a:endParaRPr sz="2750">
              <a:latin typeface="Aptos (Body)"/>
              <a:ea typeface="Aptos (Body)"/>
              <a:cs typeface="Aptos (Body)"/>
            </a:endParaRPr>
          </a:p>
        </p:txBody>
      </p:sp>
      <p:sp>
        <p:nvSpPr>
          <p:cNvPr id="10" name="TextBox 9">
            <a:extLst>
              <a:ext uri="{FF2B5EF4-FFF2-40B4-BE49-F238E27FC236}">
                <a16:creationId xmlns:a16="http://schemas.microsoft.com/office/drawing/2014/main" id="{928EDA48-7B33-BD29-B28C-19ADED3B6F42}"/>
              </a:ext>
            </a:extLst>
          </p:cNvPr>
          <p:cNvSpPr>
            <a:spLocks noGrp="1"/>
          </p:cNvSpPr>
          <p:nvPr/>
        </p:nvSpPr>
        <p:spPr>
          <a:xfrm>
            <a:off x="414372" y="6313269"/>
            <a:ext cx="7618378" cy="369332"/>
          </a:xfrm>
          <a:prstGeom prst="rect">
            <a:avLst/>
          </a:prstGeom>
          <a:noFill/>
        </p:spPr>
        <p:txBody>
          <a:bodyPr wrap="square">
            <a:spAutoFit/>
          </a:bodyPr>
          <a:lstStyle/>
          <a:p>
            <a:pPr algn="l">
              <a:buNone/>
              <a:defRPr>
                <a:latin typeface="Aptos"/>
                <a:ea typeface="Aptos"/>
                <a:cs typeface="Aptos"/>
              </a:defRPr>
            </a:pPr>
            <a:r>
              <a:rPr sz="1800">
                <a:solidFill>
                  <a:schemeClr val="tx2"/>
                </a:solidFill>
                <a:latin typeface="Aptos"/>
                <a:ea typeface="Aptos"/>
                <a:cs typeface="Aptos"/>
                <a:hlinkClick r:id="rId4"/>
              </a:rPr>
              <a:t>https://medium.com/platform-engineer/evolution-of-http-69cfe6531ba0</a:t>
            </a:r>
            <a:endParaRPr sz="1800">
              <a:solidFill>
                <a:schemeClr val="tx2"/>
              </a:solidFill>
              <a:latin typeface="+mn-lt"/>
              <a:ea typeface="+mn-lt"/>
              <a:cs typeface="+mn-lt"/>
            </a:endParaRPr>
          </a:p>
        </p:txBody>
      </p:sp>
    </p:spTree>
    <p:extLst>
      <p:ext uri="{BB962C8B-B14F-4D97-AF65-F5344CB8AC3E}">
        <p14:creationId xmlns:p14="http://schemas.microsoft.com/office/powerpoint/2010/main" val="16098470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053F9-A60F-3088-7D23-03AF04C83E9B}"/>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400">
                <a:latin typeface="Aptos Display"/>
                <a:ea typeface="Aptos Display"/>
                <a:cs typeface="Aptos Display"/>
              </a:rPr>
              <a:t>HTTP</a:t>
            </a:r>
            <a:r>
              <a:rPr spc="95">
                <a:latin typeface="Aptos Display"/>
                <a:ea typeface="Aptos Display"/>
                <a:cs typeface="Aptos Display"/>
              </a:rPr>
              <a:t> History</a:t>
            </a:r>
            <a:endParaRPr/>
          </a:p>
        </p:txBody>
      </p:sp>
      <p:sp>
        <p:nvSpPr>
          <p:cNvPr id="4" name="TextBox 3">
            <a:extLst>
              <a:ext uri="{FF2B5EF4-FFF2-40B4-BE49-F238E27FC236}">
                <a16:creationId xmlns:a16="http://schemas.microsoft.com/office/drawing/2014/main" id="{8086CEFF-EF1F-33CD-42E5-7B045E221CF3}"/>
              </a:ext>
            </a:extLst>
          </p:cNvPr>
          <p:cNvSpPr>
            <a:spLocks noGrp="1"/>
          </p:cNvSpPr>
          <p:nvPr/>
        </p:nvSpPr>
        <p:spPr>
          <a:xfrm>
            <a:off x="844550" y="2009114"/>
            <a:ext cx="2743200" cy="2246769"/>
          </a:xfrm>
          <a:prstGeom prst="rect">
            <a:avLst/>
          </a:prstGeom>
          <a:noFill/>
        </p:spPr>
        <p:txBody>
          <a:bodyPr wrap="square">
            <a:spAutoFit/>
          </a:bodyPr>
          <a:lstStyle/>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HTTP/0.9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HTTP/1.0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HTTP/1.1 </a:t>
            </a:r>
          </a:p>
          <a:p>
            <a:pPr marL="266700" indent="-152400">
              <a:lnSpc>
                <a:spcPct val="108000"/>
              </a:lnSpc>
              <a:spcAft>
                <a:spcPts val="5"/>
              </a:spcAft>
              <a:buFont typeface="Wingdings"/>
              <a:buChar char="Ø"/>
              <a:defRPr>
                <a:latin typeface="Aptos"/>
                <a:ea typeface="Aptos"/>
                <a:cs typeface="Aptos"/>
              </a:defRPr>
            </a:pPr>
            <a:r>
              <a:rPr sz="2800" b="1">
                <a:latin typeface="Aptos"/>
                <a:ea typeface="Aptos"/>
                <a:cs typeface="Aptos"/>
              </a:rPr>
              <a:t>HTTP/2</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HTTP/3</a:t>
            </a:r>
          </a:p>
        </p:txBody>
      </p:sp>
      <p:sp>
        <p:nvSpPr>
          <p:cNvPr id="5" name="object 4">
            <a:extLst>
              <a:ext uri="{FF2B5EF4-FFF2-40B4-BE49-F238E27FC236}">
                <a16:creationId xmlns:a16="http://schemas.microsoft.com/office/drawing/2014/main" id="{44BF1A1F-C0CA-65DC-684E-DF441B101520}"/>
              </a:ext>
            </a:extLst>
          </p:cNvPr>
          <p:cNvSpPr>
            <a:spLocks noGrp="1"/>
          </p:cNvSpPr>
          <p:nvPr/>
        </p:nvSpPr>
        <p:spPr>
          <a:xfrm>
            <a:off x="6255764" y="2179433"/>
            <a:ext cx="4628135" cy="2086212"/>
          </a:xfrm>
          <a:prstGeom prst="rect">
            <a:avLst/>
          </a:prstGeom>
        </p:spPr>
        <p:txBody>
          <a:bodyPr vert="horz" wrap="square" lIns="0" tIns="107950" rIns="0" bIns="0">
            <a:spAutoFit/>
          </a:bodyPr>
          <a:lstStyle/>
          <a:p>
            <a:pPr marL="12700">
              <a:lnSpc>
                <a:spcPct val="100000"/>
              </a:lnSpc>
              <a:spcBef>
                <a:spcPts val="850"/>
              </a:spcBef>
              <a:buNone/>
              <a:defRPr>
                <a:latin typeface="Aptos"/>
                <a:ea typeface="Aptos"/>
                <a:cs typeface="Aptos"/>
              </a:defRPr>
            </a:pPr>
            <a:r>
              <a:rPr sz="2750" spc="-20">
                <a:latin typeface="Aptos"/>
                <a:ea typeface="Aptos"/>
                <a:cs typeface="Aptos"/>
              </a:rPr>
              <a:t>2015</a:t>
            </a:r>
            <a:endParaRPr sz="2750">
              <a:latin typeface="Aptos (Body)"/>
              <a:ea typeface="Aptos (Body)"/>
              <a:cs typeface="Aptos (Body)"/>
            </a:endParaRPr>
          </a:p>
          <a:p>
            <a:pPr marL="12700" marR="828675">
              <a:lnSpc>
                <a:spcPct val="122900"/>
              </a:lnSpc>
              <a:buNone/>
              <a:defRPr>
                <a:latin typeface="Aptos"/>
                <a:ea typeface="Aptos"/>
                <a:cs typeface="Aptos"/>
              </a:defRPr>
            </a:pPr>
            <a:r>
              <a:rPr sz="2750">
                <a:latin typeface="Aptos"/>
                <a:ea typeface="Aptos"/>
                <a:cs typeface="Aptos"/>
              </a:rPr>
              <a:t>All</a:t>
            </a:r>
            <a:r>
              <a:rPr sz="2750" spc="10">
                <a:latin typeface="Aptos"/>
                <a:ea typeface="Aptos"/>
                <a:cs typeface="Aptos"/>
              </a:rPr>
              <a:t> </a:t>
            </a:r>
            <a:r>
              <a:rPr sz="2750" spc="-45">
                <a:latin typeface="Aptos"/>
                <a:ea typeface="Aptos"/>
                <a:cs typeface="Aptos"/>
              </a:rPr>
              <a:t>previous</a:t>
            </a:r>
            <a:r>
              <a:rPr sz="2750" spc="55">
                <a:latin typeface="Aptos"/>
                <a:ea typeface="Aptos"/>
                <a:cs typeface="Aptos"/>
              </a:rPr>
              <a:t> </a:t>
            </a:r>
            <a:r>
              <a:rPr sz="2750" spc="-10">
                <a:latin typeface="Aptos"/>
                <a:ea typeface="Aptos"/>
                <a:cs typeface="Aptos"/>
              </a:rPr>
              <a:t>HTTP/1.1 </a:t>
            </a:r>
            <a:r>
              <a:rPr sz="2750" spc="-30">
                <a:latin typeface="Aptos"/>
                <a:ea typeface="Aptos"/>
                <a:cs typeface="Aptos"/>
              </a:rPr>
              <a:t>Reduce</a:t>
            </a:r>
            <a:r>
              <a:rPr sz="2750" spc="-15">
                <a:latin typeface="Aptos"/>
                <a:ea typeface="Aptos"/>
                <a:cs typeface="Aptos"/>
              </a:rPr>
              <a:t> </a:t>
            </a:r>
            <a:r>
              <a:rPr sz="2750" spc="-10">
                <a:latin typeface="Aptos"/>
                <a:ea typeface="Aptos"/>
                <a:cs typeface="Aptos"/>
              </a:rPr>
              <a:t>latency</a:t>
            </a:r>
            <a:endParaRPr sz="2750">
              <a:latin typeface="Aptos (Body)"/>
              <a:ea typeface="Aptos (Body)"/>
              <a:cs typeface="Aptos (Body)"/>
            </a:endParaRPr>
          </a:p>
          <a:p>
            <a:pPr marL="12700">
              <a:lnSpc>
                <a:spcPct val="100000"/>
              </a:lnSpc>
              <a:spcBef>
                <a:spcPts val="675"/>
              </a:spcBef>
              <a:buNone/>
              <a:defRPr>
                <a:latin typeface="Aptos"/>
                <a:ea typeface="Aptos"/>
                <a:cs typeface="Aptos"/>
              </a:defRPr>
            </a:pPr>
            <a:r>
              <a:rPr sz="2750">
                <a:latin typeface="Aptos"/>
                <a:ea typeface="Aptos"/>
                <a:cs typeface="Aptos"/>
              </a:rPr>
              <a:t>Support</a:t>
            </a:r>
            <a:r>
              <a:rPr sz="2750" spc="-15">
                <a:latin typeface="Aptos"/>
                <a:ea typeface="Aptos"/>
                <a:cs typeface="Aptos"/>
              </a:rPr>
              <a:t> </a:t>
            </a:r>
            <a:r>
              <a:rPr sz="2750">
                <a:latin typeface="Aptos"/>
                <a:ea typeface="Aptos"/>
                <a:cs typeface="Aptos"/>
              </a:rPr>
              <a:t>for</a:t>
            </a:r>
            <a:r>
              <a:rPr sz="2750" spc="-15">
                <a:latin typeface="Aptos"/>
                <a:ea typeface="Aptos"/>
                <a:cs typeface="Aptos"/>
              </a:rPr>
              <a:t> </a:t>
            </a:r>
            <a:r>
              <a:rPr sz="2750">
                <a:latin typeface="Aptos"/>
                <a:ea typeface="Aptos"/>
                <a:cs typeface="Aptos"/>
              </a:rPr>
              <a:t>other</a:t>
            </a:r>
            <a:r>
              <a:rPr sz="2750" spc="45">
                <a:latin typeface="Aptos"/>
                <a:ea typeface="Aptos"/>
                <a:cs typeface="Aptos"/>
              </a:rPr>
              <a:t> </a:t>
            </a:r>
            <a:r>
              <a:rPr sz="2750" spc="-30">
                <a:latin typeface="Aptos"/>
                <a:ea typeface="Aptos"/>
                <a:cs typeface="Aptos"/>
              </a:rPr>
              <a:t>protocols</a:t>
            </a:r>
            <a:endParaRPr sz="2750">
              <a:latin typeface="Aptos (Body)"/>
              <a:ea typeface="Aptos (Body)"/>
              <a:cs typeface="Aptos (Body)"/>
            </a:endParaRPr>
          </a:p>
        </p:txBody>
      </p:sp>
    </p:spTree>
    <p:extLst>
      <p:ext uri="{BB962C8B-B14F-4D97-AF65-F5344CB8AC3E}">
        <p14:creationId xmlns:p14="http://schemas.microsoft.com/office/powerpoint/2010/main" val="15579913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C9F13-972F-99D5-0F23-89AE300578A0}"/>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400">
                <a:latin typeface="Aptos Display"/>
                <a:ea typeface="Aptos Display"/>
                <a:cs typeface="Aptos Display"/>
              </a:rPr>
              <a:t>HTTP</a:t>
            </a:r>
            <a:r>
              <a:rPr spc="95">
                <a:latin typeface="Aptos Display"/>
                <a:ea typeface="Aptos Display"/>
                <a:cs typeface="Aptos Display"/>
              </a:rPr>
              <a:t> History</a:t>
            </a:r>
            <a:endParaRPr/>
          </a:p>
        </p:txBody>
      </p:sp>
      <p:sp>
        <p:nvSpPr>
          <p:cNvPr id="4" name="TextBox 3">
            <a:extLst>
              <a:ext uri="{FF2B5EF4-FFF2-40B4-BE49-F238E27FC236}">
                <a16:creationId xmlns:a16="http://schemas.microsoft.com/office/drawing/2014/main" id="{B2A8631D-D621-A466-EE86-81FDD5EE8ECC}"/>
              </a:ext>
            </a:extLst>
          </p:cNvPr>
          <p:cNvSpPr>
            <a:spLocks noGrp="1"/>
          </p:cNvSpPr>
          <p:nvPr/>
        </p:nvSpPr>
        <p:spPr>
          <a:xfrm>
            <a:off x="844550" y="2009114"/>
            <a:ext cx="2743200" cy="2246769"/>
          </a:xfrm>
          <a:prstGeom prst="rect">
            <a:avLst/>
          </a:prstGeom>
          <a:noFill/>
        </p:spPr>
        <p:txBody>
          <a:bodyPr wrap="square">
            <a:spAutoFit/>
          </a:bodyPr>
          <a:lstStyle/>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HTTP/0.9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HTTP/1.0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HTTP/1.1 </a:t>
            </a:r>
          </a:p>
          <a:p>
            <a:pPr marL="266700" indent="-152400">
              <a:lnSpc>
                <a:spcPct val="108000"/>
              </a:lnSpc>
              <a:spcAft>
                <a:spcPts val="5"/>
              </a:spcAft>
              <a:buFont typeface="Wingdings"/>
              <a:buChar char="Ø"/>
              <a:defRPr>
                <a:latin typeface="Aptos"/>
                <a:ea typeface="Aptos"/>
                <a:cs typeface="Aptos"/>
              </a:defRPr>
            </a:pPr>
            <a:r>
              <a:rPr sz="2800">
                <a:latin typeface="Aptos"/>
                <a:ea typeface="Aptos"/>
                <a:cs typeface="Aptos"/>
              </a:rPr>
              <a:t>HTTP/2</a:t>
            </a:r>
          </a:p>
          <a:p>
            <a:pPr marL="266700" indent="-152400">
              <a:lnSpc>
                <a:spcPct val="108000"/>
              </a:lnSpc>
              <a:spcAft>
                <a:spcPts val="5"/>
              </a:spcAft>
              <a:buFont typeface="Wingdings"/>
              <a:buChar char="Ø"/>
              <a:defRPr>
                <a:latin typeface="Aptos"/>
                <a:ea typeface="Aptos"/>
                <a:cs typeface="Aptos"/>
              </a:defRPr>
            </a:pPr>
            <a:r>
              <a:rPr sz="2800" b="1">
                <a:latin typeface="Aptos"/>
                <a:ea typeface="Aptos"/>
                <a:cs typeface="Aptos"/>
              </a:rPr>
              <a:t>HTTP/3</a:t>
            </a:r>
          </a:p>
        </p:txBody>
      </p:sp>
      <p:sp>
        <p:nvSpPr>
          <p:cNvPr id="5" name="object 4">
            <a:extLst>
              <a:ext uri="{FF2B5EF4-FFF2-40B4-BE49-F238E27FC236}">
                <a16:creationId xmlns:a16="http://schemas.microsoft.com/office/drawing/2014/main" id="{CCC07F11-0BC1-64B3-FE68-2AE8B2DA0C2A}"/>
              </a:ext>
            </a:extLst>
          </p:cNvPr>
          <p:cNvSpPr>
            <a:spLocks noGrp="1"/>
          </p:cNvSpPr>
          <p:nvPr/>
        </p:nvSpPr>
        <p:spPr>
          <a:xfrm>
            <a:off x="6255764" y="2179433"/>
            <a:ext cx="4628135" cy="2608663"/>
          </a:xfrm>
          <a:prstGeom prst="rect">
            <a:avLst/>
          </a:prstGeom>
        </p:spPr>
        <p:txBody>
          <a:bodyPr vert="horz" wrap="square" lIns="0" tIns="107950" rIns="0" bIns="0">
            <a:spAutoFit/>
          </a:bodyPr>
          <a:lstStyle/>
          <a:p>
            <a:pPr marL="12700">
              <a:lnSpc>
                <a:spcPct val="100000"/>
              </a:lnSpc>
              <a:spcBef>
                <a:spcPts val="850"/>
              </a:spcBef>
              <a:buNone/>
              <a:defRPr>
                <a:latin typeface="Aptos"/>
                <a:ea typeface="Aptos"/>
                <a:cs typeface="Aptos"/>
              </a:defRPr>
            </a:pPr>
            <a:r>
              <a:rPr sz="2750" spc="-20">
                <a:latin typeface="Aptos"/>
                <a:ea typeface="Aptos"/>
                <a:cs typeface="Aptos"/>
              </a:rPr>
              <a:t>2021</a:t>
            </a:r>
            <a:endParaRPr sz="2750">
              <a:latin typeface="Aptos (Body)"/>
              <a:ea typeface="Aptos (Body)"/>
              <a:cs typeface="Aptos (Body)"/>
            </a:endParaRPr>
          </a:p>
          <a:p>
            <a:pPr marL="12700" marR="828675">
              <a:lnSpc>
                <a:spcPct val="122900"/>
              </a:lnSpc>
              <a:buNone/>
              <a:defRPr>
                <a:latin typeface="Aptos"/>
                <a:ea typeface="Aptos"/>
                <a:cs typeface="Aptos"/>
              </a:defRPr>
            </a:pPr>
            <a:r>
              <a:rPr sz="2750" spc="210">
                <a:latin typeface="Aptos"/>
                <a:ea typeface="Aptos"/>
                <a:cs typeface="Aptos"/>
              </a:rPr>
              <a:t>QUIC</a:t>
            </a:r>
            <a:r>
              <a:rPr sz="2750" spc="35">
                <a:latin typeface="Aptos"/>
                <a:ea typeface="Aptos"/>
                <a:cs typeface="Aptos"/>
              </a:rPr>
              <a:t> </a:t>
            </a:r>
            <a:r>
              <a:rPr sz="2750" spc="-85">
                <a:latin typeface="Aptos"/>
                <a:ea typeface="Aptos"/>
                <a:cs typeface="Aptos"/>
              </a:rPr>
              <a:t>instead</a:t>
            </a:r>
            <a:r>
              <a:rPr sz="2750" spc="55">
                <a:latin typeface="Aptos"/>
                <a:ea typeface="Aptos"/>
                <a:cs typeface="Aptos"/>
              </a:rPr>
              <a:t> </a:t>
            </a:r>
            <a:r>
              <a:rPr sz="2750">
                <a:latin typeface="Aptos"/>
                <a:ea typeface="Aptos"/>
                <a:cs typeface="Aptos"/>
              </a:rPr>
              <a:t>of</a:t>
            </a:r>
            <a:r>
              <a:rPr sz="2750" spc="100">
                <a:latin typeface="Aptos"/>
                <a:ea typeface="Aptos"/>
                <a:cs typeface="Aptos"/>
              </a:rPr>
              <a:t> </a:t>
            </a:r>
            <a:r>
              <a:rPr sz="2750" spc="150">
                <a:latin typeface="Aptos"/>
                <a:ea typeface="Aptos"/>
                <a:cs typeface="Aptos"/>
              </a:rPr>
              <a:t>TCP</a:t>
            </a:r>
            <a:endParaRPr sz="2750" spc="150">
              <a:latin typeface="Aptos (Body)"/>
              <a:ea typeface="Aptos (Body)"/>
              <a:cs typeface="Aptos (Body)"/>
            </a:endParaRPr>
          </a:p>
          <a:p>
            <a:pPr marL="12700" marR="828675">
              <a:lnSpc>
                <a:spcPct val="122900"/>
              </a:lnSpc>
              <a:buNone/>
              <a:defRPr>
                <a:latin typeface="Aptos"/>
                <a:ea typeface="Aptos"/>
                <a:cs typeface="Aptos"/>
              </a:defRPr>
            </a:pPr>
            <a:r>
              <a:rPr sz="2800">
                <a:latin typeface="Aptos"/>
                <a:ea typeface="Aptos"/>
                <a:cs typeface="Aptos"/>
              </a:rPr>
              <a:t>+Faster </a:t>
            </a:r>
          </a:p>
          <a:p>
            <a:pPr marL="12700" marR="828675">
              <a:lnSpc>
                <a:spcPct val="122900"/>
              </a:lnSpc>
              <a:buNone/>
              <a:defRPr>
                <a:latin typeface="Aptos"/>
                <a:ea typeface="Aptos"/>
                <a:cs typeface="Aptos"/>
              </a:defRPr>
            </a:pPr>
            <a:r>
              <a:rPr sz="2800">
                <a:latin typeface="Aptos"/>
                <a:ea typeface="Aptos"/>
                <a:cs typeface="Aptos"/>
              </a:rPr>
              <a:t>+Reliable </a:t>
            </a:r>
          </a:p>
          <a:p>
            <a:pPr marL="12700" marR="828675">
              <a:lnSpc>
                <a:spcPct val="122900"/>
              </a:lnSpc>
              <a:buNone/>
              <a:defRPr>
                <a:latin typeface="Aptos"/>
                <a:ea typeface="Aptos"/>
                <a:cs typeface="Aptos"/>
              </a:defRPr>
            </a:pPr>
            <a:r>
              <a:rPr sz="2800">
                <a:latin typeface="Aptos"/>
                <a:ea typeface="Aptos"/>
                <a:cs typeface="Aptos"/>
              </a:rPr>
              <a:t>+Secure</a:t>
            </a:r>
            <a:endParaRPr sz="2750">
              <a:latin typeface="Calibri"/>
              <a:ea typeface="Calibri"/>
              <a:cs typeface="Calibri"/>
            </a:endParaRPr>
          </a:p>
        </p:txBody>
      </p:sp>
    </p:spTree>
    <p:extLst>
      <p:ext uri="{BB962C8B-B14F-4D97-AF65-F5344CB8AC3E}">
        <p14:creationId xmlns:p14="http://schemas.microsoft.com/office/powerpoint/2010/main" val="31894194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33892-3A23-0932-7858-BDE921E62DBE}"/>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400">
                <a:latin typeface="Aptos Display"/>
                <a:ea typeface="Aptos Display"/>
                <a:cs typeface="Aptos Display"/>
              </a:rPr>
              <a:t>HTTP/3: QUIC</a:t>
            </a:r>
            <a:endParaRPr/>
          </a:p>
        </p:txBody>
      </p:sp>
      <p:sp>
        <p:nvSpPr>
          <p:cNvPr id="7" name="TextBox 6">
            <a:extLst>
              <a:ext uri="{FF2B5EF4-FFF2-40B4-BE49-F238E27FC236}">
                <a16:creationId xmlns:a16="http://schemas.microsoft.com/office/drawing/2014/main" id="{E999E62B-16FA-0617-D696-204BD6B00866}"/>
              </a:ext>
            </a:extLst>
          </p:cNvPr>
          <p:cNvSpPr>
            <a:spLocks noGrp="1"/>
          </p:cNvSpPr>
          <p:nvPr/>
        </p:nvSpPr>
        <p:spPr>
          <a:xfrm>
            <a:off x="1181100" y="1552486"/>
            <a:ext cx="9474200" cy="1815882"/>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Always TLS, always secure (more in Security lecture)</a:t>
            </a:r>
          </a:p>
          <a:p>
            <a:pPr algn="l">
              <a:buNone/>
              <a:defRPr>
                <a:latin typeface="Aptos"/>
                <a:ea typeface="Aptos"/>
                <a:cs typeface="Aptos"/>
              </a:defRPr>
            </a:pPr>
            <a:r>
              <a:rPr sz="2800">
                <a:latin typeface="Aptos"/>
                <a:ea typeface="Aptos"/>
                <a:cs typeface="Aptos"/>
              </a:rPr>
              <a:t>Reliability over UDP</a:t>
            </a:r>
          </a:p>
          <a:p>
            <a:pPr algn="l">
              <a:buNone/>
              <a:defRPr>
                <a:latin typeface="Aptos"/>
                <a:ea typeface="Aptos"/>
                <a:cs typeface="Aptos"/>
              </a:defRPr>
            </a:pPr>
            <a:r>
              <a:rPr sz="2800">
                <a:latin typeface="Aptos"/>
                <a:ea typeface="Aptos"/>
                <a:cs typeface="Aptos"/>
              </a:rPr>
              <a:t>Connection ID: changes in IP do not interrupt connection</a:t>
            </a:r>
          </a:p>
          <a:p>
            <a:pPr algn="l">
              <a:buNone/>
              <a:defRPr>
                <a:latin typeface="Aptos"/>
                <a:ea typeface="Aptos"/>
                <a:cs typeface="Aptos"/>
              </a:defRPr>
            </a:pPr>
            <a:r>
              <a:rPr sz="2800">
                <a:latin typeface="Aptos"/>
                <a:ea typeface="Aptos"/>
                <a:cs typeface="Aptos"/>
              </a:rPr>
              <a:t>Multiple data streams</a:t>
            </a:r>
          </a:p>
        </p:txBody>
      </p:sp>
    </p:spTree>
    <p:extLst>
      <p:ext uri="{BB962C8B-B14F-4D97-AF65-F5344CB8AC3E}">
        <p14:creationId xmlns:p14="http://schemas.microsoft.com/office/powerpoint/2010/main" val="11356251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A86F7-8675-522C-84AB-FE4CFAAF931E}"/>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400" dirty="0">
                <a:latin typeface="Aptos Display"/>
                <a:ea typeface="Aptos Display"/>
                <a:cs typeface="Aptos Display"/>
              </a:rPr>
              <a:t>HTTP/3: Multiple streams</a:t>
            </a:r>
            <a:endParaRPr dirty="0"/>
          </a:p>
        </p:txBody>
      </p:sp>
      <p:pic>
        <p:nvPicPr>
          <p:cNvPr id="5" name="Picture 3"/>
          <p:cNvPicPr>
            <a:picLocks noChangeAspect="1"/>
          </p:cNvPicPr>
          <p:nvPr/>
        </p:nvPicPr>
        <p:blipFill>
          <a:blip r:embed="rId3"/>
          <a:stretch>
            <a:fillRect/>
          </a:stretch>
        </p:blipFill>
        <p:spPr>
          <a:xfrm>
            <a:off x="0" y="886244"/>
            <a:ext cx="12192000" cy="5085512"/>
          </a:xfrm>
          <a:prstGeom prst="rect">
            <a:avLst/>
          </a:prstGeom>
        </p:spPr>
      </p:pic>
    </p:spTree>
    <p:extLst>
      <p:ext uri="{BB962C8B-B14F-4D97-AF65-F5344CB8AC3E}">
        <p14:creationId xmlns:p14="http://schemas.microsoft.com/office/powerpoint/2010/main" val="42082184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 name="Rectangle 226">
            <a:extLst>
              <a:ext uri="{FF2B5EF4-FFF2-40B4-BE49-F238E27FC236}">
                <a16:creationId xmlns:a16="http://schemas.microsoft.com/office/drawing/2014/main" id="{60E75970-780A-3480-126E-726689D45455}"/>
              </a:ext>
            </a:extLst>
          </p:cNvPr>
          <p:cNvSpPr>
            <a:spLocks noGrp="1"/>
          </p:cNvSpPr>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2" name="Title 1">
            <a:extLst>
              <a:ext uri="{FF2B5EF4-FFF2-40B4-BE49-F238E27FC236}">
                <a16:creationId xmlns:a16="http://schemas.microsoft.com/office/drawing/2014/main" id="{41DE21BB-FFDE-0F58-5153-4EDA2E806142}"/>
              </a:ext>
            </a:extLst>
          </p:cNvPr>
          <p:cNvSpPr>
            <a:spLocks noGrp="1"/>
          </p:cNvSpPr>
          <p:nvPr>
            <p:ph type="title"/>
          </p:nvPr>
        </p:nvSpPr>
        <p:spPr>
          <a:xfrm>
            <a:off x="1215865" y="2432109"/>
            <a:ext cx="9302496" cy="2193482"/>
          </a:xfrm>
        </p:spPr>
        <p:txBody>
          <a:bodyPr vert="horz" lIns="91440" tIns="45720" rIns="91440" bIns="45720" anchor="ctr">
            <a:normAutofit/>
          </a:bodyPr>
          <a:lstStyle/>
          <a:p>
            <a:pPr algn="ctr">
              <a:buNone/>
              <a:defRPr>
                <a:latin typeface="Aptos Display"/>
                <a:ea typeface="Aptos Display"/>
                <a:cs typeface="Aptos Display"/>
              </a:defRPr>
            </a:pPr>
            <a:r>
              <a:rPr sz="8800">
                <a:solidFill>
                  <a:schemeClr val="bg1"/>
                </a:solidFill>
                <a:latin typeface="Aptos Display"/>
                <a:ea typeface="Aptos Display"/>
                <a:cs typeface="Aptos Display"/>
              </a:rPr>
              <a:t>CURD</a:t>
            </a:r>
            <a:endParaRPr sz="8800" kern="1200">
              <a:solidFill>
                <a:schemeClr val="bg1"/>
              </a:solidFill>
              <a:latin typeface="+mj-lt"/>
              <a:ea typeface="+mj-lt"/>
              <a:cs typeface="+mj-lt"/>
            </a:endParaRPr>
          </a:p>
        </p:txBody>
      </p:sp>
      <p:sp>
        <p:nvSpPr>
          <p:cNvPr id="228" name="Rectangle 227">
            <a:extLst>
              <a:ext uri="{FF2B5EF4-FFF2-40B4-BE49-F238E27FC236}">
                <a16:creationId xmlns:a16="http://schemas.microsoft.com/office/drawing/2014/main" id="{F1461973-A3BE-2958-448D-67411DE7CC3E}"/>
              </a:ext>
            </a:extLst>
          </p:cNvPr>
          <p:cNvSpPr>
            <a:spLocks noGrp="1"/>
          </p:cNvSpPr>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9" name="Straight Connector 228">
            <a:extLst>
              <a:ext uri="{FF2B5EF4-FFF2-40B4-BE49-F238E27FC236}">
                <a16:creationId xmlns:a16="http://schemas.microsoft.com/office/drawing/2014/main" id="{D1ACE5BC-F3A6-452D-82F1-E5DE8492561D}"/>
              </a:ext>
            </a:extLst>
          </p:cNvPr>
          <p:cNvSpPr>
            <a:spLocks noGrp="1"/>
          </p:cNvSpPr>
          <p:nvPr/>
        </p:nv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
        <p:nvSpPr>
          <p:cNvPr id="230" name="Straight Connector 229">
            <a:extLst>
              <a:ext uri="{FF2B5EF4-FFF2-40B4-BE49-F238E27FC236}">
                <a16:creationId xmlns:a16="http://schemas.microsoft.com/office/drawing/2014/main" id="{958B8589-D21A-433D-B28F-B03F98880CF6}"/>
              </a:ext>
            </a:extLst>
          </p:cNvPr>
          <p:cNvSpPr>
            <a:spLocks noGrp="1"/>
          </p:cNvSpPr>
          <p:nvPr/>
        </p:nv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Tree>
    <p:extLst>
      <p:ext uri="{BB962C8B-B14F-4D97-AF65-F5344CB8AC3E}">
        <p14:creationId xmlns:p14="http://schemas.microsoft.com/office/powerpoint/2010/main" val="2917301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DEE45-C5A2-4315-3754-BCDDC724A345}"/>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400" dirty="0">
                <a:latin typeface="Aptos Display"/>
                <a:ea typeface="Aptos Display"/>
                <a:cs typeface="Aptos Display"/>
              </a:rPr>
              <a:t>CURD </a:t>
            </a:r>
            <a:r>
              <a:rPr lang="en-GB" spc="400" dirty="0">
                <a:latin typeface="Aptos Display"/>
                <a:ea typeface="Aptos Display"/>
                <a:cs typeface="Aptos Display"/>
              </a:rPr>
              <a:t>op</a:t>
            </a:r>
            <a:r>
              <a:rPr spc="400" dirty="0" err="1">
                <a:latin typeface="Aptos Display"/>
                <a:ea typeface="Aptos Display"/>
                <a:cs typeface="Aptos Display"/>
              </a:rPr>
              <a:t>erations</a:t>
            </a:r>
            <a:endParaRPr dirty="0"/>
          </a:p>
        </p:txBody>
      </p:sp>
      <p:sp>
        <p:nvSpPr>
          <p:cNvPr id="7" name="TextBox 6">
            <a:extLst>
              <a:ext uri="{FF2B5EF4-FFF2-40B4-BE49-F238E27FC236}">
                <a16:creationId xmlns:a16="http://schemas.microsoft.com/office/drawing/2014/main" id="{6109A960-796B-A3E9-11DD-2CB23BA0568B}"/>
              </a:ext>
            </a:extLst>
          </p:cNvPr>
          <p:cNvSpPr>
            <a:spLocks noGrp="1"/>
          </p:cNvSpPr>
          <p:nvPr/>
        </p:nvSpPr>
        <p:spPr>
          <a:xfrm>
            <a:off x="438150" y="1177836"/>
            <a:ext cx="11226800" cy="954107"/>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Operations for manipulating data: Create, Read, Update, delete</a:t>
            </a:r>
          </a:p>
          <a:p>
            <a:pPr algn="l">
              <a:buNone/>
              <a:defRPr>
                <a:latin typeface="Aptos"/>
                <a:ea typeface="Aptos"/>
                <a:cs typeface="Aptos"/>
              </a:defRPr>
            </a:pPr>
            <a:r>
              <a:rPr sz="2800">
                <a:latin typeface="Aptos"/>
                <a:ea typeface="Aptos"/>
                <a:cs typeface="Aptos"/>
              </a:rPr>
              <a:t>We use CRUD applications as an entry point to learn web apps </a:t>
            </a:r>
            <a:endParaRPr sz="2800"/>
          </a:p>
        </p:txBody>
      </p:sp>
      <p:graphicFrame>
        <p:nvGraphicFramePr>
          <p:cNvPr id="11" name="object 4"/>
          <p:cNvGraphicFramePr/>
          <p:nvPr/>
        </p:nvGraphicFramePr>
        <p:xfrm>
          <a:off x="1689100" y="2430462"/>
          <a:ext cx="8636001" cy="3095268"/>
        </p:xfrm>
        <a:graphic>
          <a:graphicData uri="http://schemas.openxmlformats.org/drawingml/2006/table">
            <a:tbl>
              <a:tblPr firstRow="1" bandRow="1">
                <a:tableStyleId>{2D5ABB26-0587-4C30-8999-92F81FD0307C}</a:tableStyleId>
              </a:tblPr>
              <a:tblGrid>
                <a:gridCol w="1289050">
                  <a:extLst>
                    <a:ext uri="{9D8B030D-6E8A-4147-A177-3AD203B41FA5}">
                      <a16:colId xmlns:a16="http://schemas.microsoft.com/office/drawing/2014/main" val="20000"/>
                    </a:ext>
                  </a:extLst>
                </a:gridCol>
                <a:gridCol w="4965700">
                  <a:extLst>
                    <a:ext uri="{9D8B030D-6E8A-4147-A177-3AD203B41FA5}">
                      <a16:colId xmlns:a16="http://schemas.microsoft.com/office/drawing/2014/main" val="20001"/>
                    </a:ext>
                  </a:extLst>
                </a:gridCol>
                <a:gridCol w="2381251">
                  <a:extLst>
                    <a:ext uri="{9D8B030D-6E8A-4147-A177-3AD203B41FA5}">
                      <a16:colId xmlns:a16="http://schemas.microsoft.com/office/drawing/2014/main" val="20002"/>
                    </a:ext>
                  </a:extLst>
                </a:gridCol>
              </a:tblGrid>
              <a:tr h="557947">
                <a:tc>
                  <a:txBody>
                    <a:bodyPr/>
                    <a:lstStyle/>
                    <a:p>
                      <a:pPr marL="31750">
                        <a:lnSpc>
                          <a:spcPts val="2095"/>
                        </a:lnSpc>
                        <a:buNone/>
                      </a:pPr>
                      <a:r>
                        <a:rPr sz="2400" spc="-25">
                          <a:latin typeface="Courier New"/>
                          <a:ea typeface="Courier New"/>
                          <a:cs typeface="Courier New"/>
                        </a:rPr>
                        <a:t>GET</a:t>
                      </a:r>
                      <a:endParaRPr sz="2400">
                        <a:latin typeface="Courier New"/>
                        <a:ea typeface="Courier New"/>
                        <a:cs typeface="Courier New"/>
                      </a:endParaRPr>
                    </a:p>
                  </a:txBody>
                  <a:tcPr marL="0" marR="0" marT="0" marB="0"/>
                </a:tc>
                <a:tc>
                  <a:txBody>
                    <a:bodyPr/>
                    <a:lstStyle/>
                    <a:p>
                      <a:pPr marL="394970">
                        <a:lnSpc>
                          <a:spcPct val="100000"/>
                        </a:lnSpc>
                        <a:spcBef>
                          <a:spcPts val="30"/>
                        </a:spcBef>
                        <a:buNone/>
                      </a:pPr>
                      <a:r>
                        <a:rPr sz="2400"/>
                        <a:t>Request a resource: retrieve data</a:t>
                      </a:r>
                      <a:endParaRPr sz="2400">
                        <a:latin typeface="Aptos (Body)"/>
                        <a:ea typeface="Aptos (Body)"/>
                        <a:cs typeface="Aptos (Body)"/>
                      </a:endParaRPr>
                    </a:p>
                  </a:txBody>
                  <a:tcPr marL="0" marR="0" marT="3810" marB="0"/>
                </a:tc>
                <a:tc>
                  <a:txBody>
                    <a:bodyPr/>
                    <a:lstStyle/>
                    <a:p>
                      <a:pPr marL="394970">
                        <a:lnSpc>
                          <a:spcPct val="100000"/>
                        </a:lnSpc>
                        <a:spcBef>
                          <a:spcPts val="30"/>
                        </a:spcBef>
                        <a:buNone/>
                      </a:pPr>
                      <a:r>
                        <a:rPr sz="2400">
                          <a:latin typeface="Aptos (Body)"/>
                          <a:ea typeface="Aptos (Body)"/>
                          <a:cs typeface="Aptos (Body)"/>
                        </a:rPr>
                        <a:t>Read</a:t>
                      </a:r>
                    </a:p>
                  </a:txBody>
                  <a:tcPr marL="0" marR="0" marT="3810" marB="0"/>
                </a:tc>
                <a:extLst>
                  <a:ext uri="{0D108BD9-81ED-4DB2-BD59-A6C34878D82A}">
                    <a16:rowId xmlns:a16="http://schemas.microsoft.com/office/drawing/2014/main" val="10000"/>
                  </a:ext>
                </a:extLst>
              </a:tr>
              <a:tr h="606464">
                <a:tc>
                  <a:txBody>
                    <a:bodyPr/>
                    <a:lstStyle/>
                    <a:p>
                      <a:pPr marL="31750">
                        <a:lnSpc>
                          <a:spcPct val="100000"/>
                        </a:lnSpc>
                        <a:spcBef>
                          <a:spcPts val="175"/>
                        </a:spcBef>
                        <a:buNone/>
                      </a:pPr>
                      <a:r>
                        <a:rPr sz="2400" spc="-25">
                          <a:latin typeface="Courier New"/>
                          <a:ea typeface="Courier New"/>
                          <a:cs typeface="Courier New"/>
                        </a:rPr>
                        <a:t>PUT</a:t>
                      </a:r>
                      <a:endParaRPr sz="2400">
                        <a:latin typeface="Courier New"/>
                        <a:ea typeface="Courier New"/>
                        <a:cs typeface="Courier New"/>
                      </a:endParaRPr>
                    </a:p>
                  </a:txBody>
                  <a:tcPr marL="0" marR="0" marT="22225" marB="0"/>
                </a:tc>
                <a:tc>
                  <a:txBody>
                    <a:bodyPr/>
                    <a:lstStyle/>
                    <a:p>
                      <a:pPr marL="394970">
                        <a:lnSpc>
                          <a:spcPct val="100000"/>
                        </a:lnSpc>
                        <a:spcBef>
                          <a:spcPts val="275"/>
                        </a:spcBef>
                        <a:buNone/>
                      </a:pPr>
                      <a:r>
                        <a:rPr sz="2400"/>
                        <a:t>Replace entity with request payload</a:t>
                      </a:r>
                      <a:endParaRPr sz="2400">
                        <a:latin typeface="Aptos (Body)"/>
                        <a:ea typeface="Aptos (Body)"/>
                        <a:cs typeface="Aptos (Body)"/>
                      </a:endParaRPr>
                    </a:p>
                  </a:txBody>
                  <a:tcPr marL="0" marR="0" marT="34925" marB="0"/>
                </a:tc>
                <a:tc>
                  <a:txBody>
                    <a:bodyPr/>
                    <a:lstStyle/>
                    <a:p>
                      <a:pPr marL="394970">
                        <a:lnSpc>
                          <a:spcPct val="100000"/>
                        </a:lnSpc>
                        <a:spcBef>
                          <a:spcPts val="275"/>
                        </a:spcBef>
                        <a:buNone/>
                      </a:pPr>
                      <a:r>
                        <a:rPr sz="2400">
                          <a:latin typeface="Aptos (Body)"/>
                          <a:ea typeface="Aptos (Body)"/>
                          <a:cs typeface="Aptos (Body)"/>
                        </a:rPr>
                        <a:t>Update</a:t>
                      </a:r>
                    </a:p>
                  </a:txBody>
                  <a:tcPr marL="0" marR="0" marT="34925" marB="0"/>
                </a:tc>
                <a:extLst>
                  <a:ext uri="{0D108BD9-81ED-4DB2-BD59-A6C34878D82A}">
                    <a16:rowId xmlns:a16="http://schemas.microsoft.com/office/drawing/2014/main" val="10001"/>
                  </a:ext>
                </a:extLst>
              </a:tr>
              <a:tr h="605494">
                <a:tc>
                  <a:txBody>
                    <a:bodyPr/>
                    <a:lstStyle/>
                    <a:p>
                      <a:pPr marL="31750">
                        <a:lnSpc>
                          <a:spcPct val="100000"/>
                        </a:lnSpc>
                        <a:spcBef>
                          <a:spcPts val="175"/>
                        </a:spcBef>
                        <a:buNone/>
                      </a:pPr>
                      <a:r>
                        <a:rPr sz="2400" spc="-25">
                          <a:latin typeface="Courier New"/>
                          <a:ea typeface="Courier New"/>
                          <a:cs typeface="Courier New"/>
                        </a:rPr>
                        <a:t>POST</a:t>
                      </a:r>
                      <a:endParaRPr sz="2400">
                        <a:latin typeface="Courier New"/>
                        <a:ea typeface="Courier New"/>
                        <a:cs typeface="Courier New"/>
                      </a:endParaRPr>
                    </a:p>
                  </a:txBody>
                  <a:tcPr marL="0" marR="0" marT="22225" marB="0"/>
                </a:tc>
                <a:tc>
                  <a:txBody>
                    <a:bodyPr/>
                    <a:lstStyle/>
                    <a:p>
                      <a:pPr marL="394970">
                        <a:lnSpc>
                          <a:spcPct val="100000"/>
                        </a:lnSpc>
                        <a:spcBef>
                          <a:spcPts val="275"/>
                        </a:spcBef>
                        <a:buNone/>
                      </a:pPr>
                      <a:r>
                        <a:rPr sz="2400"/>
                        <a:t>Submit a new entity</a:t>
                      </a:r>
                      <a:endParaRPr sz="2400">
                        <a:latin typeface="Aptos (Body)"/>
                        <a:ea typeface="Aptos (Body)"/>
                        <a:cs typeface="Aptos (Body)"/>
                      </a:endParaRPr>
                    </a:p>
                  </a:txBody>
                  <a:tcPr marL="0" marR="0" marT="34925" marB="0"/>
                </a:tc>
                <a:tc>
                  <a:txBody>
                    <a:bodyPr/>
                    <a:lstStyle/>
                    <a:p>
                      <a:pPr marL="394970">
                        <a:lnSpc>
                          <a:spcPct val="100000"/>
                        </a:lnSpc>
                        <a:spcBef>
                          <a:spcPts val="275"/>
                        </a:spcBef>
                        <a:buNone/>
                      </a:pPr>
                      <a:r>
                        <a:rPr sz="2400">
                          <a:latin typeface="Aptos (Body)"/>
                          <a:ea typeface="Aptos (Body)"/>
                          <a:cs typeface="Aptos (Body)"/>
                        </a:rPr>
                        <a:t>Create</a:t>
                      </a:r>
                    </a:p>
                  </a:txBody>
                  <a:tcPr marL="0" marR="0" marT="34925" marB="0"/>
                </a:tc>
                <a:extLst>
                  <a:ext uri="{0D108BD9-81ED-4DB2-BD59-A6C34878D82A}">
                    <a16:rowId xmlns:a16="http://schemas.microsoft.com/office/drawing/2014/main" val="10002"/>
                  </a:ext>
                </a:extLst>
              </a:tr>
              <a:tr h="606464">
                <a:tc>
                  <a:txBody>
                    <a:bodyPr/>
                    <a:lstStyle/>
                    <a:p>
                      <a:pPr marL="31750">
                        <a:lnSpc>
                          <a:spcPct val="100000"/>
                        </a:lnSpc>
                        <a:spcBef>
                          <a:spcPts val="175"/>
                        </a:spcBef>
                        <a:buNone/>
                      </a:pPr>
                      <a:r>
                        <a:rPr sz="2400" spc="-25">
                          <a:latin typeface="Courier New"/>
                          <a:ea typeface="Courier New"/>
                          <a:cs typeface="Courier New"/>
                        </a:rPr>
                        <a:t>DELETE</a:t>
                      </a:r>
                      <a:endParaRPr sz="2400">
                        <a:latin typeface="Courier New"/>
                        <a:ea typeface="Courier New"/>
                        <a:cs typeface="Courier New"/>
                      </a:endParaRPr>
                    </a:p>
                  </a:txBody>
                  <a:tcPr marL="0" marR="0" marT="22225" marB="0"/>
                </a:tc>
                <a:tc>
                  <a:txBody>
                    <a:bodyPr/>
                    <a:lstStyle/>
                    <a:p>
                      <a:pPr marL="394970">
                        <a:lnSpc>
                          <a:spcPct val="100000"/>
                        </a:lnSpc>
                        <a:spcBef>
                          <a:spcPts val="275"/>
                        </a:spcBef>
                        <a:buNone/>
                      </a:pPr>
                      <a:r>
                        <a:rPr sz="2400"/>
                        <a:t>Delete entity</a:t>
                      </a:r>
                      <a:endParaRPr sz="2400">
                        <a:latin typeface="Aptos (Body)"/>
                        <a:ea typeface="Aptos (Body)"/>
                        <a:cs typeface="Aptos (Body)"/>
                      </a:endParaRPr>
                    </a:p>
                  </a:txBody>
                  <a:tcPr marL="0" marR="0" marT="34925" marB="0"/>
                </a:tc>
                <a:tc>
                  <a:txBody>
                    <a:bodyPr/>
                    <a:lstStyle/>
                    <a:p>
                      <a:pPr marL="394970">
                        <a:lnSpc>
                          <a:spcPct val="100000"/>
                        </a:lnSpc>
                        <a:spcBef>
                          <a:spcPts val="275"/>
                        </a:spcBef>
                        <a:buNone/>
                      </a:pPr>
                      <a:r>
                        <a:rPr sz="2400">
                          <a:latin typeface="Aptos (Body)"/>
                          <a:ea typeface="Aptos (Body)"/>
                          <a:cs typeface="Aptos (Body)"/>
                        </a:rPr>
                        <a:t>Delete</a:t>
                      </a:r>
                    </a:p>
                  </a:txBody>
                  <a:tcPr marL="0" marR="0" marT="34925" marB="0"/>
                </a:tc>
                <a:extLst>
                  <a:ext uri="{0D108BD9-81ED-4DB2-BD59-A6C34878D82A}">
                    <a16:rowId xmlns:a16="http://schemas.microsoft.com/office/drawing/2014/main" val="10003"/>
                  </a:ext>
                </a:extLst>
              </a:tr>
              <a:tr h="558918">
                <a:tc>
                  <a:txBody>
                    <a:bodyPr/>
                    <a:lstStyle/>
                    <a:p>
                      <a:pPr marL="31750">
                        <a:lnSpc>
                          <a:spcPct val="100000"/>
                        </a:lnSpc>
                        <a:spcBef>
                          <a:spcPts val="175"/>
                        </a:spcBef>
                        <a:buNone/>
                      </a:pPr>
                      <a:r>
                        <a:rPr sz="2400" spc="-25">
                          <a:latin typeface="Courier New"/>
                          <a:ea typeface="Courier New"/>
                          <a:cs typeface="Courier New"/>
                        </a:rPr>
                        <a:t>PATCH</a:t>
                      </a:r>
                      <a:endParaRPr sz="2400">
                        <a:latin typeface="Courier New"/>
                        <a:ea typeface="Courier New"/>
                        <a:cs typeface="Courier New"/>
                      </a:endParaRPr>
                    </a:p>
                  </a:txBody>
                  <a:tcPr marL="0" marR="0" marT="22225" marB="0"/>
                </a:tc>
                <a:tc>
                  <a:txBody>
                    <a:bodyPr/>
                    <a:lstStyle/>
                    <a:p>
                      <a:pPr marL="394970">
                        <a:lnSpc>
                          <a:spcPct val="100000"/>
                        </a:lnSpc>
                        <a:spcBef>
                          <a:spcPts val="275"/>
                        </a:spcBef>
                        <a:buNone/>
                      </a:pPr>
                      <a:r>
                        <a:rPr sz="2400"/>
                        <a:t>Partial modification to an entit</a:t>
                      </a:r>
                      <a:endParaRPr sz="2400">
                        <a:latin typeface="Aptos (Body)"/>
                        <a:ea typeface="Aptos (Body)"/>
                        <a:cs typeface="Aptos (Body)"/>
                      </a:endParaRPr>
                    </a:p>
                  </a:txBody>
                  <a:tcPr marL="0" marR="0" marT="34925" marB="0"/>
                </a:tc>
                <a:tc>
                  <a:txBody>
                    <a:bodyPr/>
                    <a:lstStyle/>
                    <a:p>
                      <a:pPr marL="394970">
                        <a:lnSpc>
                          <a:spcPct val="100000"/>
                        </a:lnSpc>
                        <a:spcBef>
                          <a:spcPts val="275"/>
                        </a:spcBef>
                        <a:buNone/>
                      </a:pPr>
                      <a:r>
                        <a:rPr sz="2400">
                          <a:latin typeface="Aptos (Body)"/>
                          <a:ea typeface="Aptos (Body)"/>
                          <a:cs typeface="Aptos (Body)"/>
                        </a:rPr>
                        <a:t>Update</a:t>
                      </a:r>
                    </a:p>
                  </a:txBody>
                  <a:tcPr marL="0" marR="0" marT="34925"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912675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4334A-1794-300A-B6C7-084A10AEE84E}"/>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400">
                <a:latin typeface="Aptos Display"/>
                <a:ea typeface="Aptos Display"/>
                <a:cs typeface="Aptos Display"/>
              </a:rPr>
              <a:t>CURD operations</a:t>
            </a:r>
            <a:endParaRPr/>
          </a:p>
        </p:txBody>
      </p:sp>
      <p:sp>
        <p:nvSpPr>
          <p:cNvPr id="7" name="TextBox 6">
            <a:extLst>
              <a:ext uri="{FF2B5EF4-FFF2-40B4-BE49-F238E27FC236}">
                <a16:creationId xmlns:a16="http://schemas.microsoft.com/office/drawing/2014/main" id="{7F27E7CD-2615-BCD0-1F90-399E5C25B04D}"/>
              </a:ext>
            </a:extLst>
          </p:cNvPr>
          <p:cNvSpPr>
            <a:spLocks noGrp="1"/>
          </p:cNvSpPr>
          <p:nvPr/>
        </p:nvSpPr>
        <p:spPr>
          <a:xfrm>
            <a:off x="438150" y="1177836"/>
            <a:ext cx="11226800" cy="954107"/>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Operations for manipulating data: Create, Read, Update, delete</a:t>
            </a:r>
          </a:p>
          <a:p>
            <a:pPr algn="l">
              <a:buNone/>
              <a:defRPr>
                <a:latin typeface="Aptos"/>
                <a:ea typeface="Aptos"/>
                <a:cs typeface="Aptos"/>
              </a:defRPr>
            </a:pPr>
            <a:r>
              <a:rPr sz="2800">
                <a:latin typeface="Aptos"/>
                <a:ea typeface="Aptos"/>
                <a:cs typeface="Aptos"/>
              </a:rPr>
              <a:t>We use CRUD applications as an entry point to learn web apps </a:t>
            </a:r>
            <a:endParaRPr sz="2800"/>
          </a:p>
        </p:txBody>
      </p:sp>
      <p:graphicFrame>
        <p:nvGraphicFramePr>
          <p:cNvPr id="11" name="object 4"/>
          <p:cNvGraphicFramePr/>
          <p:nvPr/>
        </p:nvGraphicFramePr>
        <p:xfrm>
          <a:off x="520700" y="2525712"/>
          <a:ext cx="11144250" cy="3256219"/>
        </p:xfrm>
        <a:graphic>
          <a:graphicData uri="http://schemas.openxmlformats.org/drawingml/2006/table">
            <a:tbl>
              <a:tblPr firstRow="1" bandRow="1">
                <a:tableStyleId>{2D5ABB26-0587-4C30-8999-92F81FD0307C}</a:tableStyleId>
              </a:tblPr>
              <a:tblGrid>
                <a:gridCol w="1303909">
                  <a:extLst>
                    <a:ext uri="{9D8B030D-6E8A-4147-A177-3AD203B41FA5}">
                      <a16:colId xmlns:a16="http://schemas.microsoft.com/office/drawing/2014/main" val="20000"/>
                    </a:ext>
                  </a:extLst>
                </a:gridCol>
                <a:gridCol w="5022941">
                  <a:extLst>
                    <a:ext uri="{9D8B030D-6E8A-4147-A177-3AD203B41FA5}">
                      <a16:colId xmlns:a16="http://schemas.microsoft.com/office/drawing/2014/main" val="20001"/>
                    </a:ext>
                  </a:extLst>
                </a:gridCol>
                <a:gridCol w="1477300">
                  <a:extLst>
                    <a:ext uri="{9D8B030D-6E8A-4147-A177-3AD203B41FA5}">
                      <a16:colId xmlns:a16="http://schemas.microsoft.com/office/drawing/2014/main" val="20002"/>
                    </a:ext>
                  </a:extLst>
                </a:gridCol>
                <a:gridCol w="3340100">
                  <a:extLst>
                    <a:ext uri="{9D8B030D-6E8A-4147-A177-3AD203B41FA5}">
                      <a16:colId xmlns:a16="http://schemas.microsoft.com/office/drawing/2014/main" val="20003"/>
                    </a:ext>
                  </a:extLst>
                </a:gridCol>
              </a:tblGrid>
              <a:tr h="557947">
                <a:tc>
                  <a:txBody>
                    <a:bodyPr/>
                    <a:lstStyle/>
                    <a:p>
                      <a:pPr marL="31750">
                        <a:lnSpc>
                          <a:spcPts val="2095"/>
                        </a:lnSpc>
                        <a:buNone/>
                      </a:pPr>
                      <a:r>
                        <a:rPr sz="2400" spc="-25">
                          <a:latin typeface="Courier New"/>
                          <a:ea typeface="Courier New"/>
                          <a:cs typeface="Courier New"/>
                        </a:rPr>
                        <a:t>GET</a:t>
                      </a:r>
                      <a:endParaRPr sz="2400">
                        <a:latin typeface="Courier New"/>
                        <a:ea typeface="Courier New"/>
                        <a:cs typeface="Courier New"/>
                      </a:endParaRPr>
                    </a:p>
                  </a:txBody>
                  <a:tcPr marL="0" marR="0" marT="0" marB="0"/>
                </a:tc>
                <a:tc>
                  <a:txBody>
                    <a:bodyPr/>
                    <a:lstStyle/>
                    <a:p>
                      <a:pPr marL="394970">
                        <a:lnSpc>
                          <a:spcPct val="100000"/>
                        </a:lnSpc>
                        <a:spcBef>
                          <a:spcPts val="30"/>
                        </a:spcBef>
                        <a:buNone/>
                      </a:pPr>
                      <a:r>
                        <a:rPr sz="2400"/>
                        <a:t>Request a resource: retrieve data</a:t>
                      </a:r>
                      <a:endParaRPr sz="2400">
                        <a:latin typeface="Aptos (Body)"/>
                        <a:ea typeface="Aptos (Body)"/>
                        <a:cs typeface="Aptos (Body)"/>
                      </a:endParaRPr>
                    </a:p>
                  </a:txBody>
                  <a:tcPr marL="0" marR="0" marT="3810" marB="0"/>
                </a:tc>
                <a:tc>
                  <a:txBody>
                    <a:bodyPr/>
                    <a:lstStyle/>
                    <a:p>
                      <a:pPr marL="394970">
                        <a:lnSpc>
                          <a:spcPct val="100000"/>
                        </a:lnSpc>
                        <a:spcBef>
                          <a:spcPts val="30"/>
                        </a:spcBef>
                        <a:buNone/>
                      </a:pPr>
                      <a:r>
                        <a:rPr sz="2400">
                          <a:latin typeface="Aptos (Body)"/>
                          <a:ea typeface="Aptos (Body)"/>
                          <a:cs typeface="Aptos (Body)"/>
                        </a:rPr>
                        <a:t>Read</a:t>
                      </a:r>
                    </a:p>
                  </a:txBody>
                  <a:tcPr marL="0" marR="0" marT="3810" marB="0"/>
                </a:tc>
                <a:tc>
                  <a:txBody>
                    <a:bodyPr/>
                    <a:lstStyle/>
                    <a:p>
                      <a:pPr marL="394970">
                        <a:lnSpc>
                          <a:spcPct val="100000"/>
                        </a:lnSpc>
                        <a:spcBef>
                          <a:spcPts val="30"/>
                        </a:spcBef>
                        <a:buNone/>
                      </a:pPr>
                      <a:r>
                        <a:rPr sz="2400">
                          <a:latin typeface="Aptos (Body)"/>
                          <a:ea typeface="Aptos (Body)"/>
                          <a:cs typeface="Aptos (Body)"/>
                        </a:rPr>
                        <a:t>Ecommerce: products</a:t>
                      </a:r>
                    </a:p>
                  </a:txBody>
                  <a:tcPr marL="0" marR="0" marT="3810" marB="0"/>
                </a:tc>
                <a:extLst>
                  <a:ext uri="{0D108BD9-81ED-4DB2-BD59-A6C34878D82A}">
                    <a16:rowId xmlns:a16="http://schemas.microsoft.com/office/drawing/2014/main" val="10000"/>
                  </a:ext>
                </a:extLst>
              </a:tr>
              <a:tr h="606464">
                <a:tc>
                  <a:txBody>
                    <a:bodyPr/>
                    <a:lstStyle/>
                    <a:p>
                      <a:pPr marL="31750">
                        <a:lnSpc>
                          <a:spcPct val="100000"/>
                        </a:lnSpc>
                        <a:spcBef>
                          <a:spcPts val="175"/>
                        </a:spcBef>
                        <a:buNone/>
                      </a:pPr>
                      <a:r>
                        <a:rPr sz="2400" spc="-25">
                          <a:latin typeface="Courier New"/>
                          <a:ea typeface="Courier New"/>
                          <a:cs typeface="Courier New"/>
                        </a:rPr>
                        <a:t>PUT</a:t>
                      </a:r>
                      <a:endParaRPr sz="2400">
                        <a:latin typeface="Courier New"/>
                        <a:ea typeface="Courier New"/>
                        <a:cs typeface="Courier New"/>
                      </a:endParaRPr>
                    </a:p>
                  </a:txBody>
                  <a:tcPr marL="0" marR="0" marT="22225" marB="0"/>
                </a:tc>
                <a:tc>
                  <a:txBody>
                    <a:bodyPr/>
                    <a:lstStyle/>
                    <a:p>
                      <a:pPr marL="394970">
                        <a:lnSpc>
                          <a:spcPct val="100000"/>
                        </a:lnSpc>
                        <a:spcBef>
                          <a:spcPts val="275"/>
                        </a:spcBef>
                        <a:buNone/>
                      </a:pPr>
                      <a:r>
                        <a:rPr sz="2400"/>
                        <a:t>Replace entity with request payload</a:t>
                      </a:r>
                      <a:endParaRPr sz="2400">
                        <a:latin typeface="Aptos (Body)"/>
                        <a:ea typeface="Aptos (Body)"/>
                        <a:cs typeface="Aptos (Body)"/>
                      </a:endParaRPr>
                    </a:p>
                  </a:txBody>
                  <a:tcPr marL="0" marR="0" marT="34925" marB="0"/>
                </a:tc>
                <a:tc>
                  <a:txBody>
                    <a:bodyPr/>
                    <a:lstStyle/>
                    <a:p>
                      <a:pPr marL="394970">
                        <a:lnSpc>
                          <a:spcPct val="100000"/>
                        </a:lnSpc>
                        <a:spcBef>
                          <a:spcPts val="275"/>
                        </a:spcBef>
                        <a:buNone/>
                      </a:pPr>
                      <a:r>
                        <a:rPr sz="2400">
                          <a:latin typeface="Aptos (Body)"/>
                          <a:ea typeface="Aptos (Body)"/>
                          <a:cs typeface="Aptos (Body)"/>
                        </a:rPr>
                        <a:t>Update</a:t>
                      </a:r>
                    </a:p>
                  </a:txBody>
                  <a:tcPr marL="0" marR="0" marT="34925" marB="0"/>
                </a:tc>
                <a:tc>
                  <a:txBody>
                    <a:bodyPr/>
                    <a:lstStyle/>
                    <a:p>
                      <a:pPr marL="394970">
                        <a:lnSpc>
                          <a:spcPct val="100000"/>
                        </a:lnSpc>
                        <a:spcBef>
                          <a:spcPts val="275"/>
                        </a:spcBef>
                        <a:buNone/>
                      </a:pPr>
                      <a:r>
                        <a:rPr sz="2400"/>
                        <a:t>Blog: posts</a:t>
                      </a:r>
                      <a:endParaRPr sz="2400">
                        <a:latin typeface="Aptos (Body)"/>
                        <a:ea typeface="Aptos (Body)"/>
                        <a:cs typeface="Aptos (Body)"/>
                      </a:endParaRPr>
                    </a:p>
                  </a:txBody>
                  <a:tcPr marL="0" marR="0" marT="34925" marB="0"/>
                </a:tc>
                <a:extLst>
                  <a:ext uri="{0D108BD9-81ED-4DB2-BD59-A6C34878D82A}">
                    <a16:rowId xmlns:a16="http://schemas.microsoft.com/office/drawing/2014/main" val="10001"/>
                  </a:ext>
                </a:extLst>
              </a:tr>
              <a:tr h="605494">
                <a:tc>
                  <a:txBody>
                    <a:bodyPr/>
                    <a:lstStyle/>
                    <a:p>
                      <a:pPr marL="31750">
                        <a:lnSpc>
                          <a:spcPct val="100000"/>
                        </a:lnSpc>
                        <a:spcBef>
                          <a:spcPts val="175"/>
                        </a:spcBef>
                        <a:buNone/>
                      </a:pPr>
                      <a:r>
                        <a:rPr sz="2400" spc="-25">
                          <a:latin typeface="Courier New"/>
                          <a:ea typeface="Courier New"/>
                          <a:cs typeface="Courier New"/>
                        </a:rPr>
                        <a:t>POST</a:t>
                      </a:r>
                      <a:endParaRPr sz="2400">
                        <a:latin typeface="Courier New"/>
                        <a:ea typeface="Courier New"/>
                        <a:cs typeface="Courier New"/>
                      </a:endParaRPr>
                    </a:p>
                  </a:txBody>
                  <a:tcPr marL="0" marR="0" marT="22225" marB="0"/>
                </a:tc>
                <a:tc>
                  <a:txBody>
                    <a:bodyPr/>
                    <a:lstStyle/>
                    <a:p>
                      <a:pPr marL="394970">
                        <a:lnSpc>
                          <a:spcPct val="100000"/>
                        </a:lnSpc>
                        <a:spcBef>
                          <a:spcPts val="275"/>
                        </a:spcBef>
                        <a:buNone/>
                      </a:pPr>
                      <a:r>
                        <a:rPr sz="2400"/>
                        <a:t>Submit a new entity</a:t>
                      </a:r>
                      <a:endParaRPr sz="2400">
                        <a:latin typeface="Aptos (Body)"/>
                        <a:ea typeface="Aptos (Body)"/>
                        <a:cs typeface="Aptos (Body)"/>
                      </a:endParaRPr>
                    </a:p>
                  </a:txBody>
                  <a:tcPr marL="0" marR="0" marT="34925" marB="0"/>
                </a:tc>
                <a:tc>
                  <a:txBody>
                    <a:bodyPr/>
                    <a:lstStyle/>
                    <a:p>
                      <a:pPr marL="394970">
                        <a:lnSpc>
                          <a:spcPct val="100000"/>
                        </a:lnSpc>
                        <a:spcBef>
                          <a:spcPts val="275"/>
                        </a:spcBef>
                        <a:buNone/>
                      </a:pPr>
                      <a:r>
                        <a:rPr sz="2400">
                          <a:latin typeface="Aptos (Body)"/>
                          <a:ea typeface="Aptos (Body)"/>
                          <a:cs typeface="Aptos (Body)"/>
                        </a:rPr>
                        <a:t>Create</a:t>
                      </a:r>
                    </a:p>
                  </a:txBody>
                  <a:tcPr marL="0" marR="0" marT="34925" marB="0"/>
                </a:tc>
                <a:tc>
                  <a:txBody>
                    <a:bodyPr/>
                    <a:lstStyle/>
                    <a:p>
                      <a:pPr marL="394970">
                        <a:lnSpc>
                          <a:spcPct val="100000"/>
                        </a:lnSpc>
                        <a:spcBef>
                          <a:spcPts val="275"/>
                        </a:spcBef>
                        <a:buNone/>
                      </a:pPr>
                      <a:r>
                        <a:rPr sz="2400"/>
                        <a:t>Social media: comments</a:t>
                      </a:r>
                      <a:endParaRPr sz="2400">
                        <a:latin typeface="Aptos (Body)"/>
                        <a:ea typeface="Aptos (Body)"/>
                        <a:cs typeface="Aptos (Body)"/>
                      </a:endParaRPr>
                    </a:p>
                  </a:txBody>
                  <a:tcPr marL="0" marR="0" marT="34925" marB="0"/>
                </a:tc>
                <a:extLst>
                  <a:ext uri="{0D108BD9-81ED-4DB2-BD59-A6C34878D82A}">
                    <a16:rowId xmlns:a16="http://schemas.microsoft.com/office/drawing/2014/main" val="10002"/>
                  </a:ext>
                </a:extLst>
              </a:tr>
              <a:tr h="606464">
                <a:tc>
                  <a:txBody>
                    <a:bodyPr/>
                    <a:lstStyle/>
                    <a:p>
                      <a:pPr marL="31750">
                        <a:lnSpc>
                          <a:spcPct val="100000"/>
                        </a:lnSpc>
                        <a:spcBef>
                          <a:spcPts val="175"/>
                        </a:spcBef>
                        <a:buNone/>
                      </a:pPr>
                      <a:r>
                        <a:rPr sz="2400" spc="-25">
                          <a:latin typeface="Courier New"/>
                          <a:ea typeface="Courier New"/>
                          <a:cs typeface="Courier New"/>
                        </a:rPr>
                        <a:t>DELETE</a:t>
                      </a:r>
                      <a:endParaRPr sz="2400">
                        <a:latin typeface="Courier New"/>
                        <a:ea typeface="Courier New"/>
                        <a:cs typeface="Courier New"/>
                      </a:endParaRPr>
                    </a:p>
                  </a:txBody>
                  <a:tcPr marL="0" marR="0" marT="22225" marB="0"/>
                </a:tc>
                <a:tc>
                  <a:txBody>
                    <a:bodyPr/>
                    <a:lstStyle/>
                    <a:p>
                      <a:pPr marL="394970">
                        <a:lnSpc>
                          <a:spcPct val="100000"/>
                        </a:lnSpc>
                        <a:spcBef>
                          <a:spcPts val="275"/>
                        </a:spcBef>
                        <a:buNone/>
                      </a:pPr>
                      <a:r>
                        <a:rPr sz="2400"/>
                        <a:t>Delete entity</a:t>
                      </a:r>
                      <a:endParaRPr sz="2400">
                        <a:latin typeface="Aptos (Body)"/>
                        <a:ea typeface="Aptos (Body)"/>
                        <a:cs typeface="Aptos (Body)"/>
                      </a:endParaRPr>
                    </a:p>
                  </a:txBody>
                  <a:tcPr marL="0" marR="0" marT="34925" marB="0"/>
                </a:tc>
                <a:tc>
                  <a:txBody>
                    <a:bodyPr/>
                    <a:lstStyle/>
                    <a:p>
                      <a:pPr marL="394970">
                        <a:lnSpc>
                          <a:spcPct val="100000"/>
                        </a:lnSpc>
                        <a:spcBef>
                          <a:spcPts val="275"/>
                        </a:spcBef>
                        <a:buNone/>
                      </a:pPr>
                      <a:r>
                        <a:rPr sz="2400">
                          <a:latin typeface="Aptos (Body)"/>
                          <a:ea typeface="Aptos (Body)"/>
                          <a:cs typeface="Aptos (Body)"/>
                        </a:rPr>
                        <a:t>Delete</a:t>
                      </a:r>
                    </a:p>
                  </a:txBody>
                  <a:tcPr marL="0" marR="0" marT="34925" marB="0"/>
                </a:tc>
                <a:tc>
                  <a:txBody>
                    <a:bodyPr/>
                    <a:lstStyle/>
                    <a:p>
                      <a:pPr marL="394970">
                        <a:lnSpc>
                          <a:spcPct val="100000"/>
                        </a:lnSpc>
                        <a:spcBef>
                          <a:spcPts val="275"/>
                        </a:spcBef>
                        <a:buNone/>
                      </a:pPr>
                      <a:endParaRPr sz="2400">
                        <a:latin typeface="Aptos (Body)"/>
                        <a:ea typeface="Aptos (Body)"/>
                        <a:cs typeface="Aptos (Body)"/>
                      </a:endParaRPr>
                    </a:p>
                  </a:txBody>
                  <a:tcPr marL="0" marR="0" marT="34925" marB="0"/>
                </a:tc>
                <a:extLst>
                  <a:ext uri="{0D108BD9-81ED-4DB2-BD59-A6C34878D82A}">
                    <a16:rowId xmlns:a16="http://schemas.microsoft.com/office/drawing/2014/main" val="10003"/>
                  </a:ext>
                </a:extLst>
              </a:tr>
              <a:tr h="558918">
                <a:tc>
                  <a:txBody>
                    <a:bodyPr/>
                    <a:lstStyle/>
                    <a:p>
                      <a:pPr marL="31750">
                        <a:lnSpc>
                          <a:spcPct val="100000"/>
                        </a:lnSpc>
                        <a:spcBef>
                          <a:spcPts val="175"/>
                        </a:spcBef>
                        <a:buNone/>
                      </a:pPr>
                      <a:r>
                        <a:rPr sz="2400" spc="-25">
                          <a:latin typeface="Courier New"/>
                          <a:ea typeface="Courier New"/>
                          <a:cs typeface="Courier New"/>
                        </a:rPr>
                        <a:t>PATCH</a:t>
                      </a:r>
                      <a:endParaRPr sz="2400">
                        <a:latin typeface="Courier New"/>
                        <a:ea typeface="Courier New"/>
                        <a:cs typeface="Courier New"/>
                      </a:endParaRPr>
                    </a:p>
                  </a:txBody>
                  <a:tcPr marL="0" marR="0" marT="22225" marB="0"/>
                </a:tc>
                <a:tc>
                  <a:txBody>
                    <a:bodyPr/>
                    <a:lstStyle/>
                    <a:p>
                      <a:pPr marL="394970">
                        <a:lnSpc>
                          <a:spcPct val="100000"/>
                        </a:lnSpc>
                        <a:spcBef>
                          <a:spcPts val="275"/>
                        </a:spcBef>
                        <a:buNone/>
                      </a:pPr>
                      <a:r>
                        <a:rPr sz="2400"/>
                        <a:t>Partial modification to an entit</a:t>
                      </a:r>
                      <a:endParaRPr sz="2400">
                        <a:latin typeface="Aptos (Body)"/>
                        <a:ea typeface="Aptos (Body)"/>
                        <a:cs typeface="Aptos (Body)"/>
                      </a:endParaRPr>
                    </a:p>
                  </a:txBody>
                  <a:tcPr marL="0" marR="0" marT="34925" marB="0"/>
                </a:tc>
                <a:tc>
                  <a:txBody>
                    <a:bodyPr/>
                    <a:lstStyle/>
                    <a:p>
                      <a:pPr marL="394970">
                        <a:lnSpc>
                          <a:spcPct val="100000"/>
                        </a:lnSpc>
                        <a:spcBef>
                          <a:spcPts val="275"/>
                        </a:spcBef>
                        <a:buNone/>
                      </a:pPr>
                      <a:r>
                        <a:rPr sz="2400">
                          <a:latin typeface="Aptos (Body)"/>
                          <a:ea typeface="Aptos (Body)"/>
                          <a:cs typeface="Aptos (Body)"/>
                        </a:rPr>
                        <a:t>Update</a:t>
                      </a:r>
                    </a:p>
                  </a:txBody>
                  <a:tcPr marL="0" marR="0" marT="34925" marB="0"/>
                </a:tc>
                <a:tc>
                  <a:txBody>
                    <a:bodyPr/>
                    <a:lstStyle/>
                    <a:p>
                      <a:pPr marL="394970">
                        <a:lnSpc>
                          <a:spcPct val="100000"/>
                        </a:lnSpc>
                        <a:spcBef>
                          <a:spcPts val="275"/>
                        </a:spcBef>
                        <a:buNone/>
                      </a:pPr>
                      <a:r>
                        <a:rPr sz="2400"/>
                        <a:t>Library: books</a:t>
                      </a:r>
                      <a:endParaRPr sz="2400">
                        <a:latin typeface="Aptos (Body)"/>
                        <a:ea typeface="Aptos (Body)"/>
                        <a:cs typeface="Aptos (Body)"/>
                      </a:endParaRPr>
                    </a:p>
                  </a:txBody>
                  <a:tcPr marL="0" marR="0" marT="34925"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5763182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FBB5F-8967-D440-FFF6-799564C6C328}"/>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400">
                <a:latin typeface="Aptos Display"/>
                <a:ea typeface="Aptos Display"/>
                <a:cs typeface="Aptos Display"/>
              </a:rPr>
              <a:t>CURD operations</a:t>
            </a:r>
            <a:endParaRPr/>
          </a:p>
        </p:txBody>
      </p:sp>
      <p:sp>
        <p:nvSpPr>
          <p:cNvPr id="7" name="TextBox 6">
            <a:extLst>
              <a:ext uri="{FF2B5EF4-FFF2-40B4-BE49-F238E27FC236}">
                <a16:creationId xmlns:a16="http://schemas.microsoft.com/office/drawing/2014/main" id="{5A4D02D3-B753-17BE-FF0C-5BA4470F2C43}"/>
              </a:ext>
            </a:extLst>
          </p:cNvPr>
          <p:cNvSpPr>
            <a:spLocks noGrp="1"/>
          </p:cNvSpPr>
          <p:nvPr/>
        </p:nvSpPr>
        <p:spPr>
          <a:xfrm>
            <a:off x="438150" y="1177836"/>
            <a:ext cx="11226800" cy="954107"/>
          </a:xfrm>
          <a:prstGeom prst="rect">
            <a:avLst/>
          </a:prstGeom>
          <a:noFill/>
        </p:spPr>
        <p:txBody>
          <a:bodyPr wrap="square">
            <a:spAutoFit/>
          </a:bodyPr>
          <a:lstStyle/>
          <a:p>
            <a:pPr algn="l">
              <a:buNone/>
              <a:defRPr>
                <a:latin typeface="Aptos"/>
                <a:ea typeface="Aptos"/>
                <a:cs typeface="Aptos"/>
              </a:defRPr>
            </a:pPr>
            <a:r>
              <a:rPr sz="2800">
                <a:latin typeface="Aptos"/>
                <a:ea typeface="Aptos"/>
                <a:cs typeface="Aptos"/>
              </a:rPr>
              <a:t>Operations for manipulating data: Create, Read, Update, delete</a:t>
            </a:r>
          </a:p>
          <a:p>
            <a:pPr algn="l">
              <a:buNone/>
              <a:defRPr>
                <a:latin typeface="Aptos"/>
                <a:ea typeface="Aptos"/>
                <a:cs typeface="Aptos"/>
              </a:defRPr>
            </a:pPr>
            <a:r>
              <a:rPr sz="2800">
                <a:latin typeface="Aptos"/>
                <a:ea typeface="Aptos"/>
                <a:cs typeface="Aptos"/>
              </a:rPr>
              <a:t>We use CRUD applications as an entry point to learn web apps </a:t>
            </a:r>
            <a:endParaRPr sz="2800"/>
          </a:p>
        </p:txBody>
      </p:sp>
      <p:graphicFrame>
        <p:nvGraphicFramePr>
          <p:cNvPr id="11" name="object 4"/>
          <p:cNvGraphicFramePr/>
          <p:nvPr/>
        </p:nvGraphicFramePr>
        <p:xfrm>
          <a:off x="520700" y="2525712"/>
          <a:ext cx="11144250" cy="3256219"/>
        </p:xfrm>
        <a:graphic>
          <a:graphicData uri="http://schemas.openxmlformats.org/drawingml/2006/table">
            <a:tbl>
              <a:tblPr firstRow="1" bandRow="1">
                <a:tableStyleId>{2D5ABB26-0587-4C30-8999-92F81FD0307C}</a:tableStyleId>
              </a:tblPr>
              <a:tblGrid>
                <a:gridCol w="1303909">
                  <a:extLst>
                    <a:ext uri="{9D8B030D-6E8A-4147-A177-3AD203B41FA5}">
                      <a16:colId xmlns:a16="http://schemas.microsoft.com/office/drawing/2014/main" val="20000"/>
                    </a:ext>
                  </a:extLst>
                </a:gridCol>
                <a:gridCol w="5022941">
                  <a:extLst>
                    <a:ext uri="{9D8B030D-6E8A-4147-A177-3AD203B41FA5}">
                      <a16:colId xmlns:a16="http://schemas.microsoft.com/office/drawing/2014/main" val="20001"/>
                    </a:ext>
                  </a:extLst>
                </a:gridCol>
                <a:gridCol w="1477300">
                  <a:extLst>
                    <a:ext uri="{9D8B030D-6E8A-4147-A177-3AD203B41FA5}">
                      <a16:colId xmlns:a16="http://schemas.microsoft.com/office/drawing/2014/main" val="20002"/>
                    </a:ext>
                  </a:extLst>
                </a:gridCol>
                <a:gridCol w="3340100">
                  <a:extLst>
                    <a:ext uri="{9D8B030D-6E8A-4147-A177-3AD203B41FA5}">
                      <a16:colId xmlns:a16="http://schemas.microsoft.com/office/drawing/2014/main" val="20003"/>
                    </a:ext>
                  </a:extLst>
                </a:gridCol>
              </a:tblGrid>
              <a:tr h="557947">
                <a:tc>
                  <a:txBody>
                    <a:bodyPr/>
                    <a:lstStyle/>
                    <a:p>
                      <a:pPr marL="31750">
                        <a:lnSpc>
                          <a:spcPts val="2095"/>
                        </a:lnSpc>
                        <a:buNone/>
                      </a:pPr>
                      <a:r>
                        <a:rPr sz="2400" spc="-25">
                          <a:latin typeface="Courier New"/>
                          <a:ea typeface="Courier New"/>
                          <a:cs typeface="Courier New"/>
                        </a:rPr>
                        <a:t>GET</a:t>
                      </a:r>
                      <a:endParaRPr sz="2400">
                        <a:latin typeface="Courier New"/>
                        <a:ea typeface="Courier New"/>
                        <a:cs typeface="Courier New"/>
                      </a:endParaRPr>
                    </a:p>
                  </a:txBody>
                  <a:tcPr marL="0" marR="0" marT="0" marB="0"/>
                </a:tc>
                <a:tc>
                  <a:txBody>
                    <a:bodyPr/>
                    <a:lstStyle/>
                    <a:p>
                      <a:pPr marL="394970">
                        <a:lnSpc>
                          <a:spcPct val="100000"/>
                        </a:lnSpc>
                        <a:spcBef>
                          <a:spcPts val="30"/>
                        </a:spcBef>
                        <a:buNone/>
                      </a:pPr>
                      <a:r>
                        <a:rPr sz="2400"/>
                        <a:t>Request a resource: retrieve data</a:t>
                      </a:r>
                      <a:endParaRPr sz="2400">
                        <a:latin typeface="Aptos (Body)"/>
                        <a:ea typeface="Aptos (Body)"/>
                        <a:cs typeface="Aptos (Body)"/>
                      </a:endParaRPr>
                    </a:p>
                  </a:txBody>
                  <a:tcPr marL="0" marR="0" marT="3810" marB="0"/>
                </a:tc>
                <a:tc>
                  <a:txBody>
                    <a:bodyPr/>
                    <a:lstStyle/>
                    <a:p>
                      <a:pPr marL="394970">
                        <a:lnSpc>
                          <a:spcPct val="100000"/>
                        </a:lnSpc>
                        <a:spcBef>
                          <a:spcPts val="30"/>
                        </a:spcBef>
                        <a:buNone/>
                      </a:pPr>
                      <a:r>
                        <a:rPr sz="2400">
                          <a:latin typeface="Aptos (Body)"/>
                          <a:ea typeface="Aptos (Body)"/>
                          <a:cs typeface="Aptos (Body)"/>
                        </a:rPr>
                        <a:t>Read</a:t>
                      </a:r>
                    </a:p>
                  </a:txBody>
                  <a:tcPr marL="0" marR="0" marT="3810" marB="0"/>
                </a:tc>
                <a:tc>
                  <a:txBody>
                    <a:bodyPr/>
                    <a:lstStyle/>
                    <a:p>
                      <a:pPr marL="394970">
                        <a:lnSpc>
                          <a:spcPct val="100000"/>
                        </a:lnSpc>
                        <a:spcBef>
                          <a:spcPts val="30"/>
                        </a:spcBef>
                        <a:buNone/>
                      </a:pPr>
                      <a:r>
                        <a:rPr sz="2400">
                          <a:latin typeface="Aptos (Body)"/>
                          <a:ea typeface="Aptos (Body)"/>
                          <a:cs typeface="Aptos (Body)"/>
                        </a:rPr>
                        <a:t>Ecommerce: products</a:t>
                      </a:r>
                    </a:p>
                  </a:txBody>
                  <a:tcPr marL="0" marR="0" marT="3810" marB="0"/>
                </a:tc>
                <a:extLst>
                  <a:ext uri="{0D108BD9-81ED-4DB2-BD59-A6C34878D82A}">
                    <a16:rowId xmlns:a16="http://schemas.microsoft.com/office/drawing/2014/main" val="10000"/>
                  </a:ext>
                </a:extLst>
              </a:tr>
              <a:tr h="606464">
                <a:tc>
                  <a:txBody>
                    <a:bodyPr/>
                    <a:lstStyle/>
                    <a:p>
                      <a:pPr marL="31750">
                        <a:lnSpc>
                          <a:spcPct val="100000"/>
                        </a:lnSpc>
                        <a:spcBef>
                          <a:spcPts val="175"/>
                        </a:spcBef>
                        <a:buNone/>
                      </a:pPr>
                      <a:r>
                        <a:rPr sz="2400" spc="-25">
                          <a:latin typeface="Courier New"/>
                          <a:ea typeface="Courier New"/>
                          <a:cs typeface="Courier New"/>
                        </a:rPr>
                        <a:t>PUT</a:t>
                      </a:r>
                      <a:endParaRPr sz="2400">
                        <a:latin typeface="Courier New"/>
                        <a:ea typeface="Courier New"/>
                        <a:cs typeface="Courier New"/>
                      </a:endParaRPr>
                    </a:p>
                  </a:txBody>
                  <a:tcPr marL="0" marR="0" marT="22225" marB="0"/>
                </a:tc>
                <a:tc>
                  <a:txBody>
                    <a:bodyPr/>
                    <a:lstStyle/>
                    <a:p>
                      <a:pPr marL="394970">
                        <a:lnSpc>
                          <a:spcPct val="100000"/>
                        </a:lnSpc>
                        <a:spcBef>
                          <a:spcPts val="275"/>
                        </a:spcBef>
                        <a:buNone/>
                      </a:pPr>
                      <a:r>
                        <a:rPr sz="2400"/>
                        <a:t>Replace entity with request payload</a:t>
                      </a:r>
                      <a:endParaRPr sz="2400">
                        <a:latin typeface="Aptos (Body)"/>
                        <a:ea typeface="Aptos (Body)"/>
                        <a:cs typeface="Aptos (Body)"/>
                      </a:endParaRPr>
                    </a:p>
                  </a:txBody>
                  <a:tcPr marL="0" marR="0" marT="34925" marB="0"/>
                </a:tc>
                <a:tc>
                  <a:txBody>
                    <a:bodyPr/>
                    <a:lstStyle/>
                    <a:p>
                      <a:pPr marL="394970">
                        <a:lnSpc>
                          <a:spcPct val="100000"/>
                        </a:lnSpc>
                        <a:spcBef>
                          <a:spcPts val="275"/>
                        </a:spcBef>
                        <a:buNone/>
                      </a:pPr>
                      <a:r>
                        <a:rPr sz="2400">
                          <a:latin typeface="Aptos (Body)"/>
                          <a:ea typeface="Aptos (Body)"/>
                          <a:cs typeface="Aptos (Body)"/>
                        </a:rPr>
                        <a:t>Update</a:t>
                      </a:r>
                    </a:p>
                  </a:txBody>
                  <a:tcPr marL="0" marR="0" marT="34925" marB="0"/>
                </a:tc>
                <a:tc>
                  <a:txBody>
                    <a:bodyPr/>
                    <a:lstStyle/>
                    <a:p>
                      <a:pPr marL="394970">
                        <a:lnSpc>
                          <a:spcPct val="100000"/>
                        </a:lnSpc>
                        <a:spcBef>
                          <a:spcPts val="275"/>
                        </a:spcBef>
                        <a:buNone/>
                      </a:pPr>
                      <a:r>
                        <a:rPr sz="2400"/>
                        <a:t>Blog: posts</a:t>
                      </a:r>
                      <a:endParaRPr sz="2400">
                        <a:latin typeface="Aptos (Body)"/>
                        <a:ea typeface="Aptos (Body)"/>
                        <a:cs typeface="Aptos (Body)"/>
                      </a:endParaRPr>
                    </a:p>
                  </a:txBody>
                  <a:tcPr marL="0" marR="0" marT="34925" marB="0"/>
                </a:tc>
                <a:extLst>
                  <a:ext uri="{0D108BD9-81ED-4DB2-BD59-A6C34878D82A}">
                    <a16:rowId xmlns:a16="http://schemas.microsoft.com/office/drawing/2014/main" val="10001"/>
                  </a:ext>
                </a:extLst>
              </a:tr>
              <a:tr h="605494">
                <a:tc>
                  <a:txBody>
                    <a:bodyPr/>
                    <a:lstStyle/>
                    <a:p>
                      <a:pPr marL="31750">
                        <a:lnSpc>
                          <a:spcPct val="100000"/>
                        </a:lnSpc>
                        <a:spcBef>
                          <a:spcPts val="175"/>
                        </a:spcBef>
                        <a:buNone/>
                      </a:pPr>
                      <a:r>
                        <a:rPr sz="2400" spc="-25">
                          <a:latin typeface="Courier New"/>
                          <a:ea typeface="Courier New"/>
                          <a:cs typeface="Courier New"/>
                        </a:rPr>
                        <a:t>POST</a:t>
                      </a:r>
                      <a:endParaRPr sz="2400">
                        <a:latin typeface="Courier New"/>
                        <a:ea typeface="Courier New"/>
                        <a:cs typeface="Courier New"/>
                      </a:endParaRPr>
                    </a:p>
                  </a:txBody>
                  <a:tcPr marL="0" marR="0" marT="22225" marB="0"/>
                </a:tc>
                <a:tc>
                  <a:txBody>
                    <a:bodyPr/>
                    <a:lstStyle/>
                    <a:p>
                      <a:pPr marL="394970">
                        <a:lnSpc>
                          <a:spcPct val="100000"/>
                        </a:lnSpc>
                        <a:spcBef>
                          <a:spcPts val="275"/>
                        </a:spcBef>
                        <a:buNone/>
                      </a:pPr>
                      <a:r>
                        <a:rPr sz="2400"/>
                        <a:t>Submit a new entity</a:t>
                      </a:r>
                      <a:endParaRPr sz="2400">
                        <a:latin typeface="Aptos (Body)"/>
                        <a:ea typeface="Aptos (Body)"/>
                        <a:cs typeface="Aptos (Body)"/>
                      </a:endParaRPr>
                    </a:p>
                  </a:txBody>
                  <a:tcPr marL="0" marR="0" marT="34925" marB="0"/>
                </a:tc>
                <a:tc>
                  <a:txBody>
                    <a:bodyPr/>
                    <a:lstStyle/>
                    <a:p>
                      <a:pPr marL="394970">
                        <a:lnSpc>
                          <a:spcPct val="100000"/>
                        </a:lnSpc>
                        <a:spcBef>
                          <a:spcPts val="275"/>
                        </a:spcBef>
                        <a:buNone/>
                      </a:pPr>
                      <a:r>
                        <a:rPr sz="2400">
                          <a:latin typeface="Aptos (Body)"/>
                          <a:ea typeface="Aptos (Body)"/>
                          <a:cs typeface="Aptos (Body)"/>
                        </a:rPr>
                        <a:t>Create</a:t>
                      </a:r>
                    </a:p>
                  </a:txBody>
                  <a:tcPr marL="0" marR="0" marT="34925" marB="0"/>
                </a:tc>
                <a:tc>
                  <a:txBody>
                    <a:bodyPr/>
                    <a:lstStyle/>
                    <a:p>
                      <a:pPr marL="394970">
                        <a:lnSpc>
                          <a:spcPct val="100000"/>
                        </a:lnSpc>
                        <a:spcBef>
                          <a:spcPts val="275"/>
                        </a:spcBef>
                        <a:buNone/>
                      </a:pPr>
                      <a:r>
                        <a:rPr sz="2400"/>
                        <a:t>Social media: comments</a:t>
                      </a:r>
                      <a:endParaRPr sz="2400">
                        <a:latin typeface="Aptos (Body)"/>
                        <a:ea typeface="Aptos (Body)"/>
                        <a:cs typeface="Aptos (Body)"/>
                      </a:endParaRPr>
                    </a:p>
                  </a:txBody>
                  <a:tcPr marL="0" marR="0" marT="34925" marB="0"/>
                </a:tc>
                <a:extLst>
                  <a:ext uri="{0D108BD9-81ED-4DB2-BD59-A6C34878D82A}">
                    <a16:rowId xmlns:a16="http://schemas.microsoft.com/office/drawing/2014/main" val="10002"/>
                  </a:ext>
                </a:extLst>
              </a:tr>
              <a:tr h="606464">
                <a:tc>
                  <a:txBody>
                    <a:bodyPr/>
                    <a:lstStyle/>
                    <a:p>
                      <a:pPr marL="31750">
                        <a:lnSpc>
                          <a:spcPct val="100000"/>
                        </a:lnSpc>
                        <a:spcBef>
                          <a:spcPts val="175"/>
                        </a:spcBef>
                        <a:buNone/>
                      </a:pPr>
                      <a:r>
                        <a:rPr sz="2400" spc="-25">
                          <a:latin typeface="Courier New"/>
                          <a:ea typeface="Courier New"/>
                          <a:cs typeface="Courier New"/>
                        </a:rPr>
                        <a:t>DELETE</a:t>
                      </a:r>
                      <a:endParaRPr sz="2400">
                        <a:latin typeface="Courier New"/>
                        <a:ea typeface="Courier New"/>
                        <a:cs typeface="Courier New"/>
                      </a:endParaRPr>
                    </a:p>
                  </a:txBody>
                  <a:tcPr marL="0" marR="0" marT="22225" marB="0"/>
                </a:tc>
                <a:tc>
                  <a:txBody>
                    <a:bodyPr/>
                    <a:lstStyle/>
                    <a:p>
                      <a:pPr marL="394970">
                        <a:lnSpc>
                          <a:spcPct val="100000"/>
                        </a:lnSpc>
                        <a:spcBef>
                          <a:spcPts val="275"/>
                        </a:spcBef>
                        <a:buNone/>
                      </a:pPr>
                      <a:r>
                        <a:rPr sz="2400"/>
                        <a:t>Delete entity</a:t>
                      </a:r>
                      <a:endParaRPr sz="2400">
                        <a:latin typeface="Aptos (Body)"/>
                        <a:ea typeface="Aptos (Body)"/>
                        <a:cs typeface="Aptos (Body)"/>
                      </a:endParaRPr>
                    </a:p>
                  </a:txBody>
                  <a:tcPr marL="0" marR="0" marT="34925" marB="0"/>
                </a:tc>
                <a:tc>
                  <a:txBody>
                    <a:bodyPr/>
                    <a:lstStyle/>
                    <a:p>
                      <a:pPr marL="394970">
                        <a:lnSpc>
                          <a:spcPct val="100000"/>
                        </a:lnSpc>
                        <a:spcBef>
                          <a:spcPts val="275"/>
                        </a:spcBef>
                        <a:buNone/>
                      </a:pPr>
                      <a:r>
                        <a:rPr sz="2400">
                          <a:latin typeface="Aptos (Body)"/>
                          <a:ea typeface="Aptos (Body)"/>
                          <a:cs typeface="Aptos (Body)"/>
                        </a:rPr>
                        <a:t>Delete</a:t>
                      </a:r>
                    </a:p>
                  </a:txBody>
                  <a:tcPr marL="0" marR="0" marT="34925" marB="0"/>
                </a:tc>
                <a:tc>
                  <a:txBody>
                    <a:bodyPr/>
                    <a:lstStyle/>
                    <a:p>
                      <a:pPr marL="394970">
                        <a:lnSpc>
                          <a:spcPct val="100000"/>
                        </a:lnSpc>
                        <a:spcBef>
                          <a:spcPts val="275"/>
                        </a:spcBef>
                        <a:buNone/>
                      </a:pPr>
                      <a:endParaRPr sz="2400">
                        <a:latin typeface="Aptos (Body)"/>
                        <a:ea typeface="Aptos (Body)"/>
                        <a:cs typeface="Aptos (Body)"/>
                      </a:endParaRPr>
                    </a:p>
                  </a:txBody>
                  <a:tcPr marL="0" marR="0" marT="34925" marB="0"/>
                </a:tc>
                <a:extLst>
                  <a:ext uri="{0D108BD9-81ED-4DB2-BD59-A6C34878D82A}">
                    <a16:rowId xmlns:a16="http://schemas.microsoft.com/office/drawing/2014/main" val="10003"/>
                  </a:ext>
                </a:extLst>
              </a:tr>
              <a:tr h="558918">
                <a:tc>
                  <a:txBody>
                    <a:bodyPr/>
                    <a:lstStyle/>
                    <a:p>
                      <a:pPr marL="31750">
                        <a:lnSpc>
                          <a:spcPct val="100000"/>
                        </a:lnSpc>
                        <a:spcBef>
                          <a:spcPts val="175"/>
                        </a:spcBef>
                        <a:buNone/>
                      </a:pPr>
                      <a:r>
                        <a:rPr sz="2400" spc="-25">
                          <a:latin typeface="Courier New"/>
                          <a:ea typeface="Courier New"/>
                          <a:cs typeface="Courier New"/>
                        </a:rPr>
                        <a:t>PATCH</a:t>
                      </a:r>
                      <a:endParaRPr sz="2400">
                        <a:latin typeface="Courier New"/>
                        <a:ea typeface="Courier New"/>
                        <a:cs typeface="Courier New"/>
                      </a:endParaRPr>
                    </a:p>
                  </a:txBody>
                  <a:tcPr marL="0" marR="0" marT="22225" marB="0"/>
                </a:tc>
                <a:tc>
                  <a:txBody>
                    <a:bodyPr/>
                    <a:lstStyle/>
                    <a:p>
                      <a:pPr marL="394970">
                        <a:lnSpc>
                          <a:spcPct val="100000"/>
                        </a:lnSpc>
                        <a:spcBef>
                          <a:spcPts val="275"/>
                        </a:spcBef>
                        <a:buNone/>
                      </a:pPr>
                      <a:r>
                        <a:rPr sz="2400"/>
                        <a:t>Partial modification to an entit</a:t>
                      </a:r>
                      <a:endParaRPr sz="2400">
                        <a:latin typeface="Aptos (Body)"/>
                        <a:ea typeface="Aptos (Body)"/>
                        <a:cs typeface="Aptos (Body)"/>
                      </a:endParaRPr>
                    </a:p>
                  </a:txBody>
                  <a:tcPr marL="0" marR="0" marT="34925" marB="0"/>
                </a:tc>
                <a:tc>
                  <a:txBody>
                    <a:bodyPr/>
                    <a:lstStyle/>
                    <a:p>
                      <a:pPr marL="394970">
                        <a:lnSpc>
                          <a:spcPct val="100000"/>
                        </a:lnSpc>
                        <a:spcBef>
                          <a:spcPts val="275"/>
                        </a:spcBef>
                        <a:buNone/>
                      </a:pPr>
                      <a:r>
                        <a:rPr sz="2400">
                          <a:latin typeface="Aptos (Body)"/>
                          <a:ea typeface="Aptos (Body)"/>
                          <a:cs typeface="Aptos (Body)"/>
                        </a:rPr>
                        <a:t>Update</a:t>
                      </a:r>
                    </a:p>
                  </a:txBody>
                  <a:tcPr marL="0" marR="0" marT="34925" marB="0"/>
                </a:tc>
                <a:tc>
                  <a:txBody>
                    <a:bodyPr/>
                    <a:lstStyle/>
                    <a:p>
                      <a:pPr marL="394970">
                        <a:lnSpc>
                          <a:spcPct val="100000"/>
                        </a:lnSpc>
                        <a:spcBef>
                          <a:spcPts val="275"/>
                        </a:spcBef>
                        <a:buNone/>
                      </a:pPr>
                      <a:r>
                        <a:rPr sz="2400"/>
                        <a:t>Library: books</a:t>
                      </a:r>
                      <a:endParaRPr sz="2400">
                        <a:latin typeface="Aptos (Body)"/>
                        <a:ea typeface="Aptos (Body)"/>
                        <a:cs typeface="Aptos (Body)"/>
                      </a:endParaRPr>
                    </a:p>
                  </a:txBody>
                  <a:tcPr marL="0" marR="0" marT="34925" marB="0"/>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3F186E9B-F5F7-7E2A-A3C1-BE5B0685ED40}"/>
              </a:ext>
            </a:extLst>
          </p:cNvPr>
          <p:cNvSpPr>
            <a:spLocks noGrp="1"/>
          </p:cNvSpPr>
          <p:nvPr/>
        </p:nvSpPr>
        <p:spPr>
          <a:xfrm>
            <a:off x="1123950" y="5896827"/>
            <a:ext cx="9855200" cy="830997"/>
          </a:xfrm>
          <a:prstGeom prst="rect">
            <a:avLst/>
          </a:prstGeom>
          <a:noFill/>
        </p:spPr>
        <p:txBody>
          <a:bodyPr wrap="square">
            <a:spAutoFit/>
          </a:bodyPr>
          <a:lstStyle/>
          <a:p>
            <a:pPr algn="l">
              <a:buNone/>
              <a:defRPr>
                <a:latin typeface="Aptos"/>
                <a:ea typeface="Aptos"/>
                <a:cs typeface="Aptos"/>
              </a:defRPr>
            </a:pPr>
            <a:r>
              <a:rPr sz="2400">
                <a:latin typeface="Aptos"/>
                <a:ea typeface="Aptos"/>
                <a:cs typeface="Aptos"/>
              </a:rPr>
              <a:t>Assignments/ Exams</a:t>
            </a:r>
            <a:endParaRPr sz="2400"/>
          </a:p>
          <a:p>
            <a:pPr algn="l">
              <a:buNone/>
              <a:defRPr>
                <a:latin typeface="Aptos"/>
                <a:ea typeface="Aptos"/>
                <a:cs typeface="Aptos"/>
              </a:defRPr>
            </a:pPr>
            <a:r>
              <a:rPr sz="2400">
                <a:latin typeface="Aptos"/>
                <a:ea typeface="Aptos"/>
                <a:cs typeface="Aptos"/>
              </a:rPr>
              <a:t>You must develop a web app with CRUD operations in mind </a:t>
            </a:r>
          </a:p>
        </p:txBody>
      </p:sp>
    </p:spTree>
    <p:extLst>
      <p:ext uri="{BB962C8B-B14F-4D97-AF65-F5344CB8AC3E}">
        <p14:creationId xmlns:p14="http://schemas.microsoft.com/office/powerpoint/2010/main" val="36175219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7" name="Rectangle 226">
            <a:extLst>
              <a:ext uri="{FF2B5EF4-FFF2-40B4-BE49-F238E27FC236}">
                <a16:creationId xmlns:a16="http://schemas.microsoft.com/office/drawing/2014/main" id="{AC23B8DE-77F8-90BC-D44C-4D463525C074}"/>
              </a:ext>
            </a:extLst>
          </p:cNvPr>
          <p:cNvSpPr>
            <a:spLocks noGrp="1"/>
          </p:cNvSpPr>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2" name="Title 1">
            <a:extLst>
              <a:ext uri="{FF2B5EF4-FFF2-40B4-BE49-F238E27FC236}">
                <a16:creationId xmlns:a16="http://schemas.microsoft.com/office/drawing/2014/main" id="{36BC0AB1-0EF8-F6C4-8D12-85C195AEF393}"/>
              </a:ext>
            </a:extLst>
          </p:cNvPr>
          <p:cNvSpPr>
            <a:spLocks noGrp="1"/>
          </p:cNvSpPr>
          <p:nvPr>
            <p:ph type="title"/>
          </p:nvPr>
        </p:nvSpPr>
        <p:spPr>
          <a:xfrm>
            <a:off x="1215865" y="2432109"/>
            <a:ext cx="9302496" cy="2193482"/>
          </a:xfrm>
        </p:spPr>
        <p:txBody>
          <a:bodyPr vert="horz" lIns="91440" tIns="45720" rIns="91440" bIns="45720" anchor="ctr">
            <a:normAutofit/>
          </a:bodyPr>
          <a:lstStyle/>
          <a:p>
            <a:pPr algn="ctr">
              <a:buNone/>
              <a:defRPr>
                <a:latin typeface="Aptos Display"/>
                <a:ea typeface="Aptos Display"/>
                <a:cs typeface="Aptos Display"/>
              </a:defRPr>
            </a:pPr>
            <a:r>
              <a:rPr sz="8800">
                <a:solidFill>
                  <a:schemeClr val="bg1"/>
                </a:solidFill>
                <a:latin typeface="Aptos Display"/>
                <a:ea typeface="Aptos Display"/>
                <a:cs typeface="Aptos Display"/>
              </a:rPr>
              <a:t>Chrome dev tools</a:t>
            </a:r>
            <a:endParaRPr sz="8800" kern="1200">
              <a:solidFill>
                <a:schemeClr val="bg1"/>
              </a:solidFill>
              <a:latin typeface="+mj-lt"/>
              <a:ea typeface="+mj-lt"/>
              <a:cs typeface="+mj-lt"/>
            </a:endParaRPr>
          </a:p>
        </p:txBody>
      </p:sp>
      <p:sp>
        <p:nvSpPr>
          <p:cNvPr id="228" name="Rectangle 227">
            <a:extLst>
              <a:ext uri="{FF2B5EF4-FFF2-40B4-BE49-F238E27FC236}">
                <a16:creationId xmlns:a16="http://schemas.microsoft.com/office/drawing/2014/main" id="{8E813EF5-98AA-AA6C-7E79-EDF7652E6AA1}"/>
              </a:ext>
            </a:extLst>
          </p:cNvPr>
          <p:cNvSpPr>
            <a:spLocks noGrp="1"/>
          </p:cNvSpPr>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9" name="Straight Connector 228">
            <a:extLst>
              <a:ext uri="{FF2B5EF4-FFF2-40B4-BE49-F238E27FC236}">
                <a16:creationId xmlns:a16="http://schemas.microsoft.com/office/drawing/2014/main" id="{5A2CF28D-4ED6-44F1-A61C-2819A2D2ECAA}"/>
              </a:ext>
            </a:extLst>
          </p:cNvPr>
          <p:cNvSpPr>
            <a:spLocks noGrp="1"/>
          </p:cNvSpPr>
          <p:nvPr/>
        </p:nvSpPr>
        <p:spPr>
          <a:xfrm flipH="1">
            <a:off x="2399233" y="1883640"/>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
        <p:nvSpPr>
          <p:cNvPr id="230" name="Straight Connector 229">
            <a:extLst>
              <a:ext uri="{FF2B5EF4-FFF2-40B4-BE49-F238E27FC236}">
                <a16:creationId xmlns:a16="http://schemas.microsoft.com/office/drawing/2014/main" id="{AE3190EE-B1BD-4D96-BFD2-3C1F7DA1EB71}"/>
              </a:ext>
            </a:extLst>
          </p:cNvPr>
          <p:cNvSpPr>
            <a:spLocks noGrp="1"/>
          </p:cNvSpPr>
          <p:nvPr/>
        </p:nvSpPr>
        <p:spPr>
          <a:xfrm flipH="1">
            <a:off x="2399233" y="5066757"/>
            <a:ext cx="69357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a:lstStyle/>
          <a:p>
            <a:endParaRPr lang="en-IT"/>
          </a:p>
        </p:txBody>
      </p:sp>
    </p:spTree>
    <p:extLst>
      <p:ext uri="{BB962C8B-B14F-4D97-AF65-F5344CB8AC3E}">
        <p14:creationId xmlns:p14="http://schemas.microsoft.com/office/powerpoint/2010/main" val="31411424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EFC60-ED06-709E-3F65-FF483BDC0C0F}"/>
              </a:ext>
            </a:extLst>
          </p:cNvPr>
          <p:cNvSpPr>
            <a:spLocks noGrp="1"/>
          </p:cNvSpPr>
          <p:nvPr>
            <p:ph type="title"/>
          </p:nvPr>
        </p:nvSpPr>
        <p:spPr>
          <a:xfrm>
            <a:off x="457200" y="209550"/>
            <a:ext cx="11277600" cy="914400"/>
          </a:xfrm>
        </p:spPr>
        <p:txBody>
          <a:bodyPr anchor="ctr"/>
          <a:lstStyle/>
          <a:p>
            <a:pPr>
              <a:buNone/>
              <a:defRPr>
                <a:latin typeface="Aptos Display"/>
                <a:ea typeface="Aptos Display"/>
                <a:cs typeface="Aptos Display"/>
              </a:defRPr>
            </a:pPr>
            <a:r>
              <a:rPr spc="-10">
                <a:latin typeface="Aptos Display"/>
                <a:ea typeface="Aptos Display"/>
                <a:cs typeface="Aptos Display"/>
              </a:rPr>
              <a:t>Summary</a:t>
            </a:r>
            <a:endParaRPr/>
          </a:p>
        </p:txBody>
      </p:sp>
      <p:sp>
        <p:nvSpPr>
          <p:cNvPr id="10" name="object 3">
            <a:extLst>
              <a:ext uri="{FF2B5EF4-FFF2-40B4-BE49-F238E27FC236}">
                <a16:creationId xmlns:a16="http://schemas.microsoft.com/office/drawing/2014/main" id="{1172C16C-2839-E01B-54DE-9AB8BFD067B8}"/>
              </a:ext>
            </a:extLst>
          </p:cNvPr>
          <p:cNvSpPr>
            <a:spLocks noGrp="1"/>
          </p:cNvSpPr>
          <p:nvPr/>
        </p:nvSpPr>
        <p:spPr>
          <a:xfrm>
            <a:off x="917574" y="1277556"/>
            <a:ext cx="3508376" cy="1778051"/>
          </a:xfrm>
          <a:prstGeom prst="rect">
            <a:avLst/>
          </a:prstGeom>
        </p:spPr>
        <p:txBody>
          <a:bodyPr vert="horz" wrap="square" lIns="0" tIns="15875" rIns="0" bIns="0">
            <a:spAutoFit/>
          </a:bodyPr>
          <a:lstStyle/>
          <a:p>
            <a:pPr marL="12700">
              <a:lnSpc>
                <a:spcPct val="100000"/>
              </a:lnSpc>
              <a:spcBef>
                <a:spcPts val="125"/>
              </a:spcBef>
              <a:buNone/>
              <a:defRPr>
                <a:latin typeface="Aptos"/>
                <a:ea typeface="Aptos"/>
                <a:cs typeface="Aptos"/>
              </a:defRPr>
            </a:pPr>
            <a:r>
              <a:rPr sz="2800" spc="105">
                <a:latin typeface="Aptos"/>
                <a:ea typeface="Aptos"/>
                <a:cs typeface="Aptos"/>
              </a:rPr>
              <a:t>Web history</a:t>
            </a:r>
            <a:endParaRPr sz="2800" spc="105">
              <a:latin typeface="Aptos (Body)"/>
              <a:ea typeface="Aptos (Body)"/>
              <a:cs typeface="Aptos (Body)"/>
            </a:endParaRPr>
          </a:p>
          <a:p>
            <a:pPr marL="12700">
              <a:lnSpc>
                <a:spcPct val="100000"/>
              </a:lnSpc>
              <a:spcBef>
                <a:spcPts val="125"/>
              </a:spcBef>
              <a:buNone/>
              <a:defRPr>
                <a:latin typeface="Aptos"/>
                <a:ea typeface="Aptos"/>
                <a:cs typeface="Aptos"/>
              </a:defRPr>
            </a:pPr>
            <a:r>
              <a:rPr sz="2800" spc="105">
                <a:latin typeface="Aptos"/>
                <a:ea typeface="Aptos"/>
                <a:cs typeface="Aptos"/>
              </a:rPr>
              <a:t>HTTP</a:t>
            </a:r>
          </a:p>
          <a:p>
            <a:pPr marL="12700">
              <a:lnSpc>
                <a:spcPct val="100000"/>
              </a:lnSpc>
              <a:spcBef>
                <a:spcPts val="125"/>
              </a:spcBef>
              <a:buNone/>
              <a:defRPr>
                <a:latin typeface="Aptos"/>
                <a:ea typeface="Aptos"/>
                <a:cs typeface="Aptos"/>
              </a:defRPr>
            </a:pPr>
            <a:r>
              <a:rPr sz="2800" spc="105">
                <a:latin typeface="Aptos"/>
                <a:ea typeface="Aptos"/>
                <a:cs typeface="Aptos"/>
              </a:rPr>
              <a:t>CURD</a:t>
            </a:r>
          </a:p>
          <a:p>
            <a:pPr marL="12700">
              <a:lnSpc>
                <a:spcPct val="100000"/>
              </a:lnSpc>
              <a:spcBef>
                <a:spcPts val="125"/>
              </a:spcBef>
              <a:buNone/>
              <a:defRPr>
                <a:latin typeface="Aptos"/>
                <a:ea typeface="Aptos"/>
                <a:cs typeface="Aptos"/>
              </a:defRPr>
            </a:pPr>
            <a:r>
              <a:rPr sz="2800" spc="105">
                <a:latin typeface="Aptos"/>
                <a:ea typeface="Aptos"/>
                <a:cs typeface="Aptos"/>
              </a:rPr>
              <a:t>Chrome Dev Tools</a:t>
            </a:r>
            <a:endParaRPr sz="2800">
              <a:latin typeface="Aptos (Body)"/>
              <a:ea typeface="Aptos (Body)"/>
              <a:cs typeface="Aptos (Body)"/>
            </a:endParaRPr>
          </a:p>
        </p:txBody>
      </p:sp>
      <p:pic>
        <p:nvPicPr>
          <p:cNvPr id="16" name="object 5"/>
          <p:cNvPicPr>
            <a:picLocks noChangeAspect="1"/>
          </p:cNvPicPr>
          <p:nvPr/>
        </p:nvPicPr>
        <p:blipFill>
          <a:blip r:embed="rId3"/>
          <a:stretch>
            <a:fillRect/>
          </a:stretch>
        </p:blipFill>
        <p:spPr>
          <a:xfrm>
            <a:off x="7477125" y="3667125"/>
            <a:ext cx="4248150" cy="2466975"/>
          </a:xfrm>
          <a:prstGeom prst="rect">
            <a:avLst/>
          </a:prstGeom>
        </p:spPr>
      </p:pic>
      <p:pic>
        <p:nvPicPr>
          <p:cNvPr id="17" name="object 6"/>
          <p:cNvPicPr>
            <a:picLocks noChangeAspect="1"/>
          </p:cNvPicPr>
          <p:nvPr/>
        </p:nvPicPr>
        <p:blipFill>
          <a:blip r:embed="rId4"/>
          <a:stretch>
            <a:fillRect/>
          </a:stretch>
        </p:blipFill>
        <p:spPr>
          <a:xfrm>
            <a:off x="5467350" y="1133475"/>
            <a:ext cx="3695700" cy="2657475"/>
          </a:xfrm>
          <a:prstGeom prst="rect">
            <a:avLst/>
          </a:prstGeom>
        </p:spPr>
      </p:pic>
      <p:pic>
        <p:nvPicPr>
          <p:cNvPr id="18" name="object 7"/>
          <p:cNvPicPr>
            <a:picLocks noChangeAspect="1"/>
          </p:cNvPicPr>
          <p:nvPr/>
        </p:nvPicPr>
        <p:blipFill>
          <a:blip r:embed="rId5"/>
          <a:stretch>
            <a:fillRect/>
          </a:stretch>
        </p:blipFill>
        <p:spPr>
          <a:xfrm>
            <a:off x="3086100" y="4000500"/>
            <a:ext cx="3095625" cy="2486025"/>
          </a:xfrm>
          <a:prstGeom prst="rect">
            <a:avLst/>
          </a:prstGeom>
        </p:spPr>
      </p:pic>
    </p:spTree>
    <p:extLst>
      <p:ext uri="{BB962C8B-B14F-4D97-AF65-F5344CB8AC3E}">
        <p14:creationId xmlns:p14="http://schemas.microsoft.com/office/powerpoint/2010/main" val="1915708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3339</Words>
  <Application>Microsoft Macintosh PowerPoint</Application>
  <DocSecurity>0</DocSecurity>
  <PresentationFormat>Widescreen</PresentationFormat>
  <Paragraphs>691</Paragraphs>
  <Slides>85</Slides>
  <Notes>84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85</vt:i4>
      </vt:variant>
    </vt:vector>
  </HeadingPairs>
  <TitlesOfParts>
    <vt:vector size="93" baseType="lpstr">
      <vt:lpstr>Aptos</vt:lpstr>
      <vt:lpstr>Aptos (Body)</vt:lpstr>
      <vt:lpstr>Aptos Display</vt:lpstr>
      <vt:lpstr>Arial</vt:lpstr>
      <vt:lpstr>Calibri</vt:lpstr>
      <vt:lpstr>Courier New</vt:lpstr>
      <vt:lpstr>Wingdings</vt:lpstr>
      <vt:lpstr>Office Theme</vt:lpstr>
      <vt:lpstr>Web Development</vt:lpstr>
      <vt:lpstr>You first</vt:lpstr>
      <vt:lpstr>Knowing you</vt:lpstr>
      <vt:lpstr>Now us</vt:lpstr>
      <vt:lpstr>Context</vt:lpstr>
      <vt:lpstr>Course description</vt:lpstr>
      <vt:lpstr>Course description</vt:lpstr>
      <vt:lpstr>Course description</vt:lpstr>
      <vt:lpstr>Preliminary Plan</vt:lpstr>
      <vt:lpstr>Classes</vt:lpstr>
      <vt:lpstr>What is this course</vt:lpstr>
      <vt:lpstr>Expectations</vt:lpstr>
      <vt:lpstr>Expectations</vt:lpstr>
      <vt:lpstr>Expectations</vt:lpstr>
      <vt:lpstr>Expectations</vt:lpstr>
      <vt:lpstr>Expectations</vt:lpstr>
      <vt:lpstr>Examination  and  Evaluation</vt:lpstr>
      <vt:lpstr>Evaluation</vt:lpstr>
      <vt:lpstr>Evaluation: Graded Assignments</vt:lpstr>
      <vt:lpstr>Evaluation: Written Exam</vt:lpstr>
      <vt:lpstr>Evaluation: Written Exam</vt:lpstr>
      <vt:lpstr>Evaluation: Written Exam</vt:lpstr>
      <vt:lpstr>Evaluation: Written Exam</vt:lpstr>
      <vt:lpstr>Evaluation: Written Exam</vt:lpstr>
      <vt:lpstr>Evaluation</vt:lpstr>
      <vt:lpstr>Evaluation: Web Development</vt:lpstr>
      <vt:lpstr>Exercise hours</vt:lpstr>
      <vt:lpstr>Week 1 - Exercise</vt:lpstr>
      <vt:lpstr>Academic Honesty</vt:lpstr>
      <vt:lpstr>Academic honesty: AI</vt:lpstr>
      <vt:lpstr>Let's start</vt:lpstr>
      <vt:lpstr>Web Development Motivation, HTML, &amp; HTTP</vt:lpstr>
      <vt:lpstr>Motivation</vt:lpstr>
      <vt:lpstr>Motivation: web app/tech</vt:lpstr>
      <vt:lpstr>Motivation: web app/tech</vt:lpstr>
      <vt:lpstr>What are web apps?</vt:lpstr>
      <vt:lpstr>What are web apps?</vt:lpstr>
      <vt:lpstr>Web apps have their own difficulties</vt:lpstr>
      <vt:lpstr>The Web</vt:lpstr>
      <vt:lpstr>The Web</vt:lpstr>
      <vt:lpstr>The Web</vt:lpstr>
      <vt:lpstr>The Web</vt:lpstr>
      <vt:lpstr>The Web</vt:lpstr>
      <vt:lpstr>The Web</vt:lpstr>
      <vt:lpstr>The Web</vt:lpstr>
      <vt:lpstr>The Web</vt:lpstr>
      <vt:lpstr>The Web</vt:lpstr>
      <vt:lpstr>HTTP</vt:lpstr>
      <vt:lpstr>HTTP</vt:lpstr>
      <vt:lpstr>HTTPS (Hypertext Transfer Protocol Secure)</vt:lpstr>
      <vt:lpstr>HTTP</vt:lpstr>
      <vt:lpstr>HTTP</vt:lpstr>
      <vt:lpstr>HTTP</vt:lpstr>
      <vt:lpstr>HTTP</vt:lpstr>
      <vt:lpstr>HTTP</vt:lpstr>
      <vt:lpstr>HTTP and Web apps</vt:lpstr>
      <vt:lpstr>HTTP and Web apps</vt:lpstr>
      <vt:lpstr>HTTP</vt:lpstr>
      <vt:lpstr>Methods</vt:lpstr>
      <vt:lpstr>Response status code</vt:lpstr>
      <vt:lpstr>Response status code</vt:lpstr>
      <vt:lpstr>Response status code</vt:lpstr>
      <vt:lpstr>Response status code</vt:lpstr>
      <vt:lpstr>Response status code</vt:lpstr>
      <vt:lpstr>Response status code</vt:lpstr>
      <vt:lpstr>Message structure</vt:lpstr>
      <vt:lpstr>Message structure: request</vt:lpstr>
      <vt:lpstr>Message structure: response</vt:lpstr>
      <vt:lpstr>Uniform Resource Locator (URL)</vt:lpstr>
      <vt:lpstr>HTTP History</vt:lpstr>
      <vt:lpstr>HTTP History</vt:lpstr>
      <vt:lpstr>HTTP History</vt:lpstr>
      <vt:lpstr>HTTP History</vt:lpstr>
      <vt:lpstr>HTTP History</vt:lpstr>
      <vt:lpstr>HTTP History</vt:lpstr>
      <vt:lpstr>HTTP History</vt:lpstr>
      <vt:lpstr>HTTP History</vt:lpstr>
      <vt:lpstr>HTTP/3: QUIC</vt:lpstr>
      <vt:lpstr>HTTP/3: Multiple streams</vt:lpstr>
      <vt:lpstr>CURD</vt:lpstr>
      <vt:lpstr>CURD operations</vt:lpstr>
      <vt:lpstr>CURD operations</vt:lpstr>
      <vt:lpstr>CURD operations</vt:lpstr>
      <vt:lpstr>Chrome dev tools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Rebecca de Rosa</cp:lastModifiedBy>
  <cp:revision>1</cp:revision>
  <dcterms:created xsi:type="dcterms:W3CDTF">2026-09-02T12:02:47Z</dcterms:created>
  <dcterms:modified xsi:type="dcterms:W3CDTF">2026-09-02T12:21:12Z</dcterms:modified>
</cp:coreProperties>
</file>